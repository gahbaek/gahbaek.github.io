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310" r:id="rId2"/>
    <p:sldId id="311" r:id="rId3"/>
    <p:sldId id="312" r:id="rId4"/>
    <p:sldId id="314" r:id="rId5"/>
    <p:sldId id="287" r:id="rId6"/>
    <p:sldId id="292" r:id="rId7"/>
    <p:sldId id="305" r:id="rId8"/>
    <p:sldId id="280" r:id="rId9"/>
    <p:sldId id="290" r:id="rId10"/>
    <p:sldId id="306" r:id="rId11"/>
    <p:sldId id="315" r:id="rId12"/>
    <p:sldId id="281" r:id="rId13"/>
    <p:sldId id="321" r:id="rId14"/>
    <p:sldId id="299" r:id="rId15"/>
    <p:sldId id="294" r:id="rId16"/>
    <p:sldId id="25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8D7"/>
    <a:srgbClr val="FCB6B6"/>
    <a:srgbClr val="E8EAF0"/>
    <a:srgbClr val="162D54"/>
    <a:srgbClr val="FFFFFF"/>
    <a:srgbClr val="DEE9C9"/>
    <a:srgbClr val="FAC090"/>
    <a:srgbClr val="9BBB59"/>
    <a:srgbClr val="CCFFCC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29" autoAdjust="0"/>
    <p:restoredTop sz="85642" autoAdjust="0"/>
  </p:normalViewPr>
  <p:slideViewPr>
    <p:cSldViewPr snapToGrid="0" snapToObjects="1">
      <p:cViewPr varScale="1">
        <p:scale>
          <a:sx n="138" d="100"/>
          <a:sy n="138" d="100"/>
        </p:scale>
        <p:origin x="1684" y="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936B5-BDD1-4052-B8CC-97D785A6BC2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22A3FB-F420-4834-BF71-D1FE94C459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801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dirty="0"/>
              <a:t>The </a:t>
            </a:r>
            <a:r>
              <a:rPr lang="ko-KR" altLang="ko-KR" dirty="0" err="1"/>
              <a:t>motivation</a:t>
            </a:r>
            <a:r>
              <a:rPr lang="ko-KR" altLang="ko-KR" dirty="0"/>
              <a:t> </a:t>
            </a:r>
            <a:r>
              <a:rPr lang="ko-KR" altLang="ko-KR" dirty="0" err="1"/>
              <a:t>comes</a:t>
            </a:r>
            <a:r>
              <a:rPr lang="ko-KR" altLang="ko-KR" dirty="0"/>
              <a:t> </a:t>
            </a:r>
            <a:r>
              <a:rPr lang="ko-KR" altLang="ko-KR" dirty="0" err="1"/>
              <a:t>from</a:t>
            </a:r>
            <a:r>
              <a:rPr lang="ko-KR" altLang="ko-KR" dirty="0"/>
              <a:t> </a:t>
            </a:r>
            <a:r>
              <a:rPr lang="ko-KR" altLang="ko-KR" dirty="0" err="1"/>
              <a:t>previous</a:t>
            </a:r>
            <a:r>
              <a:rPr lang="ko-KR" altLang="ko-KR" dirty="0"/>
              <a:t> </a:t>
            </a:r>
            <a:r>
              <a:rPr lang="ko-KR" altLang="ko-KR" dirty="0" err="1"/>
              <a:t>observations</a:t>
            </a:r>
            <a:r>
              <a:rPr lang="ko-KR" altLang="ko-KR" dirty="0"/>
              <a:t> </a:t>
            </a:r>
            <a:r>
              <a:rPr lang="ko-KR" altLang="ko-KR" dirty="0" err="1"/>
              <a:t>that</a:t>
            </a:r>
            <a:r>
              <a:rPr lang="ko-KR" altLang="ko-KR" dirty="0"/>
              <a:t> </a:t>
            </a:r>
            <a:r>
              <a:rPr lang="ko-KR" altLang="ko-KR" dirty="0" err="1"/>
              <a:t>modifying</a:t>
            </a:r>
            <a:r>
              <a:rPr lang="ko-KR" altLang="ko-KR" dirty="0"/>
              <a:t> </a:t>
            </a:r>
            <a:r>
              <a:rPr lang="ko-KR" altLang="ko-KR" dirty="0" err="1"/>
              <a:t>selected</a:t>
            </a:r>
            <a:r>
              <a:rPr lang="ko-KR" altLang="ko-KR" dirty="0"/>
              <a:t> </a:t>
            </a:r>
            <a:r>
              <a:rPr lang="ko-KR" altLang="ko-KR" dirty="0" err="1"/>
              <a:t>weight</a:t>
            </a:r>
            <a:r>
              <a:rPr lang="ko-KR" altLang="ko-KR" dirty="0"/>
              <a:t> </a:t>
            </a:r>
            <a:r>
              <a:rPr lang="ko-KR" altLang="ko-KR" dirty="0" err="1"/>
              <a:t>components</a:t>
            </a:r>
            <a:r>
              <a:rPr lang="ko-KR" altLang="ko-KR" dirty="0"/>
              <a:t> </a:t>
            </a:r>
            <a:r>
              <a:rPr lang="ko-KR" altLang="ko-KR" dirty="0" err="1"/>
              <a:t>does</a:t>
            </a:r>
            <a:r>
              <a:rPr lang="ko-KR" altLang="ko-KR" dirty="0"/>
              <a:t> </a:t>
            </a:r>
            <a:r>
              <a:rPr lang="ko-KR" altLang="ko-KR" dirty="0" err="1"/>
              <a:t>not</a:t>
            </a:r>
            <a:r>
              <a:rPr lang="ko-KR" altLang="ko-KR" dirty="0"/>
              <a:t> </a:t>
            </a:r>
            <a:r>
              <a:rPr lang="ko-KR" altLang="ko-KR" dirty="0" err="1"/>
              <a:t>necessarily</a:t>
            </a:r>
            <a:r>
              <a:rPr lang="ko-KR" altLang="ko-KR" dirty="0"/>
              <a:t> </a:t>
            </a:r>
            <a:r>
              <a:rPr lang="ko-KR" altLang="ko-KR" dirty="0" err="1"/>
              <a:t>destroy</a:t>
            </a:r>
            <a:r>
              <a:rPr lang="ko-KR" altLang="ko-KR" dirty="0"/>
              <a:t> </a:t>
            </a:r>
            <a:r>
              <a:rPr lang="ko-KR" altLang="ko-KR" dirty="0" err="1"/>
              <a:t>model</a:t>
            </a:r>
            <a:r>
              <a:rPr lang="ko-KR" altLang="ko-KR" dirty="0"/>
              <a:t> </a:t>
            </a:r>
            <a:r>
              <a:rPr lang="ko-KR" altLang="ko-KR" dirty="0" err="1"/>
              <a:t>performance</a:t>
            </a:r>
            <a:r>
              <a:rPr lang="ko-KR" altLang="ko-KR" dirty="0"/>
              <a:t>.</a:t>
            </a:r>
            <a:br>
              <a:rPr lang="ko-KR" altLang="ko-KR" dirty="0"/>
            </a:br>
            <a:r>
              <a:rPr lang="ko-KR" altLang="ko-KR" dirty="0" err="1"/>
              <a:t>This</a:t>
            </a:r>
            <a:r>
              <a:rPr lang="ko-KR" altLang="ko-KR" dirty="0"/>
              <a:t> </a:t>
            </a:r>
            <a:r>
              <a:rPr lang="ko-KR" altLang="ko-KR" dirty="0" err="1"/>
              <a:t>slide</a:t>
            </a:r>
            <a:r>
              <a:rPr lang="ko-KR" altLang="ko-KR" dirty="0"/>
              <a:t> </a:t>
            </a:r>
            <a:r>
              <a:rPr lang="ko-KR" altLang="ko-KR" dirty="0" err="1"/>
              <a:t>shows</a:t>
            </a:r>
            <a:r>
              <a:rPr lang="ko-KR" altLang="ko-KR" dirty="0"/>
              <a:t> </a:t>
            </a:r>
            <a:r>
              <a:rPr lang="ko-KR" altLang="ko-KR" dirty="0" err="1"/>
              <a:t>previous</a:t>
            </a:r>
            <a:r>
              <a:rPr lang="ko-KR" altLang="ko-KR" dirty="0"/>
              <a:t> </a:t>
            </a:r>
            <a:r>
              <a:rPr lang="ko-KR" altLang="ko-KR" dirty="0" err="1"/>
              <a:t>work</a:t>
            </a:r>
            <a:r>
              <a:rPr lang="ko-KR" altLang="ko-KR" dirty="0"/>
              <a:t> </a:t>
            </a:r>
            <a:r>
              <a:rPr lang="ko-KR" altLang="ko-KR" dirty="0" err="1"/>
              <a:t>on</a:t>
            </a:r>
            <a:r>
              <a:rPr lang="ko-KR" altLang="ko-KR" dirty="0"/>
              <a:t> </a:t>
            </a:r>
            <a:r>
              <a:rPr lang="ko-KR" altLang="ko-KR" dirty="0" err="1"/>
              <a:t>layer-selective</a:t>
            </a:r>
            <a:r>
              <a:rPr lang="ko-KR" altLang="ko-KR" dirty="0"/>
              <a:t> </a:t>
            </a:r>
            <a:r>
              <a:rPr lang="ko-KR" altLang="ko-KR" dirty="0" err="1"/>
              <a:t>rank</a:t>
            </a:r>
            <a:r>
              <a:rPr lang="ko-KR" altLang="ko-KR" dirty="0"/>
              <a:t> </a:t>
            </a:r>
            <a:r>
              <a:rPr lang="ko-KR" altLang="ko-KR" dirty="0" err="1"/>
              <a:t>reduction</a:t>
            </a:r>
            <a:r>
              <a:rPr lang="ko-KR" altLang="ko-KR" dirty="0"/>
              <a:t>, </a:t>
            </a:r>
            <a:r>
              <a:rPr lang="ko-KR" altLang="ko-KR" dirty="0" err="1"/>
              <a:t>where</a:t>
            </a:r>
            <a:r>
              <a:rPr lang="ko-KR" altLang="ko-KR" dirty="0"/>
              <a:t> </a:t>
            </a:r>
            <a:r>
              <a:rPr lang="ko-KR" altLang="ko-KR" dirty="0" err="1"/>
              <a:t>selectively</a:t>
            </a:r>
            <a:r>
              <a:rPr lang="ko-KR" altLang="ko-KR" dirty="0"/>
              <a:t> </a:t>
            </a:r>
            <a:r>
              <a:rPr lang="ko-KR" altLang="ko-KR" dirty="0" err="1"/>
              <a:t>removing</a:t>
            </a:r>
            <a:r>
              <a:rPr lang="ko-KR" altLang="ko-KR" dirty="0"/>
              <a:t> </a:t>
            </a:r>
            <a:r>
              <a:rPr lang="ko-KR" altLang="ko-KR" dirty="0" err="1"/>
              <a:t>components</a:t>
            </a:r>
            <a:r>
              <a:rPr lang="ko-KR" altLang="ko-KR" dirty="0"/>
              <a:t> of </a:t>
            </a:r>
            <a:r>
              <a:rPr lang="ko-KR" altLang="ko-KR" dirty="0" err="1"/>
              <a:t>weight</a:t>
            </a:r>
            <a:r>
              <a:rPr lang="ko-KR" altLang="ko-KR" dirty="0"/>
              <a:t> </a:t>
            </a:r>
            <a:r>
              <a:rPr lang="ko-KR" altLang="ko-KR" dirty="0" err="1"/>
              <a:t>matrices</a:t>
            </a:r>
            <a:r>
              <a:rPr lang="ko-KR" altLang="ko-KR" dirty="0"/>
              <a:t> </a:t>
            </a:r>
            <a:r>
              <a:rPr lang="ko-KR" altLang="ko-KR" dirty="0" err="1"/>
              <a:t>can</a:t>
            </a:r>
            <a:r>
              <a:rPr lang="ko-KR" altLang="ko-KR" dirty="0"/>
              <a:t> </a:t>
            </a:r>
            <a:r>
              <a:rPr lang="ko-KR" altLang="ko-KR" dirty="0" err="1"/>
              <a:t>preserve</a:t>
            </a:r>
            <a:r>
              <a:rPr lang="ko-KR" altLang="ko-KR" dirty="0"/>
              <a:t> </a:t>
            </a:r>
            <a:r>
              <a:rPr lang="ko-KR" altLang="ko-KR" dirty="0" err="1"/>
              <a:t>or</a:t>
            </a:r>
            <a:r>
              <a:rPr lang="ko-KR" altLang="ko-KR" dirty="0"/>
              <a:t> </a:t>
            </a:r>
            <a:r>
              <a:rPr lang="ko-KR" altLang="ko-KR" dirty="0" err="1"/>
              <a:t>even</a:t>
            </a:r>
            <a:r>
              <a:rPr lang="ko-KR" altLang="ko-KR" dirty="0"/>
              <a:t> </a:t>
            </a:r>
            <a:r>
              <a:rPr lang="ko-KR" altLang="ko-KR" dirty="0" err="1"/>
              <a:t>improve</a:t>
            </a:r>
            <a:r>
              <a:rPr lang="ko-KR" altLang="ko-KR" dirty="0"/>
              <a:t> </a:t>
            </a:r>
            <a:r>
              <a:rPr lang="ko-KR" altLang="ko-KR" dirty="0" err="1"/>
              <a:t>model</a:t>
            </a:r>
            <a:r>
              <a:rPr lang="ko-KR" altLang="ko-KR" dirty="0"/>
              <a:t> </a:t>
            </a:r>
            <a:r>
              <a:rPr lang="ko-KR" altLang="ko-KR" dirty="0" err="1"/>
              <a:t>performance</a:t>
            </a:r>
            <a:r>
              <a:rPr lang="ko-KR" altLang="ko-KR" dirty="0"/>
              <a:t>.</a:t>
            </a:r>
            <a:br>
              <a:rPr lang="ko-KR" altLang="ko-KR" dirty="0"/>
            </a:br>
            <a:r>
              <a:rPr lang="ko-KR" altLang="ko-KR" dirty="0" err="1"/>
              <a:t>This</a:t>
            </a:r>
            <a:r>
              <a:rPr lang="ko-KR" altLang="ko-KR" dirty="0"/>
              <a:t> </a:t>
            </a:r>
            <a:r>
              <a:rPr lang="ko-KR" altLang="ko-KR" dirty="0" err="1"/>
              <a:t>motivates</a:t>
            </a:r>
            <a:r>
              <a:rPr lang="ko-KR" altLang="ko-KR" dirty="0"/>
              <a:t> </a:t>
            </a:r>
            <a:r>
              <a:rPr lang="ko-KR" altLang="ko-KR" dirty="0" err="1"/>
              <a:t>GaussMark</a:t>
            </a:r>
            <a:r>
              <a:rPr lang="ko-KR" altLang="ko-KR" dirty="0"/>
              <a:t> </a:t>
            </a:r>
            <a:r>
              <a:rPr lang="ko-KR" altLang="ko-KR" dirty="0" err="1"/>
              <a:t>to</a:t>
            </a:r>
            <a:r>
              <a:rPr lang="ko-KR" altLang="ko-KR" dirty="0"/>
              <a:t> </a:t>
            </a:r>
            <a:r>
              <a:rPr lang="ko-KR" altLang="ko-KR" dirty="0" err="1"/>
              <a:t>ask</a:t>
            </a:r>
            <a:r>
              <a:rPr lang="ko-KR" altLang="ko-KR" dirty="0"/>
              <a:t> </a:t>
            </a:r>
            <a:r>
              <a:rPr lang="ko-KR" altLang="ko-KR" dirty="0" err="1"/>
              <a:t>whether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b="1" dirty="0" err="1"/>
              <a:t>small</a:t>
            </a:r>
            <a:r>
              <a:rPr lang="ko-KR" altLang="ko-KR" b="1" dirty="0"/>
              <a:t> </a:t>
            </a:r>
            <a:r>
              <a:rPr lang="ko-KR" altLang="ko-KR" b="1" dirty="0" err="1"/>
              <a:t>additive</a:t>
            </a:r>
            <a:r>
              <a:rPr lang="ko-KR" altLang="ko-KR" b="1" dirty="0"/>
              <a:t> </a:t>
            </a:r>
            <a:r>
              <a:rPr lang="ko-KR" altLang="ko-KR" b="1" dirty="0" err="1"/>
              <a:t>perturbation</a:t>
            </a:r>
            <a:r>
              <a:rPr lang="ko-KR" altLang="ko-KR" b="1" dirty="0"/>
              <a:t> of </a:t>
            </a:r>
            <a:r>
              <a:rPr lang="ko-KR" altLang="ko-KR" b="1" dirty="0" err="1"/>
              <a:t>model</a:t>
            </a:r>
            <a:r>
              <a:rPr lang="ko-KR" altLang="ko-KR" b="1" dirty="0"/>
              <a:t> </a:t>
            </a:r>
            <a:r>
              <a:rPr lang="ko-KR" altLang="ko-KR" b="1" dirty="0" err="1"/>
              <a:t>weights</a:t>
            </a:r>
            <a:r>
              <a:rPr lang="ko-KR" altLang="ko-KR" dirty="0"/>
              <a:t> </a:t>
            </a:r>
            <a:r>
              <a:rPr lang="ko-KR" altLang="ko-KR" dirty="0" err="1"/>
              <a:t>can</a:t>
            </a:r>
            <a:r>
              <a:rPr lang="ko-KR" altLang="ko-KR" dirty="0"/>
              <a:t> </a:t>
            </a:r>
            <a:r>
              <a:rPr lang="ko-KR" altLang="ko-KR" dirty="0" err="1"/>
              <a:t>instead</a:t>
            </a:r>
            <a:r>
              <a:rPr lang="ko-KR" altLang="ko-KR" dirty="0"/>
              <a:t> </a:t>
            </a:r>
            <a:r>
              <a:rPr lang="ko-KR" altLang="ko-KR" dirty="0" err="1"/>
              <a:t>be</a:t>
            </a:r>
            <a:r>
              <a:rPr lang="ko-KR" altLang="ko-KR" dirty="0"/>
              <a:t> </a:t>
            </a:r>
            <a:r>
              <a:rPr lang="ko-KR" altLang="ko-KR" dirty="0" err="1"/>
              <a:t>used</a:t>
            </a:r>
            <a:r>
              <a:rPr lang="ko-KR" altLang="ko-KR" dirty="0"/>
              <a:t> </a:t>
            </a:r>
            <a:r>
              <a:rPr lang="ko-KR" altLang="ko-KR" dirty="0" err="1"/>
              <a:t>as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watermark</a:t>
            </a:r>
            <a:r>
              <a:rPr lang="ko-KR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22A3FB-F420-4834-BF71-D1FE94C459B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206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2D54"/>
          </a:solidFill>
          <a:ln>
            <a:solidFill>
              <a:srgbClr val="162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09728" cy="2318961"/>
          </a:xfrm>
          <a:prstGeom prst="rect">
            <a:avLst/>
          </a:prstGeom>
          <a:solidFill>
            <a:srgbClr val="162D54"/>
          </a:solidFill>
          <a:ln>
            <a:solidFill>
              <a:srgbClr val="2C78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235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162D54"/>
                </a:solidFill>
                <a:latin typeface="Aptos Display"/>
              </a:rPr>
              <a:t>GaussMark</a:t>
            </a:r>
            <a:r>
              <a:rPr lang="en-US" sz="2800" b="1" dirty="0">
                <a:solidFill>
                  <a:srgbClr val="162D54"/>
                </a:solidFill>
                <a:latin typeface="Aptos Display"/>
              </a:rPr>
              <a:t>:</a:t>
            </a: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Aptos Display"/>
              </a:rPr>
              <a:t>A Practical Approach for Structural Watermarking of Language Models</a:t>
            </a:r>
          </a:p>
          <a:p>
            <a:endParaRPr lang="en-US" b="1" dirty="0">
              <a:solidFill>
                <a:srgbClr val="162D54"/>
              </a:solidFill>
              <a:latin typeface="Aptos Display"/>
            </a:endParaRPr>
          </a:p>
          <a:p>
            <a:r>
              <a:rPr lang="en-US" sz="1150" dirty="0">
                <a:solidFill>
                  <a:srgbClr val="7B8593"/>
                </a:solidFill>
                <a:latin typeface="Aptos"/>
              </a:rPr>
              <a:t>Adam Block, Alexander </a:t>
            </a:r>
            <a:r>
              <a:rPr lang="en-US" sz="1150" dirty="0" err="1">
                <a:solidFill>
                  <a:srgbClr val="7B8593"/>
                </a:solidFill>
                <a:latin typeface="Aptos"/>
              </a:rPr>
              <a:t>Rakhlin</a:t>
            </a:r>
            <a:r>
              <a:rPr lang="en-US" sz="1150" dirty="0">
                <a:solidFill>
                  <a:srgbClr val="7B8593"/>
                </a:solidFill>
                <a:latin typeface="Aptos"/>
              </a:rPr>
              <a:t>, Ayush </a:t>
            </a:r>
            <a:r>
              <a:rPr lang="en-US" sz="1150" dirty="0" err="1">
                <a:solidFill>
                  <a:srgbClr val="7B8593"/>
                </a:solidFill>
                <a:latin typeface="Aptos"/>
              </a:rPr>
              <a:t>Sekhari</a:t>
            </a:r>
            <a:endParaRPr lang="en-US" sz="1150" dirty="0">
              <a:solidFill>
                <a:srgbClr val="7B8593"/>
              </a:solidFill>
              <a:latin typeface="Aptos"/>
            </a:endParaRPr>
          </a:p>
          <a:p>
            <a:pPr>
              <a:spcBef>
                <a:spcPts val="2600"/>
              </a:spcBef>
            </a:pPr>
            <a:r>
              <a:rPr lang="en-US" sz="1150" dirty="0" err="1">
                <a:latin typeface="Aptos"/>
              </a:rPr>
              <a:t>Gahyun</a:t>
            </a:r>
            <a:r>
              <a:rPr lang="en-US" sz="1150" dirty="0">
                <a:latin typeface="Aptos"/>
              </a:rPr>
              <a:t> </a:t>
            </a:r>
            <a:r>
              <a:rPr lang="en-US" sz="1150" dirty="0" err="1">
                <a:latin typeface="Aptos"/>
              </a:rPr>
              <a:t>baek</a:t>
            </a:r>
            <a:endParaRPr sz="1150" dirty="0"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6594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dirty="0">
                <a:solidFill>
                  <a:srgbClr val="5A6678"/>
                </a:solidFill>
                <a:latin typeface="Aptos"/>
              </a:rPr>
              <a:t>Source: </a:t>
            </a:r>
            <a:r>
              <a:rPr lang="en-US" altLang="ko-KR" sz="900" dirty="0">
                <a:solidFill>
                  <a:srgbClr val="7B8593"/>
                </a:solidFill>
                <a:latin typeface="Aptos"/>
              </a:rPr>
              <a:t>Block</a:t>
            </a:r>
            <a:r>
              <a:rPr sz="850" dirty="0">
                <a:solidFill>
                  <a:srgbClr val="5A6678"/>
                </a:solidFill>
                <a:latin typeface="Aptos"/>
              </a:rPr>
              <a:t> et al., </a:t>
            </a:r>
            <a:r>
              <a:rPr lang="en-US" sz="850" dirty="0">
                <a:solidFill>
                  <a:srgbClr val="5A6678"/>
                </a:solidFill>
                <a:latin typeface="Aptos"/>
              </a:rPr>
              <a:t>ICML</a:t>
            </a:r>
            <a:r>
              <a:rPr sz="850" dirty="0">
                <a:solidFill>
                  <a:srgbClr val="5A6678"/>
                </a:solidFill>
                <a:latin typeface="Aptos"/>
              </a:rPr>
              <a:t> 202</a:t>
            </a:r>
            <a:r>
              <a:rPr lang="en-US" sz="850" dirty="0">
                <a:solidFill>
                  <a:srgbClr val="5A6678"/>
                </a:solidFill>
                <a:latin typeface="Aptos"/>
              </a:rPr>
              <a:t>5</a:t>
            </a:r>
            <a:endParaRPr sz="850" dirty="0">
              <a:solidFill>
                <a:srgbClr val="5A6678"/>
              </a:solidFill>
              <a:latin typeface="Apto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1B375A-8D2E-08A7-B6E4-45FF8B104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380" y="3662371"/>
            <a:ext cx="7772400" cy="25852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659B7-6BE2-0BC0-849A-5B21C601B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1906DD-A5D5-FD31-868C-A719590800C1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2D54"/>
          </a:solidFill>
          <a:ln>
            <a:solidFill>
              <a:srgbClr val="162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9215C6-8A4C-0880-42C9-BE16BF463440}"/>
              </a:ext>
            </a:extLst>
          </p:cNvPr>
          <p:cNvSpPr txBox="1"/>
          <p:nvPr/>
        </p:nvSpPr>
        <p:spPr>
          <a:xfrm>
            <a:off x="502920" y="210312"/>
            <a:ext cx="98135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C78BF"/>
                </a:solidFill>
                <a:latin typeface="Aptos"/>
              </a:rPr>
              <a:t>Introduction</a:t>
            </a:r>
            <a:endParaRPr sz="1100" b="1" dirty="0">
              <a:solidFill>
                <a:srgbClr val="2C78BF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D2F571-8E56-A608-AD77-EA8956EE931E}"/>
              </a:ext>
            </a:extLst>
          </p:cNvPr>
          <p:cNvSpPr txBox="1"/>
          <p:nvPr/>
        </p:nvSpPr>
        <p:spPr>
          <a:xfrm>
            <a:off x="502920" y="484632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solidFill>
                  <a:srgbClr val="162D54"/>
                </a:solidFill>
                <a:latin typeface="+mj-lt"/>
              </a:rPr>
              <a:t>LLM  Watermarking</a:t>
            </a:r>
            <a:endParaRPr sz="2500" b="1" dirty="0">
              <a:solidFill>
                <a:srgbClr val="162D54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02419C-8DA3-67C4-C550-B426B6D99C1A}"/>
              </a:ext>
            </a:extLst>
          </p:cNvPr>
          <p:cNvSpPr txBox="1"/>
          <p:nvPr/>
        </p:nvSpPr>
        <p:spPr>
          <a:xfrm>
            <a:off x="753177" y="4473308"/>
            <a:ext cx="4377624" cy="34624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1E1E1E"/>
                </a:solidFill>
              </a:rPr>
              <a:t>The key requirements: </a:t>
            </a:r>
            <a:r>
              <a:rPr lang="en-US" sz="1650" b="1" dirty="0">
                <a:solidFill>
                  <a:srgbClr val="1E1E1E"/>
                </a:solidFill>
              </a:rPr>
              <a:t>Invisible signal in text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F17797-0B04-032B-A1B0-8D0ED3B01D12}"/>
              </a:ext>
            </a:extLst>
          </p:cNvPr>
          <p:cNvSpPr txBox="1"/>
          <p:nvPr/>
        </p:nvSpPr>
        <p:spPr>
          <a:xfrm>
            <a:off x="411480" y="6455664"/>
            <a:ext cx="16594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Source: </a:t>
            </a:r>
            <a:r>
              <a:rPr lang="en-US" altLang="ko-KR" sz="900" dirty="0">
                <a:solidFill>
                  <a:srgbClr val="7B8593"/>
                </a:solidFill>
                <a:latin typeface="Aptos"/>
              </a:rPr>
              <a:t>Block</a:t>
            </a:r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 et al., ICML 2025</a:t>
            </a:r>
          </a:p>
        </p:txBody>
      </p:sp>
      <p:pic>
        <p:nvPicPr>
          <p:cNvPr id="9" name="그림 8" descr="What Is a Watermark? Definition, Uses &amp; How to Add One (2026)">
            <a:extLst>
              <a:ext uri="{FF2B5EF4-FFF2-40B4-BE49-F238E27FC236}">
                <a16:creationId xmlns:a16="http://schemas.microsoft.com/office/drawing/2014/main" id="{FE331317-F374-E824-0EC3-EF637213D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460189">
            <a:off x="8094298" y="1590101"/>
            <a:ext cx="1358267" cy="136317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12DABAD-DFD6-F190-1EA1-131BDE990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5047" y="2389772"/>
            <a:ext cx="1535229" cy="153522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E658431-8937-CFE9-F110-BFB6DB445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141" y="2463739"/>
            <a:ext cx="964239" cy="9642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1EF2164-80CD-C8EC-93CB-9C332CFD773F}"/>
              </a:ext>
            </a:extLst>
          </p:cNvPr>
          <p:cNvSpPr txBox="1"/>
          <p:nvPr/>
        </p:nvSpPr>
        <p:spPr>
          <a:xfrm>
            <a:off x="664143" y="1727735"/>
            <a:ext cx="8653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Watermark 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EC70D03-52ED-BB44-408B-A2DA196AF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16" y="2235721"/>
            <a:ext cx="5808029" cy="176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214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1BAE3-1116-3A7E-BFCE-AF15C44F4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422932-1F8D-3203-7607-2F0764DC5F35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2D54"/>
          </a:solidFill>
          <a:ln>
            <a:solidFill>
              <a:srgbClr val="162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04A933-F763-DA91-A2DD-1965E3917837}"/>
              </a:ext>
            </a:extLst>
          </p:cNvPr>
          <p:cNvSpPr txBox="1"/>
          <p:nvPr/>
        </p:nvSpPr>
        <p:spPr>
          <a:xfrm>
            <a:off x="502920" y="210312"/>
            <a:ext cx="98135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C78BF"/>
                </a:solidFill>
                <a:latin typeface="Aptos"/>
              </a:rPr>
              <a:t>Introduction</a:t>
            </a:r>
            <a:endParaRPr sz="1100" b="1" dirty="0">
              <a:solidFill>
                <a:srgbClr val="2C78BF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A5247-559D-EFEC-1B50-708B02F28471}"/>
              </a:ext>
            </a:extLst>
          </p:cNvPr>
          <p:cNvSpPr txBox="1"/>
          <p:nvPr/>
        </p:nvSpPr>
        <p:spPr>
          <a:xfrm>
            <a:off x="502920" y="484632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solidFill>
                  <a:srgbClr val="162D54"/>
                </a:solidFill>
                <a:latin typeface="+mj-lt"/>
              </a:rPr>
              <a:t>Why do we need LLM Watermarking ?</a:t>
            </a:r>
            <a:endParaRPr sz="2500" b="1" dirty="0">
              <a:solidFill>
                <a:srgbClr val="162D54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F37FF2-FAD4-ACDC-01CF-5B4E5682CDCD}"/>
              </a:ext>
            </a:extLst>
          </p:cNvPr>
          <p:cNvSpPr txBox="1"/>
          <p:nvPr/>
        </p:nvSpPr>
        <p:spPr>
          <a:xfrm>
            <a:off x="685799" y="1417320"/>
            <a:ext cx="9459273" cy="1695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1E1E1E"/>
                </a:solidFill>
              </a:rPr>
              <a:t>AI-generated content is widespread 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650" dirty="0">
              <a:solidFill>
                <a:srgbClr val="1E1E1E"/>
              </a:solidFill>
            </a:endParaRP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ko-KR" altLang="ko-KR" sz="1400" dirty="0" err="1"/>
              <a:t>Human-written</a:t>
            </a:r>
            <a:r>
              <a:rPr lang="ko-KR" altLang="ko-KR" sz="1400" dirty="0"/>
              <a:t> </a:t>
            </a:r>
            <a:r>
              <a:rPr lang="ko-KR" altLang="ko-KR" sz="1400" dirty="0" err="1"/>
              <a:t>vs</a:t>
            </a:r>
            <a:r>
              <a:rPr lang="ko-KR" altLang="ko-KR" sz="1400" dirty="0"/>
              <a:t>. AI-</a:t>
            </a:r>
            <a:r>
              <a:rPr lang="ko-KR" altLang="ko-KR" sz="1400" dirty="0" err="1"/>
              <a:t>generated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text</a:t>
            </a:r>
            <a:endParaRPr lang="en-US" altLang="ko-KR" sz="1400" dirty="0"/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400" dirty="0">
                <a:solidFill>
                  <a:srgbClr val="1E1E1E"/>
                </a:solidFill>
              </a:rPr>
              <a:t>Claim provenance, copyright</a:t>
            </a:r>
          </a:p>
          <a:p>
            <a:pPr>
              <a:spcAft>
                <a:spcPts val="800"/>
              </a:spcAft>
            </a:pPr>
            <a:r>
              <a:rPr lang="en-US" sz="1650" dirty="0">
                <a:solidFill>
                  <a:srgbClr val="1E1E1E"/>
                </a:solidFill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5B9B45-6182-EE21-E7A8-3E1A7C5C592E}"/>
              </a:ext>
            </a:extLst>
          </p:cNvPr>
          <p:cNvSpPr txBox="1"/>
          <p:nvPr/>
        </p:nvSpPr>
        <p:spPr>
          <a:xfrm>
            <a:off x="411480" y="6455664"/>
            <a:ext cx="16594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Source: </a:t>
            </a:r>
            <a:r>
              <a:rPr lang="en-US" altLang="ko-KR" sz="900" dirty="0">
                <a:solidFill>
                  <a:srgbClr val="7B8593"/>
                </a:solidFill>
                <a:latin typeface="Aptos"/>
              </a:rPr>
              <a:t>Block</a:t>
            </a:r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 et al., ICML 2025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678C25-D74E-62C0-E64F-C0E4C77F7FEC}"/>
              </a:ext>
            </a:extLst>
          </p:cNvPr>
          <p:cNvSpPr txBox="1"/>
          <p:nvPr/>
        </p:nvSpPr>
        <p:spPr>
          <a:xfrm>
            <a:off x="6494782" y="4145522"/>
            <a:ext cx="3459078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Yesterday I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went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teaming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solving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manually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teams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agents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automating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everything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way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prompts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pretty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little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frustrating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think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definitely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prepare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DB6B56-8BE2-E51A-346F-ED42DB89378A}"/>
              </a:ext>
            </a:extLst>
          </p:cNvPr>
          <p:cNvSpPr txBox="1"/>
          <p:nvPr/>
        </p:nvSpPr>
        <p:spPr>
          <a:xfrm>
            <a:off x="1961749" y="4145523"/>
            <a:ext cx="3459078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attended the Red Teaming Challenge yesterday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first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solved the problems one by one.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However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noticed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teams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solving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agents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frustrated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almost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lost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solve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think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changed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fair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36EA9B-8109-C2CB-B397-76F5690E42D2}"/>
              </a:ext>
            </a:extLst>
          </p:cNvPr>
          <p:cNvSpPr txBox="1"/>
          <p:nvPr/>
        </p:nvSpPr>
        <p:spPr>
          <a:xfrm>
            <a:off x="3691288" y="3524009"/>
            <a:ext cx="4860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Can you guess which one was generated by AI 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8991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2FC79-DCF0-0112-A318-FB5B5D504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E2B97E-E78D-2613-EFD4-CC294498CA01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2D54"/>
          </a:solidFill>
          <a:ln>
            <a:solidFill>
              <a:srgbClr val="162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5A2508-BC76-AF1D-AA97-E29FB2D2E703}"/>
              </a:ext>
            </a:extLst>
          </p:cNvPr>
          <p:cNvSpPr txBox="1"/>
          <p:nvPr/>
        </p:nvSpPr>
        <p:spPr>
          <a:xfrm>
            <a:off x="502920" y="210312"/>
            <a:ext cx="98135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C78BF"/>
                </a:solidFill>
                <a:latin typeface="Aptos"/>
              </a:rPr>
              <a:t>Introduction</a:t>
            </a:r>
            <a:endParaRPr sz="1100" b="1" dirty="0">
              <a:solidFill>
                <a:srgbClr val="2C78BF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B39707-EE52-D351-A6AE-B0341D330CE3}"/>
              </a:ext>
            </a:extLst>
          </p:cNvPr>
          <p:cNvSpPr txBox="1"/>
          <p:nvPr/>
        </p:nvSpPr>
        <p:spPr>
          <a:xfrm>
            <a:off x="502920" y="51513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b="1" dirty="0">
                <a:solidFill>
                  <a:srgbClr val="162D54"/>
                </a:solidFill>
              </a:rPr>
              <a:t>Why do we need LLM Watermarking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82F4D-7E99-175B-505F-C483A9CFB9DD}"/>
              </a:ext>
            </a:extLst>
          </p:cNvPr>
          <p:cNvSpPr txBox="1"/>
          <p:nvPr/>
        </p:nvSpPr>
        <p:spPr>
          <a:xfrm>
            <a:off x="685799" y="1417320"/>
            <a:ext cx="9459273" cy="16568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1E1E1E"/>
                </a:solidFill>
              </a:rPr>
              <a:t>AI-generated content is widespread 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E1E1E"/>
              </a:solidFill>
            </a:endParaRP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ko-KR" altLang="ko-KR" sz="1400" dirty="0" err="1"/>
              <a:t>Human-written</a:t>
            </a:r>
            <a:r>
              <a:rPr lang="ko-KR" altLang="ko-KR" sz="1400" dirty="0"/>
              <a:t> </a:t>
            </a:r>
            <a:r>
              <a:rPr lang="ko-KR" altLang="ko-KR" sz="1400" dirty="0" err="1"/>
              <a:t>vs</a:t>
            </a:r>
            <a:r>
              <a:rPr lang="ko-KR" altLang="ko-KR" sz="1400" dirty="0"/>
              <a:t>. AI-</a:t>
            </a:r>
            <a:r>
              <a:rPr lang="ko-KR" altLang="ko-KR" sz="1400" dirty="0" err="1"/>
              <a:t>generated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text</a:t>
            </a:r>
            <a:endParaRPr lang="en-US" altLang="ko-KR" sz="1400" dirty="0"/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altLang="ko-KR" sz="1400" dirty="0">
                <a:solidFill>
                  <a:srgbClr val="1E1E1E"/>
                </a:solidFill>
              </a:rPr>
              <a:t>Claim provenance, copyright</a:t>
            </a:r>
          </a:p>
          <a:p>
            <a:pPr>
              <a:spcAft>
                <a:spcPts val="800"/>
              </a:spcAft>
            </a:pPr>
            <a:r>
              <a:rPr lang="en-US" sz="1650" dirty="0">
                <a:solidFill>
                  <a:srgbClr val="1E1E1E"/>
                </a:solidFill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0A60FB-88CA-FF05-A270-EA067C1B87E0}"/>
              </a:ext>
            </a:extLst>
          </p:cNvPr>
          <p:cNvSpPr txBox="1"/>
          <p:nvPr/>
        </p:nvSpPr>
        <p:spPr>
          <a:xfrm>
            <a:off x="411480" y="6455664"/>
            <a:ext cx="16594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Source: </a:t>
            </a:r>
            <a:r>
              <a:rPr lang="en-US" altLang="ko-KR" sz="900" dirty="0">
                <a:solidFill>
                  <a:srgbClr val="7B8593"/>
                </a:solidFill>
                <a:latin typeface="Aptos"/>
              </a:rPr>
              <a:t>Block</a:t>
            </a:r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 et al., ICML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19F803-2A0E-F76E-0A2D-3DBDA08FFB48}"/>
              </a:ext>
            </a:extLst>
          </p:cNvPr>
          <p:cNvSpPr txBox="1"/>
          <p:nvPr/>
        </p:nvSpPr>
        <p:spPr>
          <a:xfrm>
            <a:off x="7721401" y="5496475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ChatGPT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A13090-D7CB-97D1-5409-4C274012DF6D}"/>
              </a:ext>
            </a:extLst>
          </p:cNvPr>
          <p:cNvSpPr txBox="1"/>
          <p:nvPr/>
        </p:nvSpPr>
        <p:spPr>
          <a:xfrm>
            <a:off x="3188368" y="5496475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Gahyun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C0A54D-5E45-1465-B5F9-33336EC76C8B}"/>
              </a:ext>
            </a:extLst>
          </p:cNvPr>
          <p:cNvSpPr txBox="1"/>
          <p:nvPr/>
        </p:nvSpPr>
        <p:spPr>
          <a:xfrm>
            <a:off x="6494782" y="4145522"/>
            <a:ext cx="3459078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Yesterday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went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teaming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solving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manually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teams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agents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automating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everything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way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prompts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pretty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little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frustrating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think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definitely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prepare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5BD023-54C4-2B26-7F66-2C75FE6CA884}"/>
              </a:ext>
            </a:extLst>
          </p:cNvPr>
          <p:cNvSpPr txBox="1"/>
          <p:nvPr/>
        </p:nvSpPr>
        <p:spPr>
          <a:xfrm>
            <a:off x="1961749" y="4145523"/>
            <a:ext cx="3459078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attended the Red Teaming Challenge yesterday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first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solved the problems one by one.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However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noticed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teams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solving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agents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frustrated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almost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lost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solve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think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changed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fair</a:t>
            </a:r>
            <a:r>
              <a:rPr lang="ko-KR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A275E5-B4F4-7EEF-6238-2D7C76A3549F}"/>
              </a:ext>
            </a:extLst>
          </p:cNvPr>
          <p:cNvSpPr txBox="1"/>
          <p:nvPr/>
        </p:nvSpPr>
        <p:spPr>
          <a:xfrm>
            <a:off x="3691288" y="3524009"/>
            <a:ext cx="4860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Can you guess which one was generated by AI 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8343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9FEE2-4A9B-1C28-7156-DA4C01D57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42EB37-7CB7-CAA4-0ED1-EF8541E97FA9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2D54"/>
          </a:solidFill>
          <a:ln>
            <a:solidFill>
              <a:srgbClr val="162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A2B118-5C37-C0D6-6864-9BD34E8045B1}"/>
              </a:ext>
            </a:extLst>
          </p:cNvPr>
          <p:cNvSpPr txBox="1"/>
          <p:nvPr/>
        </p:nvSpPr>
        <p:spPr>
          <a:xfrm>
            <a:off x="502920" y="210312"/>
            <a:ext cx="95250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100" b="1" dirty="0">
                <a:solidFill>
                  <a:srgbClr val="2C78BF"/>
                </a:solidFill>
                <a:latin typeface="Aptos"/>
              </a:rPr>
              <a:t>Background</a:t>
            </a:r>
            <a:endParaRPr sz="1100" b="1" dirty="0">
              <a:solidFill>
                <a:srgbClr val="2C78BF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E11E34-BF1A-8576-5900-6CBD74383A4E}"/>
              </a:ext>
            </a:extLst>
          </p:cNvPr>
          <p:cNvSpPr txBox="1"/>
          <p:nvPr/>
        </p:nvSpPr>
        <p:spPr>
          <a:xfrm>
            <a:off x="502920" y="484632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b="1" dirty="0">
                <a:solidFill>
                  <a:srgbClr val="162D54"/>
                </a:solidFill>
              </a:rPr>
              <a:t>From Token-Level Watermarking to Structural Watermarking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1E0640-CC26-91F1-5C4F-1E2858454638}"/>
              </a:ext>
            </a:extLst>
          </p:cNvPr>
          <p:cNvSpPr txBox="1"/>
          <p:nvPr/>
        </p:nvSpPr>
        <p:spPr>
          <a:xfrm>
            <a:off x="411480" y="6455664"/>
            <a:ext cx="16594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Source: </a:t>
            </a:r>
            <a:r>
              <a:rPr lang="en-US" altLang="ko-KR" sz="900" dirty="0">
                <a:solidFill>
                  <a:srgbClr val="7B8593"/>
                </a:solidFill>
                <a:latin typeface="Aptos"/>
              </a:rPr>
              <a:t>Block</a:t>
            </a:r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 et al., ICML 2025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15D1F47-3964-E0BE-34F6-66EA1BB15831}"/>
              </a:ext>
            </a:extLst>
          </p:cNvPr>
          <p:cNvSpPr/>
          <p:nvPr/>
        </p:nvSpPr>
        <p:spPr>
          <a:xfrm>
            <a:off x="1909160" y="1373166"/>
            <a:ext cx="909320" cy="1410121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b="1" dirty="0"/>
              <a:t>Input token</a:t>
            </a:r>
          </a:p>
          <a:p>
            <a:pPr algn="ctr"/>
            <a:endParaRPr lang="en-US" altLang="ko-KR" sz="1200" dirty="0"/>
          </a:p>
          <a:p>
            <a:pPr algn="ctr"/>
            <a:endParaRPr lang="en-US" altLang="ko-KR" sz="700" dirty="0"/>
          </a:p>
          <a:p>
            <a:pPr algn="ctr"/>
            <a:r>
              <a:rPr lang="en-US" altLang="ko-KR" sz="1200" dirty="0"/>
              <a:t>The</a:t>
            </a:r>
          </a:p>
          <a:p>
            <a:pPr algn="ctr"/>
            <a:r>
              <a:rPr lang="en-US" altLang="ko-KR" sz="1200" dirty="0"/>
              <a:t>Cat</a:t>
            </a:r>
          </a:p>
          <a:p>
            <a:pPr algn="ctr"/>
            <a:r>
              <a:rPr lang="en-US" altLang="ko-KR" sz="1200" dirty="0"/>
              <a:t>Sat</a:t>
            </a:r>
          </a:p>
          <a:p>
            <a:pPr algn="ctr"/>
            <a:r>
              <a:rPr lang="en-US" altLang="ko-KR" sz="1200" dirty="0"/>
              <a:t>…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3FC8FEB-1081-BBF1-C00A-16010F55B2D8}"/>
              </a:ext>
            </a:extLst>
          </p:cNvPr>
          <p:cNvSpPr/>
          <p:nvPr/>
        </p:nvSpPr>
        <p:spPr>
          <a:xfrm>
            <a:off x="3110157" y="1370654"/>
            <a:ext cx="1158240" cy="1410121"/>
          </a:xfrm>
          <a:prstGeom prst="roundRect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Token Embedding</a:t>
            </a:r>
          </a:p>
          <a:p>
            <a:pPr algn="ctr"/>
            <a:endParaRPr lang="en-US" altLang="ko-KR" sz="1050" dirty="0"/>
          </a:p>
          <a:p>
            <a:pPr algn="ctr"/>
            <a:endParaRPr lang="en-US" altLang="ko-KR" sz="1050" dirty="0"/>
          </a:p>
          <a:p>
            <a:pPr algn="ctr"/>
            <a:endParaRPr lang="en-US" altLang="ko-KR" sz="1050" dirty="0"/>
          </a:p>
          <a:p>
            <a:pPr algn="ctr"/>
            <a:endParaRPr lang="en-US" altLang="ko-KR" sz="1050" dirty="0"/>
          </a:p>
          <a:p>
            <a:pPr algn="ctr"/>
            <a:endParaRPr lang="en-US" altLang="ko-KR" sz="1200" dirty="0"/>
          </a:p>
          <a:p>
            <a:pPr algn="ctr"/>
            <a:r>
              <a:rPr lang="en-US" altLang="ko-KR" sz="800" dirty="0"/>
              <a:t>token -&gt; vector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50AD17C-0B7C-FA57-D45E-51A35FD31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682" y="1771947"/>
            <a:ext cx="243190" cy="763563"/>
          </a:xfrm>
          <a:prstGeom prst="rect">
            <a:avLst/>
          </a:prstGeom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95D8741-9A78-9FBC-3339-09E146862089}"/>
              </a:ext>
            </a:extLst>
          </p:cNvPr>
          <p:cNvSpPr/>
          <p:nvPr/>
        </p:nvSpPr>
        <p:spPr>
          <a:xfrm>
            <a:off x="4560074" y="1376038"/>
            <a:ext cx="1158240" cy="1410121"/>
          </a:xfrm>
          <a:prstGeom prst="roundRect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Transformer Layers</a:t>
            </a:r>
          </a:p>
          <a:p>
            <a:pPr algn="ctr"/>
            <a:endParaRPr lang="en-US" altLang="ko-KR" sz="1050" dirty="0"/>
          </a:p>
          <a:p>
            <a:pPr algn="ctr"/>
            <a:endParaRPr lang="en-US" altLang="ko-KR" sz="1050" dirty="0"/>
          </a:p>
          <a:p>
            <a:pPr algn="ctr"/>
            <a:endParaRPr lang="en-US" altLang="ko-KR" sz="1200" dirty="0"/>
          </a:p>
          <a:p>
            <a:pPr algn="ctr"/>
            <a:r>
              <a:rPr lang="en-US" altLang="ko-KR" sz="800" dirty="0"/>
              <a:t>Hidden states / semantic representations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F288FA7B-82C6-8A01-F36B-8BBCFC9F2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668" y="1820741"/>
            <a:ext cx="475103" cy="427027"/>
          </a:xfrm>
          <a:prstGeom prst="rect">
            <a:avLst/>
          </a:prstGeom>
        </p:spPr>
      </p:pic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A560CE0-F4D6-7A15-D3B2-4743F5AEF8FE}"/>
              </a:ext>
            </a:extLst>
          </p:cNvPr>
          <p:cNvSpPr/>
          <p:nvPr/>
        </p:nvSpPr>
        <p:spPr>
          <a:xfrm>
            <a:off x="6009991" y="1376038"/>
            <a:ext cx="1158240" cy="1410121"/>
          </a:xfrm>
          <a:prstGeom prst="roundRect">
            <a:avLst/>
          </a:prstGeom>
          <a:ln w="635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Unembedding / LM Head</a:t>
            </a:r>
          </a:p>
          <a:p>
            <a:pPr algn="ctr"/>
            <a:endParaRPr lang="en-US" altLang="ko-KR" sz="1200" dirty="0"/>
          </a:p>
          <a:p>
            <a:pPr algn="ctr"/>
            <a:endParaRPr lang="en-US" altLang="ko-KR" sz="1200" dirty="0"/>
          </a:p>
          <a:p>
            <a:pPr algn="ctr"/>
            <a:endParaRPr lang="en-US" altLang="ko-KR" sz="1200" dirty="0"/>
          </a:p>
          <a:p>
            <a:pPr algn="ctr"/>
            <a:endParaRPr lang="en-US" altLang="ko-KR" sz="1200" dirty="0"/>
          </a:p>
          <a:p>
            <a:pPr algn="ctr"/>
            <a:r>
              <a:rPr lang="en-US" altLang="ko-KR" sz="800" dirty="0"/>
              <a:t>hidden state -&gt; vocabulary logits</a:t>
            </a: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701BA90F-3A0B-7A17-6C93-E205EB847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6745" y="1820741"/>
            <a:ext cx="644731" cy="477054"/>
          </a:xfrm>
          <a:prstGeom prst="rect">
            <a:avLst/>
          </a:prstGeom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ABAC0030-8271-F48D-B39A-892B97BE8D39}"/>
              </a:ext>
            </a:extLst>
          </p:cNvPr>
          <p:cNvSpPr/>
          <p:nvPr/>
        </p:nvSpPr>
        <p:spPr>
          <a:xfrm>
            <a:off x="7459908" y="1370653"/>
            <a:ext cx="1158240" cy="1410121"/>
          </a:xfrm>
          <a:prstGeom prst="roundRect">
            <a:avLst/>
          </a:prstGeom>
          <a:ln w="6350">
            <a:solidFill>
              <a:schemeClr val="accent3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Token Selection / Decoding</a:t>
            </a:r>
          </a:p>
          <a:p>
            <a:pPr algn="ctr"/>
            <a:endParaRPr lang="en-US" altLang="ko-KR" sz="1200" dirty="0"/>
          </a:p>
          <a:p>
            <a:pPr algn="ctr"/>
            <a:endParaRPr lang="en-US" altLang="ko-KR" sz="1200" dirty="0"/>
          </a:p>
          <a:p>
            <a:pPr algn="ctr"/>
            <a:endParaRPr lang="en-US" altLang="ko-KR" sz="1200" dirty="0"/>
          </a:p>
          <a:p>
            <a:pPr algn="ctr"/>
            <a:endParaRPr lang="en-US" altLang="ko-KR" sz="1200" dirty="0"/>
          </a:p>
          <a:p>
            <a:pPr algn="ctr"/>
            <a:r>
              <a:rPr lang="en-US" altLang="ko-KR" sz="800" dirty="0"/>
              <a:t>Logit biasing / token sampling</a:t>
            </a: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155824D2-76E1-768F-F5CC-D95F0F0E6D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03"/>
          <a:stretch>
            <a:fillRect/>
          </a:stretch>
        </p:blipFill>
        <p:spPr>
          <a:xfrm>
            <a:off x="7482767" y="1828800"/>
            <a:ext cx="578256" cy="555670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78C70A63-D0E5-AB57-FCC5-EEE63E05DA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4717" y="1928623"/>
            <a:ext cx="211261" cy="21126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8F2D6681-DF67-53DE-360A-4AB1CAF23D3B}"/>
              </a:ext>
            </a:extLst>
          </p:cNvPr>
          <p:cNvSpPr txBox="1"/>
          <p:nvPr/>
        </p:nvSpPr>
        <p:spPr>
          <a:xfrm>
            <a:off x="8090635" y="2138283"/>
            <a:ext cx="49234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b="1" dirty="0"/>
              <a:t>sampling</a:t>
            </a:r>
            <a:endParaRPr lang="ko-KR" altLang="en-US" sz="400" b="1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70442503-8696-30E2-5C5B-33656EE893F5}"/>
              </a:ext>
            </a:extLst>
          </p:cNvPr>
          <p:cNvSpPr/>
          <p:nvPr/>
        </p:nvSpPr>
        <p:spPr>
          <a:xfrm>
            <a:off x="8909825" y="1370653"/>
            <a:ext cx="1158240" cy="1410121"/>
          </a:xfrm>
          <a:prstGeom prst="roundRect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Output</a:t>
            </a:r>
          </a:p>
          <a:p>
            <a:pPr algn="ctr"/>
            <a:endParaRPr lang="en-US" altLang="ko-KR" sz="1200" dirty="0"/>
          </a:p>
          <a:p>
            <a:pPr algn="ctr"/>
            <a:endParaRPr lang="en-US" altLang="ko-KR" sz="1200" dirty="0"/>
          </a:p>
          <a:p>
            <a:pPr algn="ctr"/>
            <a:endParaRPr lang="en-US" altLang="ko-KR" sz="1200" dirty="0"/>
          </a:p>
          <a:p>
            <a:pPr algn="ctr"/>
            <a:endParaRPr lang="en-US" altLang="ko-KR" sz="1200" dirty="0"/>
          </a:p>
          <a:p>
            <a:pPr algn="ctr"/>
            <a:endParaRPr lang="en-US" altLang="ko-KR" sz="1200" dirty="0"/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3D5A85D2-44FC-3F96-35E5-08989BAF52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6586" y="1876461"/>
            <a:ext cx="924717" cy="508009"/>
          </a:xfrm>
          <a:prstGeom prst="rect">
            <a:avLst/>
          </a:prstGeom>
        </p:spPr>
      </p:pic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D3F5EF5C-375C-9152-A3C2-4F8475BA6066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2818480" y="2075715"/>
            <a:ext cx="291677" cy="25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BC79F623-8FF1-B248-4C16-A13578596BF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268397" y="2075715"/>
            <a:ext cx="256509" cy="25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D50B50A7-72D8-3BF1-7999-58053DEEF257}"/>
              </a:ext>
            </a:extLst>
          </p:cNvPr>
          <p:cNvCxnSpPr>
            <a:cxnSpLocks/>
            <a:stCxn id="21" idx="3"/>
            <a:endCxn id="32" idx="1"/>
          </p:cNvCxnSpPr>
          <p:nvPr/>
        </p:nvCxnSpPr>
        <p:spPr>
          <a:xfrm>
            <a:off x="5718314" y="2081099"/>
            <a:ext cx="29167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B3B63A3D-717A-F12D-3CF3-A5E71E8F565E}"/>
              </a:ext>
            </a:extLst>
          </p:cNvPr>
          <p:cNvCxnSpPr>
            <a:cxnSpLocks/>
            <a:stCxn id="32" idx="3"/>
            <a:endCxn id="54" idx="1"/>
          </p:cNvCxnSpPr>
          <p:nvPr/>
        </p:nvCxnSpPr>
        <p:spPr>
          <a:xfrm flipV="1">
            <a:off x="7168231" y="2075714"/>
            <a:ext cx="291677" cy="53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93F214F3-4F1D-AEC3-38E6-4E7CA16EB269}"/>
              </a:ext>
            </a:extLst>
          </p:cNvPr>
          <p:cNvCxnSpPr>
            <a:cxnSpLocks/>
            <a:stCxn id="54" idx="3"/>
            <a:endCxn id="67" idx="1"/>
          </p:cNvCxnSpPr>
          <p:nvPr/>
        </p:nvCxnSpPr>
        <p:spPr>
          <a:xfrm>
            <a:off x="8618148" y="2075714"/>
            <a:ext cx="29167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별: 꼭짓점 5개 113">
            <a:extLst>
              <a:ext uri="{FF2B5EF4-FFF2-40B4-BE49-F238E27FC236}">
                <a16:creationId xmlns:a16="http://schemas.microsoft.com/office/drawing/2014/main" id="{C79F4D82-E626-FF50-BDF9-F19B86F3ADED}"/>
              </a:ext>
            </a:extLst>
          </p:cNvPr>
          <p:cNvSpPr/>
          <p:nvPr/>
        </p:nvSpPr>
        <p:spPr>
          <a:xfrm>
            <a:off x="5769323" y="1121779"/>
            <a:ext cx="478761" cy="512232"/>
          </a:xfrm>
          <a:prstGeom prst="star5">
            <a:avLst/>
          </a:prstGeom>
          <a:solidFill>
            <a:srgbClr val="FFCC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E3A9E7-0CF3-0F12-544D-98FA49EC4BA1}"/>
              </a:ext>
            </a:extLst>
          </p:cNvPr>
          <p:cNvSpPr/>
          <p:nvPr/>
        </p:nvSpPr>
        <p:spPr>
          <a:xfrm>
            <a:off x="2841942" y="3382872"/>
            <a:ext cx="2669177" cy="592183"/>
          </a:xfrm>
          <a:prstGeom prst="rect">
            <a:avLst/>
          </a:prstGeom>
          <a:solidFill>
            <a:srgbClr val="9BBB59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Token sampling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9AC9B9D-AB55-26C3-4959-75D67B903A1E}"/>
              </a:ext>
            </a:extLst>
          </p:cNvPr>
          <p:cNvSpPr/>
          <p:nvPr/>
        </p:nvSpPr>
        <p:spPr>
          <a:xfrm>
            <a:off x="6220715" y="3382872"/>
            <a:ext cx="2669177" cy="592183"/>
          </a:xfrm>
          <a:prstGeom prst="rect">
            <a:avLst/>
          </a:prstGeom>
          <a:solidFill>
            <a:srgbClr val="FAC09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Model weights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AA78917E-ECAB-BAE2-B43A-5D248D341705}"/>
              </a:ext>
            </a:extLst>
          </p:cNvPr>
          <p:cNvSpPr/>
          <p:nvPr/>
        </p:nvSpPr>
        <p:spPr>
          <a:xfrm rot="16200000">
            <a:off x="5691823" y="3469384"/>
            <a:ext cx="339634" cy="431075"/>
          </a:xfrm>
          <a:prstGeom prst="downArrow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38BD489-6171-3325-61EA-F5048F5BEC12}"/>
              </a:ext>
            </a:extLst>
          </p:cNvPr>
          <p:cNvSpPr/>
          <p:nvPr/>
        </p:nvSpPr>
        <p:spPr>
          <a:xfrm>
            <a:off x="2638697" y="4170413"/>
            <a:ext cx="3056709" cy="1410121"/>
          </a:xfrm>
          <a:prstGeom prst="roundRect">
            <a:avLst/>
          </a:prstGeom>
          <a:solidFill>
            <a:srgbClr val="DEE9C9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963BF94-0B75-C5DB-8ECE-FBC31EAFF340}"/>
              </a:ext>
            </a:extLst>
          </p:cNvPr>
          <p:cNvSpPr/>
          <p:nvPr/>
        </p:nvSpPr>
        <p:spPr>
          <a:xfrm>
            <a:off x="6066536" y="4170413"/>
            <a:ext cx="3056709" cy="1410121"/>
          </a:xfrm>
          <a:prstGeom prst="roundRect">
            <a:avLst/>
          </a:prstGeom>
          <a:solidFill>
            <a:srgbClr val="FDE8D7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DA8743-CC09-2BBC-74B2-C93FF0D99555}"/>
              </a:ext>
            </a:extLst>
          </p:cNvPr>
          <p:cNvSpPr txBox="1"/>
          <p:nvPr/>
        </p:nvSpPr>
        <p:spPr>
          <a:xfrm>
            <a:off x="2841942" y="4274916"/>
            <a:ext cx="2609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/>
              <a:t>Watermark -&gt; logits -&gt; sample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 err="1"/>
              <a:t>Appplied</a:t>
            </a:r>
            <a:r>
              <a:rPr lang="en-US" altLang="ko-KR" sz="1200" dirty="0"/>
              <a:t> at every single token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/>
              <a:t>The sampling pipeline must be rewritten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/>
              <a:t>Latency grows with sequence length.</a:t>
            </a:r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344286-9108-85A0-A570-1E42036910FC}"/>
              </a:ext>
            </a:extLst>
          </p:cNvPr>
          <p:cNvSpPr txBox="1"/>
          <p:nvPr/>
        </p:nvSpPr>
        <p:spPr>
          <a:xfrm>
            <a:off x="6312938" y="4270562"/>
            <a:ext cx="26096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/>
              <a:t>Weights + </a:t>
            </a:r>
            <a:r>
              <a:rPr lang="ko-KR" altLang="ko-KR" sz="1200" dirty="0" err="1"/>
              <a:t>ξ</a:t>
            </a:r>
            <a:r>
              <a:rPr lang="en-US" altLang="ko-KR" sz="1200" dirty="0"/>
              <a:t>-&gt; ordinary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/>
              <a:t>Applied once, before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/>
              <a:t>The sampling pipeline is untouched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/>
              <a:t>No additional generation latency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08080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75EEA-A059-521C-4C33-B3B0DAC21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ECAC5E-4853-6442-32F9-5E21466C30E7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2D54"/>
          </a:solidFill>
          <a:ln>
            <a:solidFill>
              <a:srgbClr val="162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568D4-2D51-A536-D458-C379121B94C9}"/>
              </a:ext>
            </a:extLst>
          </p:cNvPr>
          <p:cNvSpPr txBox="1"/>
          <p:nvPr/>
        </p:nvSpPr>
        <p:spPr>
          <a:xfrm>
            <a:off x="502920" y="210312"/>
            <a:ext cx="98135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C78BF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EA1250-9E37-E39B-0791-879689B8B4B1}"/>
              </a:ext>
            </a:extLst>
          </p:cNvPr>
          <p:cNvSpPr txBox="1"/>
          <p:nvPr/>
        </p:nvSpPr>
        <p:spPr>
          <a:xfrm>
            <a:off x="502920" y="484632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b="1" dirty="0">
                <a:solidFill>
                  <a:srgbClr val="162D54"/>
                </a:solidFill>
                <a:latin typeface="+mj-lt"/>
              </a:rPr>
              <a:t>Perturbation</a:t>
            </a:r>
            <a:r>
              <a:rPr lang="ko-KR" altLang="en-US" sz="2500" b="1" dirty="0">
                <a:solidFill>
                  <a:srgbClr val="162D54"/>
                </a:solidFill>
                <a:latin typeface="+mj-lt"/>
              </a:rPr>
              <a:t> </a:t>
            </a:r>
            <a:r>
              <a:rPr lang="en-US" altLang="ko-KR" sz="2500" b="1" dirty="0">
                <a:solidFill>
                  <a:srgbClr val="162D54"/>
                </a:solidFill>
                <a:latin typeface="+mj-lt"/>
              </a:rPr>
              <a:t>in</a:t>
            </a:r>
            <a:r>
              <a:rPr lang="ko-KR" altLang="en-US" sz="2500" b="1" dirty="0">
                <a:solidFill>
                  <a:srgbClr val="162D54"/>
                </a:solidFill>
                <a:latin typeface="+mj-lt"/>
              </a:rPr>
              <a:t> </a:t>
            </a:r>
            <a:r>
              <a:rPr lang="en-US" altLang="ko-KR" sz="2500" b="1" dirty="0">
                <a:solidFill>
                  <a:srgbClr val="162D54"/>
                </a:solidFill>
                <a:latin typeface="+mj-lt"/>
              </a:rPr>
              <a:t>some</a:t>
            </a:r>
            <a:r>
              <a:rPr lang="ko-KR" altLang="en-US" sz="2500" b="1" dirty="0">
                <a:solidFill>
                  <a:srgbClr val="162D54"/>
                </a:solidFill>
                <a:latin typeface="+mj-lt"/>
              </a:rPr>
              <a:t> </a:t>
            </a:r>
            <a:r>
              <a:rPr lang="en-US" altLang="ko-KR" sz="2500" b="1" dirty="0">
                <a:solidFill>
                  <a:srgbClr val="162D54"/>
                </a:solidFill>
                <a:latin typeface="+mj-lt"/>
              </a:rPr>
              <a:t>weights</a:t>
            </a:r>
            <a:endParaRPr sz="2500" b="1" dirty="0">
              <a:solidFill>
                <a:srgbClr val="162D54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53260D-72D9-6EF7-D1BD-7D5117A51903}"/>
              </a:ext>
            </a:extLst>
          </p:cNvPr>
          <p:cNvSpPr txBox="1"/>
          <p:nvPr/>
        </p:nvSpPr>
        <p:spPr>
          <a:xfrm>
            <a:off x="411480" y="6455664"/>
            <a:ext cx="16594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Source: </a:t>
            </a:r>
            <a:r>
              <a:rPr lang="en-US" altLang="ko-KR" sz="900" dirty="0">
                <a:solidFill>
                  <a:srgbClr val="7B8593"/>
                </a:solidFill>
                <a:latin typeface="Aptos"/>
              </a:rPr>
              <a:t>Block</a:t>
            </a:r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 et al., ICML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C9EE77-8823-AFFA-1250-B330C0378ACF}"/>
              </a:ext>
            </a:extLst>
          </p:cNvPr>
          <p:cNvSpPr txBox="1"/>
          <p:nvPr/>
        </p:nvSpPr>
        <p:spPr>
          <a:xfrm>
            <a:off x="502920" y="6240220"/>
            <a:ext cx="103740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TRUTH IS IN THERE:</a:t>
            </a:r>
            <a:r>
              <a:rPr lang="ko-KR" alt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REASONING IN LANGUAGE MODELS</a:t>
            </a:r>
            <a:r>
              <a:rPr lang="ko-KR" alt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LAYER-SELECTIVE RANK REDUCTION</a:t>
            </a:r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ko-KR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Sharma</a:t>
            </a:r>
            <a:r>
              <a:rPr lang="ko-KR" alt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al., </a:t>
            </a:r>
            <a:r>
              <a:rPr lang="ko-KR" alt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ICLR,</a:t>
            </a:r>
            <a:r>
              <a:rPr lang="ko-KR" alt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endParaRPr lang="ko-KR" altLang="ko-KR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D0B200C-60E5-4C87-602A-C97B3FCE6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59" y="1373166"/>
            <a:ext cx="5578690" cy="39336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953F09-6E03-CAF6-FF87-7962761E747F}"/>
              </a:ext>
            </a:extLst>
          </p:cNvPr>
          <p:cNvSpPr txBox="1"/>
          <p:nvPr/>
        </p:nvSpPr>
        <p:spPr>
          <a:xfrm>
            <a:off x="6301349" y="1626008"/>
            <a:ext cx="54116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=&gt; Low components act as noise</a:t>
            </a:r>
          </a:p>
          <a:p>
            <a:r>
              <a:rPr lang="en-US" altLang="ko-KR" sz="1600" dirty="0"/>
              <a:t>=&gt;  M</a:t>
            </a:r>
            <a:r>
              <a:rPr lang="ko-KR" altLang="ko-KR" sz="1600" dirty="0" err="1"/>
              <a:t>odifying</a:t>
            </a:r>
            <a:r>
              <a:rPr lang="ko-KR" altLang="ko-KR" sz="1600" dirty="0"/>
              <a:t> </a:t>
            </a:r>
            <a:r>
              <a:rPr lang="ko-KR" altLang="ko-KR" sz="1600" dirty="0" err="1"/>
              <a:t>selected</a:t>
            </a:r>
            <a:r>
              <a:rPr lang="ko-KR" altLang="ko-KR" sz="1600" dirty="0"/>
              <a:t> </a:t>
            </a:r>
            <a:r>
              <a:rPr lang="ko-KR" altLang="ko-KR" sz="1600" dirty="0" err="1"/>
              <a:t>weight</a:t>
            </a:r>
            <a:r>
              <a:rPr lang="ko-KR" altLang="ko-KR" sz="1600" dirty="0"/>
              <a:t> </a:t>
            </a:r>
            <a:r>
              <a:rPr lang="ko-KR" altLang="ko-KR" sz="1600" dirty="0" err="1"/>
              <a:t>components</a:t>
            </a:r>
            <a:r>
              <a:rPr lang="ko-KR" altLang="ko-KR" sz="1600" dirty="0"/>
              <a:t> </a:t>
            </a:r>
            <a:r>
              <a:rPr lang="ko-KR" altLang="ko-KR" sz="1600" dirty="0" err="1"/>
              <a:t>does</a:t>
            </a:r>
            <a:r>
              <a:rPr lang="ko-KR" altLang="ko-KR" sz="1600" dirty="0"/>
              <a:t> </a:t>
            </a:r>
            <a:r>
              <a:rPr lang="ko-KR" altLang="ko-KR" sz="1600" dirty="0" err="1"/>
              <a:t>not</a:t>
            </a:r>
            <a:r>
              <a:rPr lang="ko-KR" altLang="ko-KR" sz="1600" dirty="0"/>
              <a:t> </a:t>
            </a:r>
            <a:r>
              <a:rPr lang="ko-KR" altLang="ko-KR" sz="1600" dirty="0" err="1"/>
              <a:t>necessarily</a:t>
            </a:r>
            <a:r>
              <a:rPr lang="ko-KR" altLang="ko-KR" sz="1600" dirty="0"/>
              <a:t> </a:t>
            </a:r>
            <a:r>
              <a:rPr lang="ko-KR" altLang="ko-KR" sz="1600" dirty="0" err="1"/>
              <a:t>destroy</a:t>
            </a:r>
            <a:r>
              <a:rPr lang="ko-KR" altLang="ko-KR" sz="1600" dirty="0"/>
              <a:t> </a:t>
            </a:r>
            <a:r>
              <a:rPr lang="ko-KR" altLang="ko-KR" sz="1600" dirty="0" err="1"/>
              <a:t>model</a:t>
            </a:r>
            <a:r>
              <a:rPr lang="ko-KR" altLang="ko-KR" sz="1600" dirty="0"/>
              <a:t> </a:t>
            </a:r>
            <a:r>
              <a:rPr lang="ko-KR" altLang="ko-KR" sz="1600" dirty="0" err="1"/>
              <a:t>performance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A small additive perturbation of model weights can instead be used as a </a:t>
            </a:r>
            <a:r>
              <a:rPr lang="en-US" altLang="ko-KR" sz="1600" dirty="0">
                <a:highlight>
                  <a:srgbClr val="FFFF00"/>
                </a:highlight>
              </a:rPr>
              <a:t>watermark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022772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15363-43F1-11DF-C338-328F13CBA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E60131-FA80-BD12-33F5-AA9A82870452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2D54"/>
          </a:solidFill>
          <a:ln>
            <a:solidFill>
              <a:srgbClr val="162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DDC5DA-B653-7C33-5708-67ED5570C32A}"/>
              </a:ext>
            </a:extLst>
          </p:cNvPr>
          <p:cNvSpPr txBox="1"/>
          <p:nvPr/>
        </p:nvSpPr>
        <p:spPr>
          <a:xfrm>
            <a:off x="502920" y="210312"/>
            <a:ext cx="101662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100" b="1" dirty="0">
                <a:solidFill>
                  <a:srgbClr val="2C78BF"/>
                </a:solidFill>
                <a:latin typeface="Aptos"/>
              </a:rPr>
              <a:t>Methodology</a:t>
            </a:r>
            <a:endParaRPr sz="1100" b="1" dirty="0">
              <a:solidFill>
                <a:srgbClr val="2C78BF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8C473-821A-FA55-4B2F-A641D671FED2}"/>
              </a:ext>
            </a:extLst>
          </p:cNvPr>
          <p:cNvSpPr txBox="1"/>
          <p:nvPr/>
        </p:nvSpPr>
        <p:spPr>
          <a:xfrm>
            <a:off x="502920" y="484632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b="1" dirty="0">
                <a:solidFill>
                  <a:srgbClr val="162D54"/>
                </a:solidFill>
                <a:latin typeface="+mj-lt"/>
              </a:rPr>
              <a:t>Hypothesis testing problem</a:t>
            </a:r>
            <a:endParaRPr sz="2500" b="1" dirty="0">
              <a:solidFill>
                <a:srgbClr val="162D54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2C03A-CD01-BE85-ED09-D561E545CB63}"/>
              </a:ext>
            </a:extLst>
          </p:cNvPr>
          <p:cNvSpPr txBox="1"/>
          <p:nvPr/>
        </p:nvSpPr>
        <p:spPr>
          <a:xfrm>
            <a:off x="685799" y="1417320"/>
            <a:ext cx="11005458" cy="2500685"/>
          </a:xfrm>
          <a:prstGeom prst="rect">
            <a:avLst/>
          </a:prstGeom>
          <a:noFill/>
        </p:spPr>
        <p:txBody>
          <a:bodyPr wrap="square" lIns="0" rIns="0" numCol="1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E1E1E"/>
                </a:solidFill>
              </a:rPr>
              <a:t>Null hypothesis 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1E1E"/>
                </a:solidFill>
              </a:rPr>
              <a:t>This text is not related to the watermarking key.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altLang="ko-KR" sz="1600" b="1" dirty="0">
              <a:solidFill>
                <a:srgbClr val="1E1E1E"/>
              </a:solidFill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altLang="ko-KR" sz="1600" b="1" dirty="0">
              <a:solidFill>
                <a:srgbClr val="1E1E1E"/>
              </a:solidFill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rgbClr val="1E1E1E"/>
                </a:solidFill>
              </a:rPr>
              <a:t>Alternative hypothesis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ko-KR" sz="1600" dirty="0"/>
              <a:t>This text is exactly from the weight perturbed model.</a:t>
            </a:r>
            <a:endParaRPr lang="en-US" altLang="ko-KR" sz="1600" b="1" dirty="0">
              <a:solidFill>
                <a:srgbClr val="1E1E1E"/>
              </a:solidFill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650" dirty="0">
              <a:solidFill>
                <a:srgbClr val="1E1E1E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054519-BF54-3275-A65D-0B1C1AFDD0E2}"/>
              </a:ext>
            </a:extLst>
          </p:cNvPr>
          <p:cNvSpPr txBox="1"/>
          <p:nvPr/>
        </p:nvSpPr>
        <p:spPr>
          <a:xfrm>
            <a:off x="411480" y="6455664"/>
            <a:ext cx="16594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Source: </a:t>
            </a:r>
            <a:r>
              <a:rPr lang="en-US" altLang="ko-KR" sz="900" dirty="0">
                <a:solidFill>
                  <a:srgbClr val="7B8593"/>
                </a:solidFill>
                <a:latin typeface="Aptos"/>
              </a:rPr>
              <a:t>Block</a:t>
            </a:r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 et al., ICML 2025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30AA047-9635-E3DD-C3B2-E57F71479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932" y="2143616"/>
            <a:ext cx="3111138" cy="3244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0D3590F-90DB-F1CE-F804-E8CC7E10DE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48" b="1"/>
          <a:stretch>
            <a:fillRect/>
          </a:stretch>
        </p:blipFill>
        <p:spPr>
          <a:xfrm>
            <a:off x="920932" y="3656773"/>
            <a:ext cx="2693126" cy="2612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645FBE-3F01-5199-A75C-0618CC851398}"/>
              </a:ext>
            </a:extLst>
          </p:cNvPr>
          <p:cNvSpPr txBox="1"/>
          <p:nvPr/>
        </p:nvSpPr>
        <p:spPr>
          <a:xfrm>
            <a:off x="8211820" y="5493900"/>
            <a:ext cx="5128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y: candidate text, </a:t>
            </a:r>
            <a:r>
              <a:rPr lang="ko-KR" altLang="ko-KR" sz="1800" dirty="0" err="1"/>
              <a:t>ξ</a:t>
            </a:r>
            <a:r>
              <a:rPr lang="en-US" altLang="ko-KR" sz="1800" dirty="0"/>
              <a:t>: secret key</a:t>
            </a:r>
          </a:p>
        </p:txBody>
      </p:sp>
    </p:spTree>
    <p:extLst>
      <p:ext uri="{BB962C8B-B14F-4D97-AF65-F5344CB8AC3E}">
        <p14:creationId xmlns:p14="http://schemas.microsoft.com/office/powerpoint/2010/main" val="3089306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14A6D-8D58-5D79-570D-A20A3917D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7C64D5-09EE-A3E0-7053-81DD665852B5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2D54"/>
          </a:solidFill>
          <a:ln>
            <a:solidFill>
              <a:srgbClr val="162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FCCB66-96DE-8FFB-B791-3A47674D42AB}"/>
              </a:ext>
            </a:extLst>
          </p:cNvPr>
          <p:cNvSpPr txBox="1"/>
          <p:nvPr/>
        </p:nvSpPr>
        <p:spPr>
          <a:xfrm>
            <a:off x="502920" y="210312"/>
            <a:ext cx="101662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C78BF"/>
                </a:solidFill>
                <a:latin typeface="Aptos"/>
              </a:rPr>
              <a:t>Methodology</a:t>
            </a:r>
            <a:endParaRPr sz="1100" b="1" dirty="0">
              <a:solidFill>
                <a:srgbClr val="2C78BF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2219F-F70E-CA9B-EC1E-21C55CC9530E}"/>
              </a:ext>
            </a:extLst>
          </p:cNvPr>
          <p:cNvSpPr txBox="1"/>
          <p:nvPr/>
        </p:nvSpPr>
        <p:spPr>
          <a:xfrm>
            <a:off x="502920" y="484632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b="1" dirty="0">
                <a:solidFill>
                  <a:srgbClr val="162D54"/>
                </a:solidFill>
                <a:latin typeface="+mj-lt"/>
              </a:rPr>
              <a:t>Log-Likelihood Ratio</a:t>
            </a:r>
            <a:endParaRPr sz="2500" b="1" dirty="0">
              <a:solidFill>
                <a:srgbClr val="162D54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2F0740-5629-75F0-35FB-AA8146E77FF9}"/>
              </a:ext>
            </a:extLst>
          </p:cNvPr>
          <p:cNvSpPr txBox="1"/>
          <p:nvPr/>
        </p:nvSpPr>
        <p:spPr>
          <a:xfrm>
            <a:off x="411480" y="6455664"/>
            <a:ext cx="16594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Source: </a:t>
            </a:r>
            <a:r>
              <a:rPr lang="en-US" altLang="ko-KR" sz="900" dirty="0">
                <a:solidFill>
                  <a:srgbClr val="7B8593"/>
                </a:solidFill>
                <a:latin typeface="Aptos"/>
              </a:rPr>
              <a:t>Block</a:t>
            </a:r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 et al., ICML 2025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E413249-9B25-0DEE-8231-4017684CD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90" y="2093133"/>
            <a:ext cx="1638300" cy="736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D43AA5-F574-F6EF-78E1-746F5B83410E}"/>
              </a:ext>
            </a:extLst>
          </p:cNvPr>
          <p:cNvSpPr txBox="1"/>
          <p:nvPr/>
        </p:nvSpPr>
        <p:spPr>
          <a:xfrm>
            <a:off x="1149667" y="2927043"/>
            <a:ext cx="607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[LLR]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34918E-42DC-144A-4F40-DF7FA9EDA45C}"/>
                  </a:ext>
                </a:extLst>
              </p:cNvPr>
              <p:cNvSpPr txBox="1"/>
              <p:nvPr/>
            </p:nvSpPr>
            <p:spPr>
              <a:xfrm>
                <a:off x="2750553" y="2505306"/>
                <a:ext cx="50888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dirty="0"/>
                  <a:t>=&gt; The larger the value is,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kumimoji="1" lang="en-US" altLang="ko-KR" dirty="0"/>
                  <a:t> is more available</a:t>
                </a:r>
                <a:endParaRPr kumimoji="1"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34918E-42DC-144A-4F40-DF7FA9EDA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553" y="2505306"/>
                <a:ext cx="5088835" cy="369332"/>
              </a:xfrm>
              <a:prstGeom prst="rect">
                <a:avLst/>
              </a:prstGeom>
              <a:blipFill>
                <a:blip r:embed="rId3"/>
                <a:stretch>
                  <a:fillRect l="-958" t="-9836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50EE970-B1AE-494E-561D-12B1CD4E1600}"/>
              </a:ext>
            </a:extLst>
          </p:cNvPr>
          <p:cNvSpPr txBox="1"/>
          <p:nvPr/>
        </p:nvSpPr>
        <p:spPr>
          <a:xfrm>
            <a:off x="864485" y="3711468"/>
            <a:ext cx="6143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Compares the two competing hypotheses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 higher ratio </a:t>
            </a:r>
            <a:r>
              <a:rPr lang="en-US" altLang="ko-KR" dirty="0" err="1"/>
              <a:t>favours</a:t>
            </a:r>
            <a:r>
              <a:rPr lang="en-US" altLang="ko-KR" dirty="0"/>
              <a:t> the watermark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DD4BFA-7D78-D083-D7E3-BB9C163FFA07}"/>
              </a:ext>
            </a:extLst>
          </p:cNvPr>
          <p:cNvSpPr txBox="1"/>
          <p:nvPr/>
        </p:nvSpPr>
        <p:spPr>
          <a:xfrm>
            <a:off x="559112" y="1278790"/>
            <a:ext cx="6141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: </a:t>
            </a:r>
            <a:r>
              <a:rPr lang="ko-KR" altLang="ko-KR" sz="1200" dirty="0" err="1"/>
              <a:t>A</a:t>
            </a:r>
            <a:r>
              <a:rPr lang="ko-KR" altLang="ko-KR" sz="1200" dirty="0"/>
              <a:t> </a:t>
            </a:r>
            <a:r>
              <a:rPr lang="ko-KR" altLang="ko-KR" sz="1200" dirty="0" err="1"/>
              <a:t>natural</a:t>
            </a:r>
            <a:r>
              <a:rPr lang="ko-KR" altLang="ko-KR" sz="1200" dirty="0"/>
              <a:t> </a:t>
            </a:r>
            <a:r>
              <a:rPr lang="ko-KR" altLang="ko-KR" sz="1200" dirty="0" err="1"/>
              <a:t>way</a:t>
            </a:r>
            <a:r>
              <a:rPr lang="ko-KR" altLang="ko-KR" sz="1200" dirty="0"/>
              <a:t> </a:t>
            </a:r>
            <a:r>
              <a:rPr lang="ko-KR" altLang="ko-KR" sz="1200" dirty="0" err="1"/>
              <a:t>to</a:t>
            </a:r>
            <a:r>
              <a:rPr lang="ko-KR" altLang="ko-KR" sz="1200" dirty="0"/>
              <a:t> </a:t>
            </a:r>
            <a:r>
              <a:rPr lang="ko-KR" altLang="ko-KR" sz="1200" dirty="0" err="1"/>
              <a:t>compare</a:t>
            </a:r>
            <a:r>
              <a:rPr lang="ko-KR" altLang="ko-KR" sz="1200" dirty="0"/>
              <a:t> </a:t>
            </a:r>
            <a:r>
              <a:rPr lang="ko-KR" altLang="ko-KR" sz="1200" dirty="0" err="1"/>
              <a:t>the</a:t>
            </a:r>
            <a:r>
              <a:rPr lang="ko-KR" altLang="ko-KR" sz="1200" dirty="0"/>
              <a:t> </a:t>
            </a:r>
            <a:r>
              <a:rPr lang="ko-KR" altLang="ko-KR" sz="1200" dirty="0" err="1"/>
              <a:t>null</a:t>
            </a:r>
            <a:r>
              <a:rPr lang="ko-KR" altLang="ko-KR" sz="1200" dirty="0"/>
              <a:t> and </a:t>
            </a:r>
            <a:r>
              <a:rPr lang="ko-KR" altLang="ko-KR" sz="1200" dirty="0" err="1"/>
              <a:t>alternative</a:t>
            </a:r>
            <a:r>
              <a:rPr lang="ko-KR" altLang="ko-KR" sz="1200" dirty="0"/>
              <a:t> </a:t>
            </a:r>
            <a:r>
              <a:rPr lang="ko-KR" altLang="ko-KR" sz="1200" dirty="0" err="1"/>
              <a:t>hypotheses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06633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515F7-627C-1F86-6932-D4736BF36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246E1D-E1EB-A58F-A27A-E5D7CC77E836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2D54"/>
          </a:solidFill>
          <a:ln>
            <a:solidFill>
              <a:srgbClr val="162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6C308E-FE1A-0419-879F-3B67A8E42AAF}"/>
              </a:ext>
            </a:extLst>
          </p:cNvPr>
          <p:cNvSpPr txBox="1"/>
          <p:nvPr/>
        </p:nvSpPr>
        <p:spPr>
          <a:xfrm>
            <a:off x="502920" y="210312"/>
            <a:ext cx="135325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C78BF"/>
                </a:solidFill>
                <a:latin typeface="Aptos"/>
              </a:rPr>
              <a:t>Proposed Scheme</a:t>
            </a:r>
            <a:endParaRPr sz="1100" b="1" dirty="0">
              <a:solidFill>
                <a:srgbClr val="2C78BF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732174-3D14-1277-5057-A5BFF4A57E45}"/>
              </a:ext>
            </a:extLst>
          </p:cNvPr>
          <p:cNvSpPr txBox="1"/>
          <p:nvPr/>
        </p:nvSpPr>
        <p:spPr>
          <a:xfrm>
            <a:off x="502920" y="484632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 err="1">
                <a:solidFill>
                  <a:srgbClr val="162D54"/>
                </a:solidFill>
                <a:latin typeface="+mj-lt"/>
              </a:rPr>
              <a:t>GaussMark</a:t>
            </a:r>
            <a:r>
              <a:rPr lang="en-US" sz="2500" b="1" dirty="0">
                <a:solidFill>
                  <a:srgbClr val="162D54"/>
                </a:solidFill>
                <a:latin typeface="+mj-lt"/>
              </a:rPr>
              <a:t> - generate</a:t>
            </a:r>
            <a:endParaRPr sz="2500" b="1" dirty="0">
              <a:solidFill>
                <a:srgbClr val="162D54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C33C93-A9CF-DB6F-3AAB-2F69C7B84731}"/>
              </a:ext>
            </a:extLst>
          </p:cNvPr>
          <p:cNvSpPr txBox="1"/>
          <p:nvPr/>
        </p:nvSpPr>
        <p:spPr>
          <a:xfrm>
            <a:off x="411480" y="6455664"/>
            <a:ext cx="16594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Source: </a:t>
            </a:r>
            <a:r>
              <a:rPr lang="en-US" altLang="ko-KR" sz="900" dirty="0">
                <a:solidFill>
                  <a:srgbClr val="7B8593"/>
                </a:solidFill>
                <a:latin typeface="Aptos"/>
              </a:rPr>
              <a:t>Block</a:t>
            </a:r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 et al., ICML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6A3C7-88DE-E20C-6087-52F07996725B}"/>
              </a:ext>
            </a:extLst>
          </p:cNvPr>
          <p:cNvSpPr txBox="1"/>
          <p:nvPr/>
        </p:nvSpPr>
        <p:spPr>
          <a:xfrm>
            <a:off x="685800" y="1417320"/>
            <a:ext cx="3842658" cy="1772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ko-KR" sz="1650" dirty="0">
                <a:solidFill>
                  <a:srgbClr val="1E1E1E"/>
                </a:solidFill>
              </a:rPr>
              <a:t>Structural inherent in model weights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1E1E1E"/>
                </a:solidFill>
              </a:rPr>
              <a:t>Modifies model weights 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1E1E1E"/>
                </a:solidFill>
              </a:rPr>
              <a:t>Adds Gaussian perturbation 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1E1E1E"/>
                </a:solidFill>
              </a:rPr>
              <a:t>Generates normally afterward 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1E1E1E"/>
                </a:solidFill>
              </a:rPr>
              <a:t>No token-level biasing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D29D71-95E0-659F-6E79-123A635CF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583" y="1626188"/>
            <a:ext cx="4545024" cy="160339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96387E7-2E22-690B-52D4-0D956E332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960" y="3894085"/>
            <a:ext cx="1905000" cy="11938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63B084-A423-5EFC-211C-48EA8E817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9984" y="3894085"/>
            <a:ext cx="1879600" cy="11938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83610AB-2D52-36EB-105B-E9E33C83FC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2534" y="5146030"/>
            <a:ext cx="2374900" cy="1193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7229DF-CF93-D710-2328-BCF618942DF9}"/>
              </a:ext>
            </a:extLst>
          </p:cNvPr>
          <p:cNvSpPr txBox="1"/>
          <p:nvPr/>
        </p:nvSpPr>
        <p:spPr>
          <a:xfrm>
            <a:off x="635140" y="4227750"/>
            <a:ext cx="26770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300" dirty="0" err="1"/>
              <a:t>θ</a:t>
            </a:r>
            <a:r>
              <a:rPr lang="en-US" altLang="ko-KR" sz="1300" dirty="0"/>
              <a:t>: base model’s weights for a layer</a:t>
            </a:r>
          </a:p>
          <a:p>
            <a:r>
              <a:rPr lang="ko-KR" altLang="ko-KR" sz="1300" dirty="0" err="1"/>
              <a:t>ξ</a:t>
            </a:r>
            <a:r>
              <a:rPr lang="en-US" altLang="ko-KR" sz="1300" dirty="0"/>
              <a:t>: secret key</a:t>
            </a:r>
          </a:p>
          <a:p>
            <a:r>
              <a:rPr lang="ko-KR" altLang="ko-KR" sz="1300" dirty="0" err="1"/>
              <a:t>θ</a:t>
            </a:r>
            <a:r>
              <a:rPr lang="ko-KR" altLang="ko-KR" sz="1300" dirty="0"/>
              <a:t>′=</a:t>
            </a:r>
            <a:r>
              <a:rPr lang="ko-KR" altLang="ko-KR" sz="1300" dirty="0" err="1"/>
              <a:t>θ+ξ</a:t>
            </a:r>
            <a:endParaRPr lang="ko-KR" altLang="en-US" sz="1300" dirty="0"/>
          </a:p>
          <a:p>
            <a:endParaRPr lang="ko-KR" altLang="en-US" sz="13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99A8FB-2450-923B-FF74-B39EAD275144}"/>
              </a:ext>
            </a:extLst>
          </p:cNvPr>
          <p:cNvSpPr/>
          <p:nvPr/>
        </p:nvSpPr>
        <p:spPr>
          <a:xfrm>
            <a:off x="9025467" y="2371788"/>
            <a:ext cx="1143000" cy="2901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1558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B20C0-C18B-5DDB-0A9E-47EFAA00E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C4A62C-FCCE-C80B-9E56-8FE69DA3F697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2D54"/>
          </a:solidFill>
          <a:ln>
            <a:solidFill>
              <a:srgbClr val="162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3DF676-6E4E-CB7F-F4EE-5F3F8A078E9A}"/>
              </a:ext>
            </a:extLst>
          </p:cNvPr>
          <p:cNvSpPr txBox="1"/>
          <p:nvPr/>
        </p:nvSpPr>
        <p:spPr>
          <a:xfrm>
            <a:off x="502920" y="210312"/>
            <a:ext cx="135325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C78BF"/>
                </a:solidFill>
                <a:latin typeface="Aptos"/>
              </a:rPr>
              <a:t>Proposed Scheme</a:t>
            </a:r>
            <a:endParaRPr sz="1100" b="1" dirty="0">
              <a:solidFill>
                <a:srgbClr val="2C78BF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E08641-6B8C-6F8C-AB90-7E908D4017D9}"/>
              </a:ext>
            </a:extLst>
          </p:cNvPr>
          <p:cNvSpPr txBox="1"/>
          <p:nvPr/>
        </p:nvSpPr>
        <p:spPr>
          <a:xfrm>
            <a:off x="502920" y="484632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 err="1">
                <a:solidFill>
                  <a:srgbClr val="162D54"/>
                </a:solidFill>
                <a:latin typeface="+mj-lt"/>
              </a:rPr>
              <a:t>GaussMark</a:t>
            </a:r>
            <a:r>
              <a:rPr lang="en-US" sz="2500" b="1" dirty="0">
                <a:solidFill>
                  <a:srgbClr val="162D54"/>
                </a:solidFill>
                <a:latin typeface="+mj-lt"/>
              </a:rPr>
              <a:t> - detect</a:t>
            </a:r>
            <a:endParaRPr sz="2500" b="1" dirty="0">
              <a:solidFill>
                <a:srgbClr val="162D54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0E54A4-6462-084E-87B6-9A747C2E3C05}"/>
              </a:ext>
            </a:extLst>
          </p:cNvPr>
          <p:cNvSpPr txBox="1"/>
          <p:nvPr/>
        </p:nvSpPr>
        <p:spPr>
          <a:xfrm>
            <a:off x="411480" y="6455664"/>
            <a:ext cx="16594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Source: </a:t>
            </a:r>
            <a:r>
              <a:rPr lang="en-US" altLang="ko-KR" sz="900" dirty="0">
                <a:solidFill>
                  <a:srgbClr val="7B8593"/>
                </a:solidFill>
                <a:latin typeface="Aptos"/>
              </a:rPr>
              <a:t>Block</a:t>
            </a:r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 et al., ICML 2025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BED20BF-E15C-BD47-7CD8-75026706F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626" y="1427480"/>
            <a:ext cx="5236908" cy="30004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6F3B05-1A04-1F91-BD83-5947AA0DFF9F}"/>
              </a:ext>
            </a:extLst>
          </p:cNvPr>
          <p:cNvSpPr txBox="1"/>
          <p:nvPr/>
        </p:nvSpPr>
        <p:spPr>
          <a:xfrm>
            <a:off x="713740" y="1512510"/>
            <a:ext cx="5128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y: candidate text, </a:t>
            </a:r>
            <a:r>
              <a:rPr lang="ko-KR" altLang="ko-KR" sz="1800" dirty="0" err="1"/>
              <a:t>ξ</a:t>
            </a:r>
            <a:r>
              <a:rPr lang="en-US" altLang="ko-KR" sz="1800" dirty="0"/>
              <a:t>: secret key</a:t>
            </a:r>
          </a:p>
        </p:txBody>
      </p:sp>
    </p:spTree>
    <p:extLst>
      <p:ext uri="{BB962C8B-B14F-4D97-AF65-F5344CB8AC3E}">
        <p14:creationId xmlns:p14="http://schemas.microsoft.com/office/powerpoint/2010/main" val="715737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FE8B5-9BD5-EEE6-1DA8-5D2B6C5FB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46BC15-C698-6DFA-51BB-7CBAB7F33D73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2D54"/>
          </a:solidFill>
          <a:ln>
            <a:solidFill>
              <a:srgbClr val="162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9DCD80-1E69-D794-86D7-3B9305CBA650}"/>
              </a:ext>
            </a:extLst>
          </p:cNvPr>
          <p:cNvSpPr txBox="1"/>
          <p:nvPr/>
        </p:nvSpPr>
        <p:spPr>
          <a:xfrm>
            <a:off x="502920" y="210312"/>
            <a:ext cx="135325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C78BF"/>
                </a:solidFill>
                <a:latin typeface="Aptos"/>
              </a:rPr>
              <a:t>Proposed Scheme</a:t>
            </a:r>
            <a:endParaRPr sz="1100" b="1" dirty="0">
              <a:solidFill>
                <a:srgbClr val="2C78BF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ED422F-81FB-35D4-7AC3-41D62B08C018}"/>
              </a:ext>
            </a:extLst>
          </p:cNvPr>
          <p:cNvSpPr txBox="1"/>
          <p:nvPr/>
        </p:nvSpPr>
        <p:spPr>
          <a:xfrm>
            <a:off x="502920" y="484632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 err="1">
                <a:solidFill>
                  <a:srgbClr val="162D54"/>
                </a:solidFill>
                <a:latin typeface="+mj-lt"/>
              </a:rPr>
              <a:t>GaussMark</a:t>
            </a:r>
            <a:r>
              <a:rPr lang="en-US" sz="2500" b="1" dirty="0">
                <a:solidFill>
                  <a:srgbClr val="162D54"/>
                </a:solidFill>
                <a:latin typeface="+mj-lt"/>
              </a:rPr>
              <a:t> - detect</a:t>
            </a:r>
            <a:endParaRPr sz="2500" b="1" dirty="0">
              <a:solidFill>
                <a:srgbClr val="162D54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E2A656-38D0-F341-B7C5-DFE2707EDA04}"/>
              </a:ext>
            </a:extLst>
          </p:cNvPr>
          <p:cNvSpPr txBox="1"/>
          <p:nvPr/>
        </p:nvSpPr>
        <p:spPr>
          <a:xfrm>
            <a:off x="411480" y="6455664"/>
            <a:ext cx="16594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Source: </a:t>
            </a:r>
            <a:r>
              <a:rPr lang="en-US" altLang="ko-KR" sz="900" dirty="0">
                <a:solidFill>
                  <a:srgbClr val="7B8593"/>
                </a:solidFill>
                <a:latin typeface="Aptos"/>
              </a:rPr>
              <a:t>Block</a:t>
            </a:r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 et al., ICML 2025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AA1CBEC-92DE-D5C9-FAA3-C4A5A92F8E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99" t="49431" r="17311" b="27512"/>
          <a:stretch>
            <a:fillRect/>
          </a:stretch>
        </p:blipFill>
        <p:spPr>
          <a:xfrm>
            <a:off x="6077857" y="645433"/>
            <a:ext cx="3214914" cy="69182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03120C6-4C64-FD58-A1BC-18782B8065ED}"/>
              </a:ext>
            </a:extLst>
          </p:cNvPr>
          <p:cNvSpPr/>
          <p:nvPr/>
        </p:nvSpPr>
        <p:spPr>
          <a:xfrm>
            <a:off x="5969000" y="560738"/>
            <a:ext cx="3418114" cy="827315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E3C87B-BAFE-4C2D-71D3-7DDF2E16EADE}"/>
              </a:ext>
            </a:extLst>
          </p:cNvPr>
          <p:cNvSpPr txBox="1"/>
          <p:nvPr/>
        </p:nvSpPr>
        <p:spPr>
          <a:xfrm>
            <a:off x="685799" y="1468878"/>
            <a:ext cx="47328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y: candidate text, </a:t>
            </a:r>
            <a:r>
              <a:rPr lang="ko-KR" altLang="ko-KR" dirty="0" err="1"/>
              <a:t>ξ</a:t>
            </a:r>
            <a:r>
              <a:rPr lang="en-US" altLang="ko-KR" dirty="0"/>
              <a:t>: secret key</a:t>
            </a:r>
          </a:p>
          <a:p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Calculate text </a:t>
            </a:r>
            <a:r>
              <a:rPr lang="ko-KR" altLang="ko-KR" dirty="0" err="1"/>
              <a:t>l</a:t>
            </a:r>
            <a:r>
              <a:rPr lang="en-US" altLang="ko-KR" dirty="0"/>
              <a:t>o</a:t>
            </a:r>
            <a:r>
              <a:rPr lang="ko-KR" altLang="ko-KR" dirty="0" err="1"/>
              <a:t>g-likelihood</a:t>
            </a:r>
            <a:r>
              <a:rPr lang="en-US" altLang="ko-KR" dirty="0"/>
              <a:t> with base model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Backpropagation to obtain gradient </a:t>
            </a:r>
            <a:r>
              <a:rPr lang="en-US" altLang="ko-KR" b="1" dirty="0"/>
              <a:t>g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Measure</a:t>
            </a:r>
            <a:r>
              <a:rPr lang="ko-KR" altLang="ko-KR" dirty="0"/>
              <a:t> k</a:t>
            </a:r>
            <a:r>
              <a:rPr lang="en-US" altLang="ko-KR" dirty="0"/>
              <a:t>e</a:t>
            </a:r>
            <a:r>
              <a:rPr lang="ko-KR" altLang="ko-KR" dirty="0" err="1"/>
              <a:t>y</a:t>
            </a:r>
            <a:r>
              <a:rPr lang="ko-KR" altLang="ko-KR" dirty="0"/>
              <a:t>–</a:t>
            </a:r>
            <a:r>
              <a:rPr lang="ko-KR" altLang="ko-KR" dirty="0" err="1"/>
              <a:t>gr</a:t>
            </a:r>
            <a:r>
              <a:rPr lang="en-US" altLang="ko-KR" dirty="0"/>
              <a:t>a</a:t>
            </a:r>
            <a:r>
              <a:rPr lang="ko-KR" altLang="ko-KR" dirty="0" err="1"/>
              <a:t>dient</a:t>
            </a:r>
            <a:r>
              <a:rPr lang="ko-KR" altLang="ko-KR" dirty="0"/>
              <a:t> </a:t>
            </a:r>
            <a:r>
              <a:rPr lang="en-US" altLang="ko-KR" dirty="0"/>
              <a:t>alignment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1BDA1A-B09D-6258-68F4-1AF1F6CA5CF0}"/>
              </a:ext>
            </a:extLst>
          </p:cNvPr>
          <p:cNvSpPr txBox="1"/>
          <p:nvPr/>
        </p:nvSpPr>
        <p:spPr>
          <a:xfrm>
            <a:off x="516918" y="5642734"/>
            <a:ext cx="11157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Generation perturbs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model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direction</a:t>
            </a:r>
            <a:r>
              <a:rPr lang="ko-KR" altLang="ko-KR" dirty="0"/>
              <a:t> </a:t>
            </a:r>
            <a:r>
              <a:rPr lang="ko-KR" altLang="ko-KR" dirty="0" err="1"/>
              <a:t>ξ</a:t>
            </a:r>
            <a:r>
              <a:rPr lang="ko-KR" altLang="ko-KR" dirty="0"/>
              <a:t>, and </a:t>
            </a:r>
            <a:r>
              <a:rPr lang="en-US" altLang="ko-KR" dirty="0"/>
              <a:t>detection</a:t>
            </a:r>
            <a:r>
              <a:rPr lang="ko-KR" altLang="ko-KR" dirty="0"/>
              <a:t> </a:t>
            </a:r>
            <a:r>
              <a:rPr lang="en-US" altLang="ko-KR" dirty="0"/>
              <a:t>checks</a:t>
            </a:r>
            <a:r>
              <a:rPr lang="ko-KR" altLang="ko-KR" dirty="0"/>
              <a:t> </a:t>
            </a:r>
            <a:r>
              <a:rPr lang="en-US" altLang="ko-KR" dirty="0"/>
              <a:t>whether </a:t>
            </a:r>
            <a:r>
              <a:rPr lang="ko-KR" altLang="ko-KR" dirty="0" err="1"/>
              <a:t>th</a:t>
            </a:r>
            <a:r>
              <a:rPr lang="en-US" altLang="ko-KR" dirty="0"/>
              <a:t>e</a:t>
            </a:r>
            <a:r>
              <a:rPr lang="ko-KR" altLang="ko-KR" dirty="0"/>
              <a:t> </a:t>
            </a:r>
            <a:r>
              <a:rPr lang="en-US" altLang="ko-KR" dirty="0"/>
              <a:t>generated text still contains evidence of that direction.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2325BFD-E833-33B4-0BC3-33B1F7636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479" y="1820196"/>
            <a:ext cx="1573956" cy="167789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C830232-7B11-6EAB-B616-1D78627A5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514" y="2082840"/>
            <a:ext cx="1638529" cy="121937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322BD49-E597-DA51-836D-DA5120B26A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894" y="2403022"/>
            <a:ext cx="944656" cy="32158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C6604F7-B413-0115-6D4B-172CA47ED1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893" y="3256308"/>
            <a:ext cx="1582859" cy="25353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4A122C65-5459-463E-894C-FE73D7A54D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325" y="4267375"/>
            <a:ext cx="1000225" cy="38008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CFFC7C8-7C94-EF93-DFEB-2CADF15A9006}"/>
              </a:ext>
            </a:extLst>
          </p:cNvPr>
          <p:cNvSpPr txBox="1"/>
          <p:nvPr/>
        </p:nvSpPr>
        <p:spPr>
          <a:xfrm>
            <a:off x="6255657" y="3730171"/>
            <a:ext cx="1472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watermarked</a:t>
            </a:r>
            <a:endParaRPr lang="ko-KR" altLang="en-US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14CCBD-8D98-C9B1-660C-4B1BECAB0D73}"/>
              </a:ext>
            </a:extLst>
          </p:cNvPr>
          <p:cNvSpPr txBox="1"/>
          <p:nvPr/>
        </p:nvSpPr>
        <p:spPr>
          <a:xfrm>
            <a:off x="8650725" y="3730171"/>
            <a:ext cx="1719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unwatermarked</a:t>
            </a:r>
            <a:endParaRPr lang="ko-KR" altLang="en-US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D8994D-4B07-074C-EA3D-D9BE97C9477E}"/>
              </a:ext>
            </a:extLst>
          </p:cNvPr>
          <p:cNvSpPr txBox="1"/>
          <p:nvPr/>
        </p:nvSpPr>
        <p:spPr>
          <a:xfrm>
            <a:off x="6340956" y="4094423"/>
            <a:ext cx="1656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Stronger alignment</a:t>
            </a:r>
            <a:endParaRPr lang="ko-KR" altLang="en-US" sz="11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51A418-F9DF-1700-E3EE-CA3485B750E3}"/>
              </a:ext>
            </a:extLst>
          </p:cNvPr>
          <p:cNvSpPr txBox="1"/>
          <p:nvPr/>
        </p:nvSpPr>
        <p:spPr>
          <a:xfrm>
            <a:off x="8714377" y="4094423"/>
            <a:ext cx="1656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No systematic alignment</a:t>
            </a:r>
            <a:endParaRPr lang="ko-KR" altLang="en-US" sz="110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4D8972F2-4805-A274-11EA-829CB890D7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894" y="4720998"/>
            <a:ext cx="1343212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755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7419B-1D00-2CC3-4367-8AA0D33BB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6C3B2C-8C3F-F59A-8F23-2E1D3731AF09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2D54"/>
          </a:solidFill>
          <a:ln>
            <a:solidFill>
              <a:srgbClr val="162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4A30CA-F597-8128-E717-6668ADAADD92}"/>
              </a:ext>
            </a:extLst>
          </p:cNvPr>
          <p:cNvSpPr txBox="1"/>
          <p:nvPr/>
        </p:nvSpPr>
        <p:spPr>
          <a:xfrm>
            <a:off x="502920" y="210312"/>
            <a:ext cx="99418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100" b="1" dirty="0">
                <a:solidFill>
                  <a:srgbClr val="2C78BF"/>
                </a:solidFill>
                <a:latin typeface="Aptos"/>
              </a:rPr>
              <a:t>Experiments</a:t>
            </a:r>
            <a:endParaRPr sz="1100" b="1" dirty="0">
              <a:solidFill>
                <a:srgbClr val="2C78BF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A65A3C-839F-A1B7-33B2-9260DB5F1DE7}"/>
              </a:ext>
            </a:extLst>
          </p:cNvPr>
          <p:cNvSpPr txBox="1"/>
          <p:nvPr/>
        </p:nvSpPr>
        <p:spPr>
          <a:xfrm>
            <a:off x="502920" y="484632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solidFill>
                  <a:srgbClr val="162D54"/>
                </a:solidFill>
                <a:latin typeface="+mj-lt"/>
              </a:rPr>
              <a:t>The model’s performance is preserved</a:t>
            </a:r>
            <a:endParaRPr sz="2500" b="1" dirty="0">
              <a:solidFill>
                <a:srgbClr val="162D54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7B6E45-3714-A3F1-D3B5-484CFCF0060A}"/>
              </a:ext>
            </a:extLst>
          </p:cNvPr>
          <p:cNvSpPr txBox="1"/>
          <p:nvPr/>
        </p:nvSpPr>
        <p:spPr>
          <a:xfrm>
            <a:off x="411480" y="6455664"/>
            <a:ext cx="16594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Source: </a:t>
            </a:r>
            <a:r>
              <a:rPr lang="en-US" altLang="ko-KR" sz="900" dirty="0">
                <a:solidFill>
                  <a:srgbClr val="7B8593"/>
                </a:solidFill>
                <a:latin typeface="Aptos"/>
              </a:rPr>
              <a:t>Block</a:t>
            </a:r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 et al., ICML 2025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72A9963-BF92-44E9-E8B0-28E21120A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5" y="1562839"/>
            <a:ext cx="12192000" cy="1981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4DF624-5BA4-F40B-01F9-63CFD81FA1FF}"/>
              </a:ext>
            </a:extLst>
          </p:cNvPr>
          <p:cNvSpPr txBox="1"/>
          <p:nvPr/>
        </p:nvSpPr>
        <p:spPr>
          <a:xfrm>
            <a:off x="444137" y="3801291"/>
            <a:ext cx="9024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GaussMark</a:t>
            </a:r>
            <a:r>
              <a:rPr lang="en-US" altLang="ko-KR" dirty="0"/>
              <a:t> is </a:t>
            </a:r>
            <a:r>
              <a:rPr lang="en-US" altLang="ko-KR" b="1" dirty="0"/>
              <a:t>not distortion-free</a:t>
            </a:r>
            <a:r>
              <a:rPr lang="en-US" altLang="ko-KR" dirty="0"/>
              <a:t>, so </a:t>
            </a:r>
            <a:r>
              <a:rPr lang="ko-KR" altLang="ko-KR" dirty="0" err="1"/>
              <a:t>model</a:t>
            </a:r>
            <a:r>
              <a:rPr lang="ko-KR" altLang="ko-KR" dirty="0"/>
              <a:t> </a:t>
            </a:r>
            <a:r>
              <a:rPr lang="ko-KR" altLang="ko-KR" dirty="0" err="1"/>
              <a:t>quality</a:t>
            </a:r>
            <a:r>
              <a:rPr lang="ko-KR" altLang="ko-KR" dirty="0"/>
              <a:t> </a:t>
            </a:r>
            <a:r>
              <a:rPr lang="ko-KR" altLang="ko-KR" dirty="0" err="1"/>
              <a:t>has</a:t>
            </a:r>
            <a:r>
              <a:rPr lang="ko-KR" altLang="ko-KR" dirty="0"/>
              <a:t> </a:t>
            </a:r>
            <a:r>
              <a:rPr lang="ko-KR" altLang="ko-KR" dirty="0" err="1"/>
              <a:t>to</a:t>
            </a:r>
            <a:r>
              <a:rPr lang="ko-KR" altLang="ko-KR" dirty="0"/>
              <a:t> </a:t>
            </a:r>
            <a:r>
              <a:rPr lang="ko-KR" altLang="ko-KR" dirty="0" err="1"/>
              <a:t>be</a:t>
            </a:r>
            <a:r>
              <a:rPr lang="ko-KR" altLang="ko-KR" dirty="0"/>
              <a:t> </a:t>
            </a:r>
            <a:r>
              <a:rPr lang="ko-KR" altLang="ko-KR" dirty="0" err="1"/>
              <a:t>evaluated</a:t>
            </a:r>
            <a:r>
              <a:rPr lang="ko-KR" altLang="ko-KR" dirty="0"/>
              <a:t> </a:t>
            </a:r>
            <a:r>
              <a:rPr lang="ko-KR" altLang="ko-KR" dirty="0" err="1"/>
              <a:t>empirically</a:t>
            </a:r>
            <a:r>
              <a:rPr lang="en-US" altLang="ko-KR" dirty="0"/>
              <a:t>: </a:t>
            </a:r>
          </a:p>
          <a:p>
            <a:r>
              <a:rPr lang="en-US" altLang="ko-KR" dirty="0"/>
              <a:t>quality has to be measured rather than guaranteed.</a:t>
            </a:r>
          </a:p>
        </p:txBody>
      </p:sp>
    </p:spTree>
    <p:extLst>
      <p:ext uri="{BB962C8B-B14F-4D97-AF65-F5344CB8AC3E}">
        <p14:creationId xmlns:p14="http://schemas.microsoft.com/office/powerpoint/2010/main" val="1568560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08DCB-185F-1330-44C1-003DA532E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E2B336-1CAE-DA1B-9487-7428B87DCD80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2D54"/>
          </a:solidFill>
          <a:ln>
            <a:solidFill>
              <a:srgbClr val="162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8326A3-868B-440C-3E34-CA63E45E3737}"/>
              </a:ext>
            </a:extLst>
          </p:cNvPr>
          <p:cNvSpPr txBox="1"/>
          <p:nvPr/>
        </p:nvSpPr>
        <p:spPr>
          <a:xfrm>
            <a:off x="502920" y="210312"/>
            <a:ext cx="99418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100" b="1" dirty="0">
                <a:solidFill>
                  <a:srgbClr val="2C78BF"/>
                </a:solidFill>
                <a:latin typeface="Aptos"/>
              </a:rPr>
              <a:t>Experiments</a:t>
            </a:r>
            <a:endParaRPr sz="1100" b="1" dirty="0">
              <a:solidFill>
                <a:srgbClr val="2C78BF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E51F1A-252A-C9D5-61D4-69612AD89DBA}"/>
              </a:ext>
            </a:extLst>
          </p:cNvPr>
          <p:cNvSpPr txBox="1"/>
          <p:nvPr/>
        </p:nvSpPr>
        <p:spPr>
          <a:xfrm>
            <a:off x="502920" y="484632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solidFill>
                  <a:srgbClr val="162D54"/>
                </a:solidFill>
                <a:latin typeface="+mj-lt"/>
              </a:rPr>
              <a:t>The selected layer is different</a:t>
            </a:r>
            <a:endParaRPr sz="2500" b="1" dirty="0">
              <a:solidFill>
                <a:srgbClr val="162D54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051405-3CD4-D984-5ECB-4A4C8209549D}"/>
              </a:ext>
            </a:extLst>
          </p:cNvPr>
          <p:cNvSpPr txBox="1"/>
          <p:nvPr/>
        </p:nvSpPr>
        <p:spPr>
          <a:xfrm>
            <a:off x="411480" y="6455664"/>
            <a:ext cx="16594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Source: </a:t>
            </a:r>
            <a:r>
              <a:rPr lang="en-US" altLang="ko-KR" sz="900" dirty="0">
                <a:solidFill>
                  <a:srgbClr val="7B8593"/>
                </a:solidFill>
                <a:latin typeface="Aptos"/>
              </a:rPr>
              <a:t>Block</a:t>
            </a:r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 et al., ICML 2025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8502CE0-C342-AD42-1FAB-587F880DD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1540312"/>
            <a:ext cx="12191695" cy="19234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FF669D-CF40-FEBF-259A-03871399271B}"/>
              </a:ext>
            </a:extLst>
          </p:cNvPr>
          <p:cNvSpPr txBox="1"/>
          <p:nvPr/>
        </p:nvSpPr>
        <p:spPr>
          <a:xfrm>
            <a:off x="609600" y="4074160"/>
            <a:ext cx="829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Balancing detectability-text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Different layers have different sensitivity to perturbations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6084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87D9E-EDF9-B7CC-CD22-C50D2C61F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5226D9-27B5-0E38-5582-4CF291CA930B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2D54"/>
          </a:solidFill>
          <a:ln>
            <a:solidFill>
              <a:srgbClr val="162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B88728-3417-4866-E8BA-A4202C9D345E}"/>
              </a:ext>
            </a:extLst>
          </p:cNvPr>
          <p:cNvSpPr txBox="1"/>
          <p:nvPr/>
        </p:nvSpPr>
        <p:spPr>
          <a:xfrm>
            <a:off x="502920" y="210312"/>
            <a:ext cx="99418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C78BF"/>
                </a:solidFill>
                <a:latin typeface="Aptos"/>
              </a:rPr>
              <a:t>Experiments</a:t>
            </a:r>
            <a:endParaRPr sz="1100" b="1" dirty="0">
              <a:solidFill>
                <a:srgbClr val="2C78BF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3DEB7B-6E3A-BBD8-DEB1-DC0AD46A36F2}"/>
              </a:ext>
            </a:extLst>
          </p:cNvPr>
          <p:cNvSpPr txBox="1"/>
          <p:nvPr/>
        </p:nvSpPr>
        <p:spPr>
          <a:xfrm>
            <a:off x="502920" y="484632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b="1" dirty="0">
                <a:solidFill>
                  <a:srgbClr val="162D54"/>
                </a:solidFill>
              </a:rPr>
              <a:t>Generation Adds No Watermarking Latency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D3AFB2-BD99-7F1B-57B3-BD82A92296EE}"/>
              </a:ext>
            </a:extLst>
          </p:cNvPr>
          <p:cNvSpPr txBox="1"/>
          <p:nvPr/>
        </p:nvSpPr>
        <p:spPr>
          <a:xfrm>
            <a:off x="411480" y="6455664"/>
            <a:ext cx="16594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Source: </a:t>
            </a:r>
            <a:r>
              <a:rPr lang="en-US" altLang="ko-KR" sz="900" dirty="0">
                <a:solidFill>
                  <a:srgbClr val="7B8593"/>
                </a:solidFill>
                <a:latin typeface="Aptos"/>
              </a:rPr>
              <a:t>Block</a:t>
            </a:r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 et al., ICML 2025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04F62F-699F-D1BC-3CEA-0F239C80D4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867"/>
          <a:stretch>
            <a:fillRect/>
          </a:stretch>
        </p:blipFill>
        <p:spPr>
          <a:xfrm>
            <a:off x="288108" y="1191191"/>
            <a:ext cx="4358393" cy="239232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1557174-7DD1-E78E-640A-E1541761A5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53" t="42540" b="13261"/>
          <a:stretch>
            <a:fillRect/>
          </a:stretch>
        </p:blipFill>
        <p:spPr>
          <a:xfrm>
            <a:off x="3702061" y="1118620"/>
            <a:ext cx="3507517" cy="239232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F19A649-0310-51D0-D7D1-16ABEF2DE2BF}"/>
              </a:ext>
            </a:extLst>
          </p:cNvPr>
          <p:cNvSpPr txBox="1"/>
          <p:nvPr/>
        </p:nvSpPr>
        <p:spPr>
          <a:xfrm>
            <a:off x="6686922" y="1589285"/>
            <a:ext cx="43091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Generation cost equals the base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1K tokens detected in under a second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Orders of magnitude faster than KGW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8714CD-B126-7835-78EE-1F502935AC07}"/>
              </a:ext>
            </a:extLst>
          </p:cNvPr>
          <p:cNvSpPr txBox="1"/>
          <p:nvPr/>
        </p:nvSpPr>
        <p:spPr>
          <a:xfrm>
            <a:off x="6686922" y="2738791"/>
            <a:ext cx="6143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Only the weights change -&gt; no latency degradation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9A59B87-76B1-24C3-8A92-4973FA4E6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377" y="3710592"/>
            <a:ext cx="5350991" cy="202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61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B3145-9C96-50BA-E67B-86EBBF7DC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BCFBD4-417E-E577-1AEB-6B920104C7E0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2D54"/>
          </a:solidFill>
          <a:ln>
            <a:solidFill>
              <a:srgbClr val="162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D56E0A-0CD2-5DB1-4EEC-CF5711ED7AD3}"/>
              </a:ext>
            </a:extLst>
          </p:cNvPr>
          <p:cNvSpPr txBox="1"/>
          <p:nvPr/>
        </p:nvSpPr>
        <p:spPr>
          <a:xfrm>
            <a:off x="502920" y="210312"/>
            <a:ext cx="91884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C78BF"/>
                </a:solidFill>
                <a:latin typeface="Aptos"/>
              </a:rPr>
              <a:t>Conclusion</a:t>
            </a:r>
            <a:endParaRPr sz="1100" b="1" dirty="0">
              <a:solidFill>
                <a:srgbClr val="2C78BF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60092-4EAB-3217-9AD2-A8194D54E92B}"/>
              </a:ext>
            </a:extLst>
          </p:cNvPr>
          <p:cNvSpPr txBox="1"/>
          <p:nvPr/>
        </p:nvSpPr>
        <p:spPr>
          <a:xfrm>
            <a:off x="502920" y="484632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b="1" dirty="0">
                <a:solidFill>
                  <a:srgbClr val="162D54"/>
                </a:solidFill>
              </a:rPr>
              <a:t>Limitation and Future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2C55AA-0B99-4927-9D94-5499F2DCBAA5}"/>
              </a:ext>
            </a:extLst>
          </p:cNvPr>
          <p:cNvSpPr txBox="1"/>
          <p:nvPr/>
        </p:nvSpPr>
        <p:spPr>
          <a:xfrm>
            <a:off x="685799" y="1114124"/>
            <a:ext cx="9459273" cy="426783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1E1E1E"/>
                </a:solidFill>
              </a:rPr>
              <a:t>Limitation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1E1E1E"/>
                </a:solidFill>
              </a:rPr>
              <a:t>Not multi-bit watermarking scheme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1E1E1E"/>
                </a:solidFill>
              </a:rPr>
              <a:t>Prompt is required when detection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1E1E1E"/>
                </a:solidFill>
              </a:rPr>
              <a:t>Base model is required 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1E1E1E"/>
                </a:solidFill>
              </a:rPr>
              <a:t>No distortion free guarantee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1E1E1E"/>
                </a:solidFill>
              </a:rPr>
              <a:t>White-box access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1E1E1E"/>
                </a:solidFill>
              </a:rPr>
              <a:t>Requires more tokens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650" dirty="0">
              <a:solidFill>
                <a:srgbClr val="1E1E1E"/>
              </a:solidFill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1E1E1E"/>
                </a:solidFill>
              </a:rPr>
              <a:t>Personal thoughts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1E1E1E"/>
                </a:solidFill>
              </a:rPr>
              <a:t>Not  token-level watermarking.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1E1E1E"/>
                </a:solidFill>
              </a:rPr>
              <a:t>Can this extend to multi-bit watermarking?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1E1E1E"/>
                </a:solidFill>
              </a:rPr>
              <a:t>The first try modifying weights to embed watermarking signals.</a:t>
            </a:r>
            <a:endParaRPr sz="1650" dirty="0">
              <a:solidFill>
                <a:srgbClr val="1E1E1E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2F5E84-3B3E-F689-E335-1A04A5CD3352}"/>
              </a:ext>
            </a:extLst>
          </p:cNvPr>
          <p:cNvSpPr txBox="1"/>
          <p:nvPr/>
        </p:nvSpPr>
        <p:spPr>
          <a:xfrm>
            <a:off x="411480" y="6455664"/>
            <a:ext cx="16594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Source: </a:t>
            </a:r>
            <a:r>
              <a:rPr lang="en-US" altLang="ko-KR" sz="900" dirty="0">
                <a:solidFill>
                  <a:srgbClr val="7B8593"/>
                </a:solidFill>
                <a:latin typeface="Aptos"/>
              </a:rPr>
              <a:t>Block</a:t>
            </a:r>
            <a:r>
              <a:rPr lang="en-US" altLang="ko-KR" sz="850" dirty="0">
                <a:solidFill>
                  <a:srgbClr val="5A6678"/>
                </a:solidFill>
                <a:latin typeface="Aptos"/>
              </a:rPr>
              <a:t> et al., ICML 2025</a:t>
            </a:r>
          </a:p>
        </p:txBody>
      </p:sp>
    </p:spTree>
    <p:extLst>
      <p:ext uri="{BB962C8B-B14F-4D97-AF65-F5344CB8AC3E}">
        <p14:creationId xmlns:p14="http://schemas.microsoft.com/office/powerpoint/2010/main" val="2467263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2D54"/>
          </a:solidFill>
          <a:ln>
            <a:solidFill>
              <a:srgbClr val="162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1143001"/>
            <a:ext cx="109728" cy="477500"/>
          </a:xfrm>
          <a:prstGeom prst="rect">
            <a:avLst/>
          </a:prstGeom>
          <a:solidFill>
            <a:srgbClr val="162D54"/>
          </a:solidFill>
          <a:ln>
            <a:solidFill>
              <a:srgbClr val="2C78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62D54"/>
                </a:solidFill>
                <a:latin typeface="Aptos Display"/>
              </a:rPr>
              <a:t>Thank you</a:t>
            </a:r>
            <a:endParaRPr sz="1150" dirty="0"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6594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dirty="0">
                <a:solidFill>
                  <a:srgbClr val="5A6678"/>
                </a:solidFill>
                <a:latin typeface="Aptos"/>
              </a:rPr>
              <a:t>Source: </a:t>
            </a:r>
            <a:r>
              <a:rPr lang="en-US" altLang="ko-KR" sz="900" dirty="0">
                <a:solidFill>
                  <a:srgbClr val="7B8593"/>
                </a:solidFill>
                <a:latin typeface="Aptos"/>
              </a:rPr>
              <a:t>Block</a:t>
            </a:r>
            <a:r>
              <a:rPr sz="850" dirty="0">
                <a:solidFill>
                  <a:srgbClr val="5A6678"/>
                </a:solidFill>
                <a:latin typeface="Aptos"/>
              </a:rPr>
              <a:t> et al., </a:t>
            </a:r>
            <a:r>
              <a:rPr lang="en-US" sz="850" dirty="0">
                <a:solidFill>
                  <a:srgbClr val="5A6678"/>
                </a:solidFill>
                <a:latin typeface="Aptos"/>
              </a:rPr>
              <a:t>ICML</a:t>
            </a:r>
            <a:r>
              <a:rPr sz="850" dirty="0">
                <a:solidFill>
                  <a:srgbClr val="5A6678"/>
                </a:solidFill>
                <a:latin typeface="Aptos"/>
              </a:rPr>
              <a:t> 202</a:t>
            </a:r>
            <a:r>
              <a:rPr lang="en-US" sz="850" dirty="0">
                <a:solidFill>
                  <a:srgbClr val="5A6678"/>
                </a:solidFill>
                <a:latin typeface="Aptos"/>
              </a:rPr>
              <a:t>5</a:t>
            </a:r>
            <a:endParaRPr sz="850" dirty="0">
              <a:solidFill>
                <a:srgbClr val="5A6678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6184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18607</TotalTime>
  <Words>1046</Words>
  <Application>Microsoft Office PowerPoint</Application>
  <PresentationFormat>와이드스크린</PresentationFormat>
  <Paragraphs>187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4" baseType="lpstr">
      <vt:lpstr>맑은 고딕</vt:lpstr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백가현</dc:creator>
  <cp:keywords/>
  <dc:description>generated using python-pptx</dc:description>
  <cp:lastModifiedBy>백가현</cp:lastModifiedBy>
  <cp:revision>885</cp:revision>
  <dcterms:created xsi:type="dcterms:W3CDTF">2013-01-27T09:14:16Z</dcterms:created>
  <dcterms:modified xsi:type="dcterms:W3CDTF">2026-09-14T00:25:06Z</dcterms:modified>
  <cp:category/>
</cp:coreProperties>
</file>