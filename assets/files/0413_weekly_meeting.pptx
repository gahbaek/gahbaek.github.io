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8" r:id="rId2"/>
    <p:sldId id="259" r:id="rId3"/>
    <p:sldId id="275" r:id="rId4"/>
    <p:sldId id="263" r:id="rId5"/>
    <p:sldId id="280" r:id="rId6"/>
    <p:sldId id="277" r:id="rId7"/>
    <p:sldId id="257" r:id="rId8"/>
    <p:sldId id="281" r:id="rId9"/>
    <p:sldId id="264" r:id="rId10"/>
    <p:sldId id="272" r:id="rId11"/>
    <p:sldId id="266" r:id="rId12"/>
    <p:sldId id="260" r:id="rId13"/>
    <p:sldId id="265" r:id="rId14"/>
    <p:sldId id="268" r:id="rId15"/>
    <p:sldId id="276" r:id="rId16"/>
    <p:sldId id="269" r:id="rId17"/>
    <p:sldId id="271" r:id="rId18"/>
    <p:sldId id="267" r:id="rId19"/>
    <p:sldId id="273" r:id="rId20"/>
    <p:sldId id="279" r:id="rId21"/>
    <p:sldId id="282" r:id="rId2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72" autoAdjust="0"/>
    <p:restoredTop sz="83645"/>
  </p:normalViewPr>
  <p:slideViewPr>
    <p:cSldViewPr snapToGrid="0">
      <p:cViewPr varScale="1">
        <p:scale>
          <a:sx n="116" d="100"/>
          <a:sy n="116" d="100"/>
        </p:scale>
        <p:origin x="156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02B869-BFEB-400F-BFA9-C3D6220FB4B9}" type="doc">
      <dgm:prSet loTypeId="urn:microsoft.com/office/officeart/2005/8/layout/process1" loCatId="process" qsTypeId="urn:microsoft.com/office/officeart/2005/8/quickstyle/simple1" qsCatId="simple" csTypeId="urn:microsoft.com/office/officeart/2005/8/colors/accent0_3" csCatId="mainScheme" phldr="1"/>
      <dgm:spPr/>
      <dgm:t>
        <a:bodyPr/>
        <a:lstStyle/>
        <a:p>
          <a:pPr latinLnBrk="1"/>
          <a:endParaRPr lang="ko-KR" altLang="en-US"/>
        </a:p>
      </dgm:t>
    </dgm:pt>
    <dgm:pt modelId="{F3D7F7C9-E53B-4245-95F2-955090212B7F}">
      <dgm:prSet phldrT="[텍스트]" phldr="0" custT="1"/>
      <dgm:spPr/>
      <dgm:t>
        <a:bodyPr/>
        <a:lstStyle/>
        <a:p>
          <a:pPr latinLnBrk="1"/>
          <a:r>
            <a:rPr lang="en-US" sz="2000" b="1" dirty="0"/>
            <a:t>Show the existence of safety layers</a:t>
          </a:r>
          <a:endParaRPr lang="ko-KR" altLang="en-US" sz="2000" b="1" dirty="0"/>
        </a:p>
      </dgm:t>
    </dgm:pt>
    <dgm:pt modelId="{C0FC20DD-8FE3-47F7-8E0F-971D3267E52B}" type="parTrans" cxnId="{F8C9ECE8-4183-4197-BE0E-82FD76DC31F3}">
      <dgm:prSet/>
      <dgm:spPr/>
      <dgm:t>
        <a:bodyPr/>
        <a:lstStyle/>
        <a:p>
          <a:pPr latinLnBrk="1"/>
          <a:endParaRPr lang="ko-KR" altLang="en-US" b="1"/>
        </a:p>
      </dgm:t>
    </dgm:pt>
    <dgm:pt modelId="{DE9C5861-7D52-4D84-9422-D4C8157B7B39}" type="sibTrans" cxnId="{F8C9ECE8-4183-4197-BE0E-82FD76DC31F3}">
      <dgm:prSet custT="1"/>
      <dgm:spPr/>
      <dgm:t>
        <a:bodyPr/>
        <a:lstStyle/>
        <a:p>
          <a:pPr latinLnBrk="1"/>
          <a:endParaRPr lang="ko-KR" altLang="en-US" sz="1800" b="1"/>
        </a:p>
      </dgm:t>
    </dgm:pt>
    <dgm:pt modelId="{55D7DB70-8AE8-410C-A749-CEE8B85B8ABA}">
      <dgm:prSet phldrT="[텍스트]" phldr="0" custT="1"/>
      <dgm:spPr/>
      <dgm:t>
        <a:bodyPr/>
        <a:lstStyle/>
        <a:p>
          <a:pPr latinLnBrk="1"/>
          <a:r>
            <a:rPr lang="en-US" altLang="ko-KR" sz="2000" b="1" dirty="0"/>
            <a:t>Localization of safety layers</a:t>
          </a:r>
          <a:endParaRPr lang="ko-KR" altLang="en-US" sz="2000" b="1" dirty="0"/>
        </a:p>
      </dgm:t>
    </dgm:pt>
    <dgm:pt modelId="{499CD5C2-9452-4339-AE55-AADD5A8EB109}" type="parTrans" cxnId="{4F6887A2-A2CA-4383-93D3-0168A967C81F}">
      <dgm:prSet/>
      <dgm:spPr/>
      <dgm:t>
        <a:bodyPr/>
        <a:lstStyle/>
        <a:p>
          <a:pPr latinLnBrk="1"/>
          <a:endParaRPr lang="ko-KR" altLang="en-US" b="1"/>
        </a:p>
      </dgm:t>
    </dgm:pt>
    <dgm:pt modelId="{CC2CCBA9-4DDA-409B-9211-2E5968C00662}" type="sibTrans" cxnId="{4F6887A2-A2CA-4383-93D3-0168A967C81F}">
      <dgm:prSet custT="1"/>
      <dgm:spPr/>
      <dgm:t>
        <a:bodyPr/>
        <a:lstStyle/>
        <a:p>
          <a:pPr latinLnBrk="1"/>
          <a:endParaRPr lang="ko-KR" altLang="en-US" sz="1800" b="1"/>
        </a:p>
      </dgm:t>
    </dgm:pt>
    <dgm:pt modelId="{1EA29829-45BF-4BB9-8D24-8A0D0A5F0C61}">
      <dgm:prSet phldrT="[텍스트]" phldr="0" custT="1"/>
      <dgm:spPr/>
      <dgm:t>
        <a:bodyPr/>
        <a:lstStyle/>
        <a:p>
          <a:pPr latinLnBrk="1"/>
          <a:r>
            <a:rPr lang="en-US" sz="2000" b="1" dirty="0"/>
            <a:t>Propose a new fine-tuning paradigm</a:t>
          </a:r>
          <a:endParaRPr lang="ko-KR" altLang="en-US" sz="2000" b="1" dirty="0"/>
        </a:p>
      </dgm:t>
    </dgm:pt>
    <dgm:pt modelId="{B9FA1CAF-3352-4A89-94D2-01D26DFE4FEC}" type="parTrans" cxnId="{11D1C0DA-013B-4E69-A501-866F1F0B80AC}">
      <dgm:prSet/>
      <dgm:spPr/>
      <dgm:t>
        <a:bodyPr/>
        <a:lstStyle/>
        <a:p>
          <a:pPr latinLnBrk="1"/>
          <a:endParaRPr lang="ko-KR" altLang="en-US" b="1"/>
        </a:p>
      </dgm:t>
    </dgm:pt>
    <dgm:pt modelId="{7FEB892F-C00A-462D-9A3A-B4EBFD481C9D}" type="sibTrans" cxnId="{11D1C0DA-013B-4E69-A501-866F1F0B80AC}">
      <dgm:prSet/>
      <dgm:spPr/>
      <dgm:t>
        <a:bodyPr/>
        <a:lstStyle/>
        <a:p>
          <a:pPr latinLnBrk="1"/>
          <a:endParaRPr lang="ko-KR" altLang="en-US" b="1"/>
        </a:p>
      </dgm:t>
    </dgm:pt>
    <dgm:pt modelId="{7ED24534-8C85-4668-8338-30590CCD812E}" type="pres">
      <dgm:prSet presAssocID="{0202B869-BFEB-400F-BFA9-C3D6220FB4B9}" presName="Name0" presStyleCnt="0">
        <dgm:presLayoutVars>
          <dgm:dir/>
          <dgm:resizeHandles val="exact"/>
        </dgm:presLayoutVars>
      </dgm:prSet>
      <dgm:spPr/>
    </dgm:pt>
    <dgm:pt modelId="{27EADF88-6441-4E09-8428-CC9EC7A16B26}" type="pres">
      <dgm:prSet presAssocID="{F3D7F7C9-E53B-4245-95F2-955090212B7F}" presName="node" presStyleLbl="node1" presStyleIdx="0" presStyleCnt="3">
        <dgm:presLayoutVars>
          <dgm:bulletEnabled val="1"/>
        </dgm:presLayoutVars>
      </dgm:prSet>
      <dgm:spPr/>
    </dgm:pt>
    <dgm:pt modelId="{32E6F850-3B12-4D0F-8D41-7280CBC3E92B}" type="pres">
      <dgm:prSet presAssocID="{DE9C5861-7D52-4D84-9422-D4C8157B7B39}" presName="sibTrans" presStyleLbl="sibTrans2D1" presStyleIdx="0" presStyleCnt="2"/>
      <dgm:spPr/>
    </dgm:pt>
    <dgm:pt modelId="{B4ECA427-8A3C-44DB-AEC4-E853ECD69D2D}" type="pres">
      <dgm:prSet presAssocID="{DE9C5861-7D52-4D84-9422-D4C8157B7B39}" presName="connectorText" presStyleLbl="sibTrans2D1" presStyleIdx="0" presStyleCnt="2"/>
      <dgm:spPr/>
    </dgm:pt>
    <dgm:pt modelId="{3C0485AD-C924-4B4C-8598-0AB0EB9F6F2C}" type="pres">
      <dgm:prSet presAssocID="{55D7DB70-8AE8-410C-A749-CEE8B85B8ABA}" presName="node" presStyleLbl="node1" presStyleIdx="1" presStyleCnt="3">
        <dgm:presLayoutVars>
          <dgm:bulletEnabled val="1"/>
        </dgm:presLayoutVars>
      </dgm:prSet>
      <dgm:spPr/>
    </dgm:pt>
    <dgm:pt modelId="{DB93F086-1DAC-4A25-B5BC-579E15ECB998}" type="pres">
      <dgm:prSet presAssocID="{CC2CCBA9-4DDA-409B-9211-2E5968C00662}" presName="sibTrans" presStyleLbl="sibTrans2D1" presStyleIdx="1" presStyleCnt="2"/>
      <dgm:spPr/>
    </dgm:pt>
    <dgm:pt modelId="{E0962274-4DAC-445C-8508-C6BB7FBC2A40}" type="pres">
      <dgm:prSet presAssocID="{CC2CCBA9-4DDA-409B-9211-2E5968C00662}" presName="connectorText" presStyleLbl="sibTrans2D1" presStyleIdx="1" presStyleCnt="2"/>
      <dgm:spPr/>
    </dgm:pt>
    <dgm:pt modelId="{B9949FEE-E88F-4732-8545-A791F2BC9C40}" type="pres">
      <dgm:prSet presAssocID="{1EA29829-45BF-4BB9-8D24-8A0D0A5F0C61}" presName="node" presStyleLbl="node1" presStyleIdx="2" presStyleCnt="3">
        <dgm:presLayoutVars>
          <dgm:bulletEnabled val="1"/>
        </dgm:presLayoutVars>
      </dgm:prSet>
      <dgm:spPr/>
    </dgm:pt>
  </dgm:ptLst>
  <dgm:cxnLst>
    <dgm:cxn modelId="{8E8D4A1A-20A7-4130-91AB-3C71FAFDF630}" type="presOf" srcId="{55D7DB70-8AE8-410C-A749-CEE8B85B8ABA}" destId="{3C0485AD-C924-4B4C-8598-0AB0EB9F6F2C}" srcOrd="0" destOrd="0" presId="urn:microsoft.com/office/officeart/2005/8/layout/process1"/>
    <dgm:cxn modelId="{42E1FB1C-228C-4417-905D-60B43856F288}" type="presOf" srcId="{CC2CCBA9-4DDA-409B-9211-2E5968C00662}" destId="{DB93F086-1DAC-4A25-B5BC-579E15ECB998}" srcOrd="0" destOrd="0" presId="urn:microsoft.com/office/officeart/2005/8/layout/process1"/>
    <dgm:cxn modelId="{A67D8B2B-1189-4E57-804C-A6B8EEE0065C}" type="presOf" srcId="{1EA29829-45BF-4BB9-8D24-8A0D0A5F0C61}" destId="{B9949FEE-E88F-4732-8545-A791F2BC9C40}" srcOrd="0" destOrd="0" presId="urn:microsoft.com/office/officeart/2005/8/layout/process1"/>
    <dgm:cxn modelId="{36AE4A35-B12F-40F8-B0FD-119AFB7E7ECA}" type="presOf" srcId="{F3D7F7C9-E53B-4245-95F2-955090212B7F}" destId="{27EADF88-6441-4E09-8428-CC9EC7A16B26}" srcOrd="0" destOrd="0" presId="urn:microsoft.com/office/officeart/2005/8/layout/process1"/>
    <dgm:cxn modelId="{B5B26F97-E4FA-4D92-8E79-051E06C44A0A}" type="presOf" srcId="{0202B869-BFEB-400F-BFA9-C3D6220FB4B9}" destId="{7ED24534-8C85-4668-8338-30590CCD812E}" srcOrd="0" destOrd="0" presId="urn:microsoft.com/office/officeart/2005/8/layout/process1"/>
    <dgm:cxn modelId="{4F6887A2-A2CA-4383-93D3-0168A967C81F}" srcId="{0202B869-BFEB-400F-BFA9-C3D6220FB4B9}" destId="{55D7DB70-8AE8-410C-A749-CEE8B85B8ABA}" srcOrd="1" destOrd="0" parTransId="{499CD5C2-9452-4339-AE55-AADD5A8EB109}" sibTransId="{CC2CCBA9-4DDA-409B-9211-2E5968C00662}"/>
    <dgm:cxn modelId="{54E539B8-D2DC-4F05-8FBF-4B5E47A263D2}" type="presOf" srcId="{DE9C5861-7D52-4D84-9422-D4C8157B7B39}" destId="{B4ECA427-8A3C-44DB-AEC4-E853ECD69D2D}" srcOrd="1" destOrd="0" presId="urn:microsoft.com/office/officeart/2005/8/layout/process1"/>
    <dgm:cxn modelId="{EC8AAFBD-29C5-4296-B54C-6694DCF86D42}" type="presOf" srcId="{CC2CCBA9-4DDA-409B-9211-2E5968C00662}" destId="{E0962274-4DAC-445C-8508-C6BB7FBC2A40}" srcOrd="1" destOrd="0" presId="urn:microsoft.com/office/officeart/2005/8/layout/process1"/>
    <dgm:cxn modelId="{11D1C0DA-013B-4E69-A501-866F1F0B80AC}" srcId="{0202B869-BFEB-400F-BFA9-C3D6220FB4B9}" destId="{1EA29829-45BF-4BB9-8D24-8A0D0A5F0C61}" srcOrd="2" destOrd="0" parTransId="{B9FA1CAF-3352-4A89-94D2-01D26DFE4FEC}" sibTransId="{7FEB892F-C00A-462D-9A3A-B4EBFD481C9D}"/>
    <dgm:cxn modelId="{F8C9ECE8-4183-4197-BE0E-82FD76DC31F3}" srcId="{0202B869-BFEB-400F-BFA9-C3D6220FB4B9}" destId="{F3D7F7C9-E53B-4245-95F2-955090212B7F}" srcOrd="0" destOrd="0" parTransId="{C0FC20DD-8FE3-47F7-8E0F-971D3267E52B}" sibTransId="{DE9C5861-7D52-4D84-9422-D4C8157B7B39}"/>
    <dgm:cxn modelId="{F95836F1-0179-4EED-9CF2-EAB0F618535F}" type="presOf" srcId="{DE9C5861-7D52-4D84-9422-D4C8157B7B39}" destId="{32E6F850-3B12-4D0F-8D41-7280CBC3E92B}" srcOrd="0" destOrd="0" presId="urn:microsoft.com/office/officeart/2005/8/layout/process1"/>
    <dgm:cxn modelId="{1038597E-EED7-44B5-9429-E2AFF9EA85F9}" type="presParOf" srcId="{7ED24534-8C85-4668-8338-30590CCD812E}" destId="{27EADF88-6441-4E09-8428-CC9EC7A16B26}" srcOrd="0" destOrd="0" presId="urn:microsoft.com/office/officeart/2005/8/layout/process1"/>
    <dgm:cxn modelId="{68F9274E-6DDB-4E84-BEAA-9FEF0869071A}" type="presParOf" srcId="{7ED24534-8C85-4668-8338-30590CCD812E}" destId="{32E6F850-3B12-4D0F-8D41-7280CBC3E92B}" srcOrd="1" destOrd="0" presId="urn:microsoft.com/office/officeart/2005/8/layout/process1"/>
    <dgm:cxn modelId="{2121CDD4-38D8-46F5-A911-FD8191C0F2CE}" type="presParOf" srcId="{32E6F850-3B12-4D0F-8D41-7280CBC3E92B}" destId="{B4ECA427-8A3C-44DB-AEC4-E853ECD69D2D}" srcOrd="0" destOrd="0" presId="urn:microsoft.com/office/officeart/2005/8/layout/process1"/>
    <dgm:cxn modelId="{6A688B3E-3742-43A2-9175-4F3656C906DA}" type="presParOf" srcId="{7ED24534-8C85-4668-8338-30590CCD812E}" destId="{3C0485AD-C924-4B4C-8598-0AB0EB9F6F2C}" srcOrd="2" destOrd="0" presId="urn:microsoft.com/office/officeart/2005/8/layout/process1"/>
    <dgm:cxn modelId="{936ECF6B-A009-420A-8BC5-C9B1C75F77DE}" type="presParOf" srcId="{7ED24534-8C85-4668-8338-30590CCD812E}" destId="{DB93F086-1DAC-4A25-B5BC-579E15ECB998}" srcOrd="3" destOrd="0" presId="urn:microsoft.com/office/officeart/2005/8/layout/process1"/>
    <dgm:cxn modelId="{ACE812ED-8620-4D28-B819-9D4375D8F7AB}" type="presParOf" srcId="{DB93F086-1DAC-4A25-B5BC-579E15ECB998}" destId="{E0962274-4DAC-445C-8508-C6BB7FBC2A40}" srcOrd="0" destOrd="0" presId="urn:microsoft.com/office/officeart/2005/8/layout/process1"/>
    <dgm:cxn modelId="{96F66178-6FCE-4CE3-B5B1-03EA7D044BA8}" type="presParOf" srcId="{7ED24534-8C85-4668-8338-30590CCD812E}" destId="{B9949FEE-E88F-4732-8545-A791F2BC9C40}"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EADF88-6441-4E09-8428-CC9EC7A16B26}">
      <dsp:nvSpPr>
        <dsp:cNvPr id="0" name=""/>
        <dsp:cNvSpPr/>
      </dsp:nvSpPr>
      <dsp:spPr>
        <a:xfrm>
          <a:off x="9242" y="1194042"/>
          <a:ext cx="2762398" cy="1657439"/>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latinLnBrk="1">
            <a:lnSpc>
              <a:spcPct val="90000"/>
            </a:lnSpc>
            <a:spcBef>
              <a:spcPct val="0"/>
            </a:spcBef>
            <a:spcAft>
              <a:spcPct val="35000"/>
            </a:spcAft>
            <a:buNone/>
          </a:pPr>
          <a:r>
            <a:rPr lang="en-US" sz="2000" b="1" kern="1200" dirty="0"/>
            <a:t>Show the existence of safety layers</a:t>
          </a:r>
          <a:endParaRPr lang="ko-KR" altLang="en-US" sz="2000" b="1" kern="1200" dirty="0"/>
        </a:p>
      </dsp:txBody>
      <dsp:txXfrm>
        <a:off x="57787" y="1242587"/>
        <a:ext cx="2665308" cy="1560349"/>
      </dsp:txXfrm>
    </dsp:sp>
    <dsp:sp modelId="{32E6F850-3B12-4D0F-8D41-7280CBC3E92B}">
      <dsp:nvSpPr>
        <dsp:cNvPr id="0" name=""/>
        <dsp:cNvSpPr/>
      </dsp:nvSpPr>
      <dsp:spPr>
        <a:xfrm>
          <a:off x="3047880" y="1680225"/>
          <a:ext cx="585628" cy="685074"/>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latinLnBrk="1">
            <a:lnSpc>
              <a:spcPct val="90000"/>
            </a:lnSpc>
            <a:spcBef>
              <a:spcPct val="0"/>
            </a:spcBef>
            <a:spcAft>
              <a:spcPct val="35000"/>
            </a:spcAft>
            <a:buNone/>
          </a:pPr>
          <a:endParaRPr lang="ko-KR" altLang="en-US" sz="1800" b="1" kern="1200"/>
        </a:p>
      </dsp:txBody>
      <dsp:txXfrm>
        <a:off x="3047880" y="1817240"/>
        <a:ext cx="409940" cy="411044"/>
      </dsp:txXfrm>
    </dsp:sp>
    <dsp:sp modelId="{3C0485AD-C924-4B4C-8598-0AB0EB9F6F2C}">
      <dsp:nvSpPr>
        <dsp:cNvPr id="0" name=""/>
        <dsp:cNvSpPr/>
      </dsp:nvSpPr>
      <dsp:spPr>
        <a:xfrm>
          <a:off x="3876600" y="1194042"/>
          <a:ext cx="2762398" cy="1657439"/>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latinLnBrk="1">
            <a:lnSpc>
              <a:spcPct val="90000"/>
            </a:lnSpc>
            <a:spcBef>
              <a:spcPct val="0"/>
            </a:spcBef>
            <a:spcAft>
              <a:spcPct val="35000"/>
            </a:spcAft>
            <a:buNone/>
          </a:pPr>
          <a:r>
            <a:rPr lang="en-US" altLang="ko-KR" sz="2000" b="1" kern="1200" dirty="0"/>
            <a:t>Localization of safety layers</a:t>
          </a:r>
          <a:endParaRPr lang="ko-KR" altLang="en-US" sz="2000" b="1" kern="1200" dirty="0"/>
        </a:p>
      </dsp:txBody>
      <dsp:txXfrm>
        <a:off x="3925145" y="1242587"/>
        <a:ext cx="2665308" cy="1560349"/>
      </dsp:txXfrm>
    </dsp:sp>
    <dsp:sp modelId="{DB93F086-1DAC-4A25-B5BC-579E15ECB998}">
      <dsp:nvSpPr>
        <dsp:cNvPr id="0" name=""/>
        <dsp:cNvSpPr/>
      </dsp:nvSpPr>
      <dsp:spPr>
        <a:xfrm>
          <a:off x="6915239" y="1680225"/>
          <a:ext cx="585628" cy="685074"/>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latinLnBrk="1">
            <a:lnSpc>
              <a:spcPct val="90000"/>
            </a:lnSpc>
            <a:spcBef>
              <a:spcPct val="0"/>
            </a:spcBef>
            <a:spcAft>
              <a:spcPct val="35000"/>
            </a:spcAft>
            <a:buNone/>
          </a:pPr>
          <a:endParaRPr lang="ko-KR" altLang="en-US" sz="1800" b="1" kern="1200"/>
        </a:p>
      </dsp:txBody>
      <dsp:txXfrm>
        <a:off x="6915239" y="1817240"/>
        <a:ext cx="409940" cy="411044"/>
      </dsp:txXfrm>
    </dsp:sp>
    <dsp:sp modelId="{B9949FEE-E88F-4732-8545-A791F2BC9C40}">
      <dsp:nvSpPr>
        <dsp:cNvPr id="0" name=""/>
        <dsp:cNvSpPr/>
      </dsp:nvSpPr>
      <dsp:spPr>
        <a:xfrm>
          <a:off x="7743958" y="1194042"/>
          <a:ext cx="2762398" cy="1657439"/>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latinLnBrk="1">
            <a:lnSpc>
              <a:spcPct val="90000"/>
            </a:lnSpc>
            <a:spcBef>
              <a:spcPct val="0"/>
            </a:spcBef>
            <a:spcAft>
              <a:spcPct val="35000"/>
            </a:spcAft>
            <a:buNone/>
          </a:pPr>
          <a:r>
            <a:rPr lang="en-US" sz="2000" b="1" kern="1200" dirty="0"/>
            <a:t>Propose a new fine-tuning paradigm</a:t>
          </a:r>
          <a:endParaRPr lang="ko-KR" altLang="en-US" sz="2000" b="1" kern="1200" dirty="0"/>
        </a:p>
      </dsp:txBody>
      <dsp:txXfrm>
        <a:off x="7792503" y="1242587"/>
        <a:ext cx="2665308" cy="156034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2AFC18-5914-424D-B752-8242B7B05A79}" type="datetimeFigureOut">
              <a:rPr kumimoji="1" lang="ko-KR" altLang="en-US" smtClean="0"/>
              <a:t>2026. 4. 13.</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4F7613-023F-D848-ADA5-4BBD721DE652}" type="slidenum">
              <a:rPr kumimoji="1" lang="ko-KR" altLang="en-US" smtClean="0"/>
              <a:t>‹#›</a:t>
            </a:fld>
            <a:endParaRPr kumimoji="1" lang="ko-KR" altLang="en-US"/>
          </a:p>
        </p:txBody>
      </p:sp>
    </p:spTree>
    <p:extLst>
      <p:ext uri="{BB962C8B-B14F-4D97-AF65-F5344CB8AC3E}">
        <p14:creationId xmlns:p14="http://schemas.microsoft.com/office/powerpoint/2010/main" val="379356467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t>Fine-tuning can break safety.</a:t>
            </a:r>
            <a:endParaRPr lang="ko-KR" altLang="en-US" sz="1200" dirty="0"/>
          </a:p>
          <a:p>
            <a:endParaRPr lang="ko-KR" altLang="en-US" dirty="0"/>
          </a:p>
        </p:txBody>
      </p:sp>
      <p:sp>
        <p:nvSpPr>
          <p:cNvPr id="4" name="슬라이드 번호 개체 틀 3"/>
          <p:cNvSpPr>
            <a:spLocks noGrp="1"/>
          </p:cNvSpPr>
          <p:nvPr>
            <p:ph type="sldNum" sz="quarter" idx="5"/>
          </p:nvPr>
        </p:nvSpPr>
        <p:spPr/>
        <p:txBody>
          <a:bodyPr/>
          <a:lstStyle/>
          <a:p>
            <a:fld id="{1A4F7613-023F-D848-ADA5-4BBD721DE652}" type="slidenum">
              <a:rPr kumimoji="1" lang="ko-KR" altLang="en-US" smtClean="0"/>
              <a:t>2</a:t>
            </a:fld>
            <a:endParaRPr kumimoji="1" lang="ko-KR" altLang="en-US"/>
          </a:p>
        </p:txBody>
      </p:sp>
    </p:spTree>
    <p:extLst>
      <p:ext uri="{BB962C8B-B14F-4D97-AF65-F5344CB8AC3E}">
        <p14:creationId xmlns:p14="http://schemas.microsoft.com/office/powerpoint/2010/main" val="1364122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kern="1200" dirty="0">
                <a:solidFill>
                  <a:schemeClr val="tx1"/>
                </a:solidFill>
                <a:effectLst/>
                <a:latin typeface="+mn-lt"/>
                <a:ea typeface="+mn-ea"/>
                <a:cs typeface="+mn-cs"/>
              </a:rPr>
              <a:t>“So what are safety layers?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kern="1200" dirty="0">
                <a:solidFill>
                  <a:schemeClr val="tx1"/>
                </a:solidFill>
                <a:effectLst/>
                <a:latin typeface="+mn-lt"/>
                <a:ea typeface="+mn-ea"/>
                <a:cs typeface="+mn-cs"/>
              </a:rPr>
              <a:t>The paper defines them as a specific block of middle layers that are most important for identifying malicious intent.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kern="1200" dirty="0">
                <a:solidFill>
                  <a:schemeClr val="tx1"/>
                </a:solidFill>
                <a:effectLst/>
                <a:latin typeface="+mn-lt"/>
                <a:ea typeface="+mn-ea"/>
                <a:cs typeface="+mn-cs"/>
              </a:rPr>
              <a:t>The authors try to explain why this could happen. In a transformer, each layer builds on the earlier layers while also combining semantic information from the input.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kern="1200" dirty="0">
                <a:solidFill>
                  <a:schemeClr val="tx1"/>
                </a:solidFill>
                <a:effectLst/>
                <a:latin typeface="+mn-lt"/>
                <a:ea typeface="+mn-ea"/>
                <a:cs typeface="+mn-cs"/>
              </a:rPr>
              <a:t>So the question is: how does the model end up giving different responses to similar wording in different contexts?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kern="1200" dirty="0">
                <a:solidFill>
                  <a:schemeClr val="tx1"/>
                </a:solidFill>
                <a:effectLst/>
                <a:latin typeface="+mn-lt"/>
                <a:ea typeface="+mn-ea"/>
                <a:cs typeface="+mn-cs"/>
              </a:rPr>
              <a:t>heir answer is that the middle layers are where harmful intent is detected.”</a:t>
            </a:r>
            <a:endParaRPr lang="ko-KR" altLang="ko-KR" sz="1200" kern="1200" dirty="0">
              <a:solidFill>
                <a:schemeClr val="tx1"/>
              </a:solidFill>
              <a:effectLst/>
              <a:latin typeface="+mn-lt"/>
              <a:ea typeface="+mn-ea"/>
              <a:cs typeface="+mn-cs"/>
            </a:endParaRPr>
          </a:p>
          <a:p>
            <a:endParaRPr lang="ko-KR" altLang="en-US" dirty="0"/>
          </a:p>
        </p:txBody>
      </p:sp>
      <p:sp>
        <p:nvSpPr>
          <p:cNvPr id="4" name="슬라이드 번호 개체 틀 3"/>
          <p:cNvSpPr>
            <a:spLocks noGrp="1"/>
          </p:cNvSpPr>
          <p:nvPr>
            <p:ph type="sldNum" sz="quarter" idx="5"/>
          </p:nvPr>
        </p:nvSpPr>
        <p:spPr/>
        <p:txBody>
          <a:bodyPr/>
          <a:lstStyle/>
          <a:p>
            <a:fld id="{1A4F7613-023F-D848-ADA5-4BBD721DE652}" type="slidenum">
              <a:rPr kumimoji="1" lang="ko-KR" altLang="en-US" smtClean="0"/>
              <a:t>4</a:t>
            </a:fld>
            <a:endParaRPr kumimoji="1" lang="ko-KR" altLang="en-US"/>
          </a:p>
        </p:txBody>
      </p:sp>
    </p:spTree>
    <p:extLst>
      <p:ext uri="{BB962C8B-B14F-4D97-AF65-F5344CB8AC3E}">
        <p14:creationId xmlns:p14="http://schemas.microsoft.com/office/powerpoint/2010/main" val="1719381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E72D5-BA8D-A155-D6CF-292E709EFDF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05A237B-DD13-7835-D52C-3E16589D28F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E375290-C7D5-ECE7-350C-FB39E56DFA31}"/>
              </a:ext>
            </a:extLst>
          </p:cNvPr>
          <p:cNvSpPr>
            <a:spLocks noGrp="1"/>
          </p:cNvSpPr>
          <p:nvPr>
            <p:ph type="body" idx="1"/>
          </p:nvPr>
        </p:nvSpPr>
        <p:spPr/>
        <p:txBody>
          <a:bodyPr/>
          <a:lstStyle/>
          <a:p>
            <a:r>
              <a:rPr lang="en-US" altLang="ko-KR" dirty="0"/>
              <a:t>The contribution of this paper can be summarized in three steps</a:t>
            </a:r>
            <a:endParaRPr lang="ko-KR" altLang="en-US" dirty="0"/>
          </a:p>
        </p:txBody>
      </p:sp>
      <p:sp>
        <p:nvSpPr>
          <p:cNvPr id="4" name="슬라이드 번호 개체 틀 3">
            <a:extLst>
              <a:ext uri="{FF2B5EF4-FFF2-40B4-BE49-F238E27FC236}">
                <a16:creationId xmlns:a16="http://schemas.microsoft.com/office/drawing/2014/main" id="{F1A558CB-8E9E-8051-4CFA-12A70C1B8C11}"/>
              </a:ext>
            </a:extLst>
          </p:cNvPr>
          <p:cNvSpPr>
            <a:spLocks noGrp="1"/>
          </p:cNvSpPr>
          <p:nvPr>
            <p:ph type="sldNum" sz="quarter" idx="5"/>
          </p:nvPr>
        </p:nvSpPr>
        <p:spPr/>
        <p:txBody>
          <a:bodyPr/>
          <a:lstStyle/>
          <a:p>
            <a:fld id="{1A4F7613-023F-D848-ADA5-4BBD721DE652}" type="slidenum">
              <a:rPr kumimoji="1" lang="ko-KR" altLang="en-US" smtClean="0"/>
              <a:t>5</a:t>
            </a:fld>
            <a:endParaRPr kumimoji="1" lang="ko-KR" altLang="en-US"/>
          </a:p>
        </p:txBody>
      </p:sp>
    </p:spTree>
    <p:extLst>
      <p:ext uri="{BB962C8B-B14F-4D97-AF65-F5344CB8AC3E}">
        <p14:creationId xmlns:p14="http://schemas.microsoft.com/office/powerpoint/2010/main" val="1688618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I will explain how the authors show the existence of safety layers and how they localize them.”</a:t>
            </a:r>
          </a:p>
          <a:p>
            <a:endParaRPr kumimoji="1" lang="ko-KR" altLang="en-US" dirty="0"/>
          </a:p>
        </p:txBody>
      </p:sp>
      <p:sp>
        <p:nvSpPr>
          <p:cNvPr id="4" name="슬라이드 번호 개체 틀 3"/>
          <p:cNvSpPr>
            <a:spLocks noGrp="1"/>
          </p:cNvSpPr>
          <p:nvPr>
            <p:ph type="sldNum" sz="quarter" idx="5"/>
          </p:nvPr>
        </p:nvSpPr>
        <p:spPr/>
        <p:txBody>
          <a:bodyPr/>
          <a:lstStyle/>
          <a:p>
            <a:fld id="{1A4F7613-023F-D848-ADA5-4BBD721DE652}" type="slidenum">
              <a:rPr kumimoji="1" lang="ko-KR" altLang="en-US" smtClean="0"/>
              <a:t>6</a:t>
            </a:fld>
            <a:endParaRPr kumimoji="1" lang="ko-KR" altLang="en-US"/>
          </a:p>
        </p:txBody>
      </p:sp>
    </p:spTree>
    <p:extLst>
      <p:ext uri="{BB962C8B-B14F-4D97-AF65-F5344CB8AC3E}">
        <p14:creationId xmlns:p14="http://schemas.microsoft.com/office/powerpoint/2010/main" val="27206421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indent="0">
              <a:buSzPct val="100000"/>
              <a:buNone/>
            </a:pPr>
            <a:r>
              <a:rPr lang="en-US" altLang="ko-KR" dirty="0"/>
              <a:t>This slide introduces the setup for the existence analysis. </a:t>
            </a:r>
          </a:p>
          <a:p>
            <a:pPr marL="0" indent="0">
              <a:buSzPct val="100000"/>
              <a:buNone/>
            </a:pPr>
            <a:r>
              <a:rPr lang="en-US" altLang="ko-KR" dirty="0"/>
              <a:t>The goal is to understand how aligned LLMs identify malicious queries at the parameter level. </a:t>
            </a:r>
          </a:p>
          <a:p>
            <a:pPr marL="0" indent="0">
              <a:buSzPct val="100000"/>
              <a:buNone/>
            </a:pPr>
            <a:r>
              <a:rPr lang="en-US" altLang="ko-KR" dirty="0"/>
              <a:t>The authors test four aligned models and use the same prompt template for all of them, so the comparison is fair and consistent.”</a:t>
            </a:r>
            <a:endParaRPr lang="en-US" altLang="ko-KR" sz="120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1A4F7613-023F-D848-ADA5-4BBD721DE652}" type="slidenum">
              <a:rPr kumimoji="1" lang="ko-KR" altLang="en-US" smtClean="0"/>
              <a:t>7</a:t>
            </a:fld>
            <a:endParaRPr kumimoji="1" lang="ko-KR" altLang="en-US"/>
          </a:p>
        </p:txBody>
      </p:sp>
    </p:spTree>
    <p:extLst>
      <p:ext uri="{BB962C8B-B14F-4D97-AF65-F5344CB8AC3E}">
        <p14:creationId xmlns:p14="http://schemas.microsoft.com/office/powerpoint/2010/main" val="461293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D9964-D8BF-7622-308D-9EC6BB6C924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9E356F6-078B-B4B4-8D1A-16AC2D09CDA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8852B6A-D273-AA8E-3C1B-5BAB0E5C593F}"/>
              </a:ext>
            </a:extLst>
          </p:cNvPr>
          <p:cNvSpPr>
            <a:spLocks noGrp="1"/>
          </p:cNvSpPr>
          <p:nvPr>
            <p:ph type="body" idx="1"/>
          </p:nvPr>
        </p:nvSpPr>
        <p:spPr/>
        <p:txBody>
          <a:bodyPr/>
          <a:lstStyle/>
          <a:p>
            <a:pPr marL="0" indent="0">
              <a:buSzPct val="100000"/>
              <a:buNone/>
            </a:pPr>
            <a:r>
              <a:rPr lang="en-US" altLang="ko-KR" sz="1200" kern="1200" dirty="0">
                <a:solidFill>
                  <a:schemeClr val="tx1"/>
                </a:solidFill>
                <a:effectLst/>
                <a:latin typeface="+mn-lt"/>
                <a:ea typeface="+mn-ea"/>
                <a:cs typeface="+mn-cs"/>
              </a:rPr>
              <a:t>To test this idea, the authors compare hidden states across layers</a:t>
            </a:r>
          </a:p>
          <a:p>
            <a:pPr marL="0" indent="0">
              <a:buSzPct val="100000"/>
              <a:buNone/>
            </a:pPr>
            <a:r>
              <a:rPr lang="en-US" altLang="ko-KR" sz="1200" kern="1200" dirty="0">
                <a:solidFill>
                  <a:schemeClr val="tx1"/>
                </a:solidFill>
                <a:effectLst/>
                <a:latin typeface="+mn-lt"/>
                <a:ea typeface="+mn-ea"/>
                <a:cs typeface="+mn-cs"/>
              </a:rPr>
              <a:t>This suggests that those middle layers behave differently when the model processes harmful versus harmless inputs.</a:t>
            </a:r>
          </a:p>
          <a:p>
            <a:pPr marL="0" indent="0">
              <a:buSzPct val="100000"/>
              <a:buNone/>
            </a:pPr>
            <a:endParaRPr kumimoji="1" lang="en-US" altLang="ko-KR" sz="1200" kern="1200" dirty="0">
              <a:solidFill>
                <a:schemeClr val="tx1"/>
              </a:solidFill>
              <a:effectLst/>
              <a:latin typeface="+mn-lt"/>
              <a:ea typeface="+mn-ea"/>
              <a:cs typeface="+mn-cs"/>
            </a:endParaRPr>
          </a:p>
          <a:p>
            <a:pPr marL="0" indent="0">
              <a:buSzPct val="100000"/>
              <a:buNone/>
            </a:pPr>
            <a:r>
              <a:rPr lang="en-US" altLang="ko-KR" dirty="0"/>
              <a:t>because the model tends to give </a:t>
            </a:r>
            <a:r>
              <a:rPr lang="en-US" altLang="ko-KR" b="1" dirty="0"/>
              <a:t>similar refusal outputs</a:t>
            </a:r>
            <a:endParaRPr kumimoji="1" lang="ko-KR" altLang="en-US" dirty="0"/>
          </a:p>
        </p:txBody>
      </p:sp>
      <p:sp>
        <p:nvSpPr>
          <p:cNvPr id="4" name="슬라이드 번호 개체 틀 3">
            <a:extLst>
              <a:ext uri="{FF2B5EF4-FFF2-40B4-BE49-F238E27FC236}">
                <a16:creationId xmlns:a16="http://schemas.microsoft.com/office/drawing/2014/main" id="{E5C0BE56-1E3F-8BD3-85DC-09B58D17A180}"/>
              </a:ext>
            </a:extLst>
          </p:cNvPr>
          <p:cNvSpPr>
            <a:spLocks noGrp="1"/>
          </p:cNvSpPr>
          <p:nvPr>
            <p:ph type="sldNum" sz="quarter" idx="5"/>
          </p:nvPr>
        </p:nvSpPr>
        <p:spPr/>
        <p:txBody>
          <a:bodyPr/>
          <a:lstStyle/>
          <a:p>
            <a:fld id="{1A4F7613-023F-D848-ADA5-4BBD721DE652}" type="slidenum">
              <a:rPr kumimoji="1" lang="ko-KR" altLang="en-US" smtClean="0"/>
              <a:t>8</a:t>
            </a:fld>
            <a:endParaRPr kumimoji="1" lang="ko-KR" altLang="en-US"/>
          </a:p>
        </p:txBody>
      </p:sp>
    </p:spTree>
    <p:extLst>
      <p:ext uri="{BB962C8B-B14F-4D97-AF65-F5344CB8AC3E}">
        <p14:creationId xmlns:p14="http://schemas.microsoft.com/office/powerpoint/2010/main" val="2080845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kern="1200" dirty="0">
                <a:solidFill>
                  <a:schemeClr val="tx1"/>
                </a:solidFill>
                <a:effectLst/>
                <a:latin typeface="+mn-lt"/>
                <a:ea typeface="+mn-ea"/>
                <a:cs typeface="+mn-cs"/>
              </a:rPr>
              <a:t>This slide shows the main pattern visually. What we should focus on is not every number, but the overall trend. </a:t>
            </a:r>
          </a:p>
          <a:p>
            <a:r>
              <a:rPr lang="en-US" altLang="ko-KR" sz="1200" kern="1200" dirty="0">
                <a:solidFill>
                  <a:schemeClr val="tx1"/>
                </a:solidFill>
                <a:effectLst/>
                <a:latin typeface="+mn-lt"/>
                <a:ea typeface="+mn-ea"/>
                <a:cs typeface="+mn-cs"/>
              </a:rPr>
              <a:t>The important point is that the middle region stands out. </a:t>
            </a:r>
          </a:p>
          <a:p>
            <a:r>
              <a:rPr lang="en-US" altLang="ko-KR" sz="1200" kern="1200" dirty="0">
                <a:solidFill>
                  <a:schemeClr val="tx1"/>
                </a:solidFill>
                <a:effectLst/>
                <a:latin typeface="+mn-lt"/>
                <a:ea typeface="+mn-ea"/>
                <a:cs typeface="+mn-cs"/>
              </a:rPr>
              <a:t>The separation between malicious and non-malicious processing becomes </a:t>
            </a:r>
            <a:r>
              <a:rPr lang="en-US" altLang="ko-KR" sz="1200" b="1" kern="1200" dirty="0">
                <a:solidFill>
                  <a:schemeClr val="tx1"/>
                </a:solidFill>
                <a:effectLst/>
                <a:latin typeface="+mn-lt"/>
                <a:ea typeface="+mn-ea"/>
                <a:cs typeface="+mn-cs"/>
              </a:rPr>
              <a:t>much clearer there than in the early layers or later layers.</a:t>
            </a:r>
          </a:p>
          <a:p>
            <a:r>
              <a:rPr lang="en-US" altLang="ko-KR" sz="1200" kern="1200" dirty="0">
                <a:solidFill>
                  <a:schemeClr val="tx1"/>
                </a:solidFill>
                <a:effectLst/>
                <a:latin typeface="+mn-lt"/>
                <a:ea typeface="+mn-ea"/>
                <a:cs typeface="+mn-cs"/>
              </a:rPr>
              <a:t> So this is the first strong evidence that safety is concentrated in a specific part of the model.</a:t>
            </a:r>
            <a:endParaRPr lang="ko-KR" altLang="en-US" dirty="0"/>
          </a:p>
        </p:txBody>
      </p:sp>
      <p:sp>
        <p:nvSpPr>
          <p:cNvPr id="4" name="슬라이드 번호 개체 틀 3"/>
          <p:cNvSpPr>
            <a:spLocks noGrp="1"/>
          </p:cNvSpPr>
          <p:nvPr>
            <p:ph type="sldNum" sz="quarter" idx="5"/>
          </p:nvPr>
        </p:nvSpPr>
        <p:spPr/>
        <p:txBody>
          <a:bodyPr/>
          <a:lstStyle/>
          <a:p>
            <a:fld id="{1A4F7613-023F-D848-ADA5-4BBD721DE652}" type="slidenum">
              <a:rPr kumimoji="1" lang="ko-KR" altLang="en-US" smtClean="0"/>
              <a:t>9</a:t>
            </a:fld>
            <a:endParaRPr kumimoji="1" lang="ko-KR" altLang="en-US"/>
          </a:p>
        </p:txBody>
      </p:sp>
    </p:spTree>
    <p:extLst>
      <p:ext uri="{BB962C8B-B14F-4D97-AF65-F5344CB8AC3E}">
        <p14:creationId xmlns:p14="http://schemas.microsoft.com/office/powerpoint/2010/main" val="2340157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kern="1200" dirty="0">
                <a:solidFill>
                  <a:schemeClr val="tx1"/>
                </a:solidFill>
                <a:effectLst/>
                <a:latin typeface="+mn-lt"/>
                <a:ea typeface="+mn-ea"/>
                <a:cs typeface="+mn-cs"/>
              </a:rPr>
              <a:t>In the next step, the authors use over-rejection as an extra signal. </a:t>
            </a:r>
          </a:p>
          <a:p>
            <a:r>
              <a:rPr lang="en-US" altLang="ko-KR" sz="1200" kern="1200" dirty="0">
                <a:solidFill>
                  <a:schemeClr val="tx1"/>
                </a:solidFill>
                <a:effectLst/>
                <a:latin typeface="+mn-lt"/>
                <a:ea typeface="+mn-ea"/>
                <a:cs typeface="+mn-cs"/>
              </a:rPr>
              <a:t>The reason this is useful is that over-rejection is also related to alignment. So if changing some layers changes over-rejection a lot, those layers may be closely tied to safety</a:t>
            </a:r>
            <a:endParaRPr lang="ko-KR" altLang="en-US" dirty="0"/>
          </a:p>
        </p:txBody>
      </p:sp>
      <p:sp>
        <p:nvSpPr>
          <p:cNvPr id="4" name="슬라이드 번호 개체 틀 3"/>
          <p:cNvSpPr>
            <a:spLocks noGrp="1"/>
          </p:cNvSpPr>
          <p:nvPr>
            <p:ph type="sldNum" sz="quarter" idx="5"/>
          </p:nvPr>
        </p:nvSpPr>
        <p:spPr/>
        <p:txBody>
          <a:bodyPr/>
          <a:lstStyle/>
          <a:p>
            <a:fld id="{1A4F7613-023F-D848-ADA5-4BBD721DE652}" type="slidenum">
              <a:rPr kumimoji="1" lang="ko-KR" altLang="en-US" smtClean="0"/>
              <a:t>10</a:t>
            </a:fld>
            <a:endParaRPr kumimoji="1" lang="ko-KR" altLang="en-US"/>
          </a:p>
        </p:txBody>
      </p:sp>
    </p:spTree>
    <p:extLst>
      <p:ext uri="{BB962C8B-B14F-4D97-AF65-F5344CB8AC3E}">
        <p14:creationId xmlns:p14="http://schemas.microsoft.com/office/powerpoint/2010/main" val="3626923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슬라이드 노트 개체 틀 2"/>
              <p:cNvSpPr>
                <a:spLocks noGrp="1"/>
              </p:cNvSpPr>
              <p:nvPr>
                <p:ph type="body" idx="1"/>
              </p:nvPr>
            </p:nvSpPr>
            <p:spPr/>
            <p:txBody>
              <a:bodyPr/>
              <a:lstStyle/>
              <a:p>
                <a:r>
                  <a:rPr lang="en-US" altLang="ko-KR" dirty="0"/>
                  <a:t>At this point, the authors need a better way to find the exact layer range.</a:t>
                </a:r>
              </a:p>
              <a:p>
                <a:r>
                  <a:rPr lang="en-US" altLang="ko-KR" dirty="0"/>
                  <a:t>They use over-rejection as an additional signal.</a:t>
                </a:r>
              </a:p>
              <a:p>
                <a:r>
                  <a:rPr lang="en-US" altLang="ko-KR" dirty="0"/>
                  <a:t>Over-rejection means refusing a harmless query because it contains dangerous-looking words, such as the word ‘kill’ in a harmless computing context.</a:t>
                </a:r>
              </a:p>
              <a:p>
                <a:r>
                  <a:rPr lang="en-US" altLang="ko-KR" dirty="0"/>
                  <a:t>The idea is that if a candidate layer range is truly related to safety, then changing those layers should also change the degree of over-rejection.</a:t>
                </a:r>
                <a:endParaRPr kumimoji="1" lang="ko-KR" altLang="en-US" dirty="0"/>
              </a:p>
            </p:txBody>
          </p:sp>
        </mc:Choice>
        <mc:Fallback xmlns="">
          <p:sp>
            <p:nvSpPr>
              <p:cNvPr id="3" name="슬라이드 노트 개체 틀 2"/>
              <p:cNvSpPr>
                <a:spLocks noGrp="1"/>
              </p:cNvSpPr>
              <p:nvPr>
                <p:ph type="body" idx="1"/>
              </p:nvPr>
            </p:nvSpPr>
            <p:spPr/>
            <p:txBody>
              <a:bodyPr/>
              <a:lstStyle/>
              <a:p>
                <a:r>
                  <a:rPr lang="en-US" altLang="ko-KR" sz="1200" i="0" dirty="0">
                    <a:latin typeface="Cambria Math" panose="02040503050406030204" pitchFamily="18" charset="0"/>
                  </a:rPr>
                  <a:t>𝐷_0</a:t>
                </a:r>
                <a:r>
                  <a:rPr lang="en-US" altLang="ko-KR" sz="1200" dirty="0"/>
                  <a:t>: containing queries with potentially dangerous verbs but expressing non-malicious meanings.</a:t>
                </a:r>
              </a:p>
              <a:p>
                <a:endParaRPr kumimoji="1" lang="ko-KR" altLang="en-US" dirty="0"/>
              </a:p>
            </p:txBody>
          </p:sp>
        </mc:Fallback>
      </mc:AlternateContent>
      <p:sp>
        <p:nvSpPr>
          <p:cNvPr id="4" name="슬라이드 번호 개체 틀 3"/>
          <p:cNvSpPr>
            <a:spLocks noGrp="1"/>
          </p:cNvSpPr>
          <p:nvPr>
            <p:ph type="sldNum" sz="quarter" idx="5"/>
          </p:nvPr>
        </p:nvSpPr>
        <p:spPr/>
        <p:txBody>
          <a:bodyPr/>
          <a:lstStyle/>
          <a:p>
            <a:fld id="{1A4F7613-023F-D848-ADA5-4BBD721DE652}" type="slidenum">
              <a:rPr kumimoji="1" lang="ko-KR" altLang="en-US" smtClean="0"/>
              <a:t>11</a:t>
            </a:fld>
            <a:endParaRPr kumimoji="1" lang="ko-KR" altLang="en-US"/>
          </a:p>
        </p:txBody>
      </p:sp>
    </p:spTree>
    <p:extLst>
      <p:ext uri="{BB962C8B-B14F-4D97-AF65-F5344CB8AC3E}">
        <p14:creationId xmlns:p14="http://schemas.microsoft.com/office/powerpoint/2010/main" val="187299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슬라이드 노트 개체 틀 2"/>
              <p:cNvSpPr>
                <a:spLocks noGrp="1"/>
              </p:cNvSpPr>
              <p:nvPr>
                <p:ph type="body" idx="1"/>
              </p:nvPr>
            </p:nvSpPr>
            <p:spPr/>
            <p:txBody>
              <a:bodyPr/>
              <a:lstStyle/>
              <a:p>
                <a:r>
                  <a:rPr lang="en-US" altLang="ko-KR" sz="1200" kern="1200" dirty="0">
                    <a:solidFill>
                      <a:schemeClr val="tx1"/>
                    </a:solidFill>
                    <a:effectLst/>
                    <a:latin typeface="+mn-lt"/>
                    <a:ea typeface="+mn-ea"/>
                    <a:cs typeface="+mn-cs"/>
                  </a:rPr>
                  <a:t>This slide explains how they narrow down the exact safety-layer range.</a:t>
                </a:r>
              </a:p>
              <a:p>
                <a:r>
                  <a:rPr lang="en-US" altLang="ko-KR" sz="1200" kern="1200" dirty="0">
                    <a:solidFill>
                      <a:schemeClr val="tx1"/>
                    </a:solidFill>
                    <a:effectLst/>
                    <a:latin typeface="+mn-lt"/>
                    <a:ea typeface="+mn-ea"/>
                    <a:cs typeface="+mn-cs"/>
                  </a:rPr>
                  <a:t>They progressively expand or adjust the layer range and apply scaling. </a:t>
                </a:r>
              </a:p>
              <a:p>
                <a:r>
                  <a:rPr lang="en-US" altLang="ko-KR" sz="1200" kern="1200" dirty="0">
                    <a:solidFill>
                      <a:schemeClr val="tx1"/>
                    </a:solidFill>
                    <a:effectLst/>
                    <a:latin typeface="+mn-lt"/>
                    <a:ea typeface="+mn-ea"/>
                    <a:cs typeface="+mn-cs"/>
                  </a:rPr>
                  <a:t>If the chosen layers are truly related to safety, then changing them should </a:t>
                </a:r>
                <a:r>
                  <a:rPr lang="en-US" altLang="ko-KR" sz="1200" b="1" kern="1200" dirty="0">
                    <a:solidFill>
                      <a:schemeClr val="tx1"/>
                    </a:solidFill>
                    <a:effectLst/>
                    <a:latin typeface="+mn-lt"/>
                    <a:ea typeface="+mn-ea"/>
                    <a:cs typeface="+mn-cs"/>
                  </a:rPr>
                  <a:t>strongly affect</a:t>
                </a:r>
                <a:r>
                  <a:rPr lang="en-US" altLang="ko-KR" sz="1200" kern="1200" dirty="0">
                    <a:solidFill>
                      <a:schemeClr val="tx1"/>
                    </a:solidFill>
                    <a:effectLst/>
                    <a:latin typeface="+mn-lt"/>
                    <a:ea typeface="+mn-ea"/>
                    <a:cs typeface="+mn-cs"/>
                  </a:rPr>
                  <a:t> over-rejection and model security. </a:t>
                </a:r>
              </a:p>
              <a:p>
                <a:r>
                  <a:rPr lang="en-US" altLang="ko-KR" sz="1200" kern="1200" dirty="0">
                    <a:solidFill>
                      <a:schemeClr val="tx1"/>
                    </a:solidFill>
                    <a:effectLst/>
                    <a:latin typeface="+mn-lt"/>
                    <a:ea typeface="+mn-ea"/>
                    <a:cs typeface="+mn-cs"/>
                  </a:rPr>
                  <a:t>If the chosen layers are not related to safety, the effect should be much weaker. </a:t>
                </a:r>
              </a:p>
              <a:p>
                <a:r>
                  <a:rPr lang="en-US" altLang="ko-KR" sz="1200" kern="1200" dirty="0">
                    <a:solidFill>
                      <a:schemeClr val="tx1"/>
                    </a:solidFill>
                    <a:effectLst/>
                    <a:latin typeface="+mn-lt"/>
                    <a:ea typeface="+mn-ea"/>
                    <a:cs typeface="+mn-cs"/>
                  </a:rPr>
                  <a:t>By repeating this process, the authors can identify the upper and lower bounds of the safety-layer block.</a:t>
                </a:r>
              </a:p>
              <a:p>
                <a:endParaRPr kumimoji="1" lang="en-US" altLang="ko-KR" sz="1200" kern="1200" dirty="0">
                  <a:solidFill>
                    <a:schemeClr val="tx1"/>
                  </a:solidFill>
                  <a:effectLst/>
                  <a:latin typeface="+mn-lt"/>
                  <a:ea typeface="+mn-ea"/>
                  <a:cs typeface="+mn-cs"/>
                </a:endParaRPr>
              </a:p>
            </p:txBody>
          </p:sp>
        </mc:Choice>
        <mc:Fallback xmlns="">
          <p:sp>
            <p:nvSpPr>
              <p:cNvPr id="3" name="슬라이드 노트 개체 틀 2"/>
              <p:cNvSpPr>
                <a:spLocks noGrp="1"/>
              </p:cNvSpPr>
              <p:nvPr>
                <p:ph type="body" idx="1"/>
              </p:nvPr>
            </p:nvSpPr>
            <p:spPr/>
            <p:txBody>
              <a:bodyPr/>
              <a:lstStyle/>
              <a:p>
                <a:r>
                  <a:rPr lang="en-US" altLang="ko-KR" dirty="0"/>
                  <a:t>Its role is to </a:t>
                </a:r>
                <a:r>
                  <a:rPr lang="en-US" altLang="ko-KR" b="1" dirty="0"/>
                  <a:t>artificially strengthen the parameters</a:t>
                </a:r>
                <a:r>
                  <a:rPr lang="en-US" altLang="ko-KR" dirty="0"/>
                  <a:t> in the candidate layer range </a:t>
                </a:r>
                <a:r>
                  <a:rPr lang="ar-AE" altLang="ko-KR" sz="1200" i="0" kern="1200">
                    <a:solidFill>
                      <a:schemeClr val="tx1"/>
                    </a:solidFill>
                    <a:latin typeface="+mn-lt"/>
                    <a:ea typeface="+mn-ea"/>
                    <a:cs typeface="+mn-cs"/>
                  </a:rPr>
                  <a:t>[𝑖ⓜ,𝑗]</a:t>
                </a:r>
                <a:r>
                  <a:rPr lang="ar-AE" altLang="ko-KR" dirty="0"/>
                  <a:t>.</a:t>
                </a:r>
                <a:endParaRPr kumimoji="1" lang="ko-KR" altLang="en-US" dirty="0"/>
              </a:p>
            </p:txBody>
          </p:sp>
        </mc:Fallback>
      </mc:AlternateContent>
      <p:sp>
        <p:nvSpPr>
          <p:cNvPr id="4" name="슬라이드 번호 개체 틀 3"/>
          <p:cNvSpPr>
            <a:spLocks noGrp="1"/>
          </p:cNvSpPr>
          <p:nvPr>
            <p:ph type="sldNum" sz="quarter" idx="5"/>
          </p:nvPr>
        </p:nvSpPr>
        <p:spPr/>
        <p:txBody>
          <a:bodyPr/>
          <a:lstStyle/>
          <a:p>
            <a:fld id="{1A4F7613-023F-D848-ADA5-4BBD721DE652}" type="slidenum">
              <a:rPr kumimoji="1" lang="ko-KR" altLang="en-US" smtClean="0"/>
              <a:t>12</a:t>
            </a:fld>
            <a:endParaRPr kumimoji="1" lang="ko-KR" altLang="en-US"/>
          </a:p>
        </p:txBody>
      </p:sp>
    </p:spTree>
    <p:extLst>
      <p:ext uri="{BB962C8B-B14F-4D97-AF65-F5344CB8AC3E}">
        <p14:creationId xmlns:p14="http://schemas.microsoft.com/office/powerpoint/2010/main" val="335809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kern="1200" dirty="0">
                <a:solidFill>
                  <a:schemeClr val="tx1"/>
                </a:solidFill>
                <a:effectLst/>
                <a:latin typeface="+mn-lt"/>
                <a:ea typeface="+mn-ea"/>
                <a:cs typeface="+mn-cs"/>
              </a:rPr>
              <a:t>This slide summarizes the final safety-layer ranges found for each model. </a:t>
            </a:r>
          </a:p>
          <a:p>
            <a:r>
              <a:rPr lang="en-US" altLang="ko-KR" sz="1200" kern="1200" dirty="0">
                <a:solidFill>
                  <a:schemeClr val="tx1"/>
                </a:solidFill>
                <a:effectLst/>
                <a:latin typeface="+mn-lt"/>
                <a:ea typeface="+mn-ea"/>
                <a:cs typeface="+mn-cs"/>
              </a:rPr>
              <a:t>The main message is very consistent: </a:t>
            </a:r>
            <a:r>
              <a:rPr lang="en-US" altLang="ko-KR" sz="1200" b="1" kern="1200" dirty="0">
                <a:solidFill>
                  <a:schemeClr val="tx1"/>
                </a:solidFill>
                <a:effectLst/>
                <a:latin typeface="+mn-lt"/>
                <a:ea typeface="+mn-ea"/>
                <a:cs typeface="+mn-cs"/>
              </a:rPr>
              <a:t>the key layers are in the middle of the layer</a:t>
            </a:r>
            <a:r>
              <a:rPr lang="en-US" altLang="ko-KR" sz="1200" kern="1200" dirty="0">
                <a:solidFill>
                  <a:schemeClr val="tx1"/>
                </a:solidFill>
                <a:effectLst/>
                <a:latin typeface="+mn-lt"/>
                <a:ea typeface="+mn-ea"/>
                <a:cs typeface="+mn-cs"/>
              </a:rPr>
              <a:t>. </a:t>
            </a:r>
          </a:p>
          <a:p>
            <a:r>
              <a:rPr lang="en-US" altLang="ko-KR" sz="1200" kern="1200" dirty="0">
                <a:solidFill>
                  <a:schemeClr val="tx1"/>
                </a:solidFill>
                <a:effectLst/>
                <a:latin typeface="+mn-lt"/>
                <a:ea typeface="+mn-ea"/>
                <a:cs typeface="+mn-cs"/>
              </a:rPr>
              <a:t>So across different aligned LLMs, the authors see a similar structure. </a:t>
            </a:r>
          </a:p>
          <a:p>
            <a:r>
              <a:rPr lang="en-US" altLang="ko-KR" sz="1200" kern="1200" dirty="0">
                <a:solidFill>
                  <a:schemeClr val="tx1"/>
                </a:solidFill>
                <a:effectLst/>
                <a:latin typeface="+mn-lt"/>
                <a:ea typeface="+mn-ea"/>
                <a:cs typeface="+mn-cs"/>
              </a:rPr>
              <a:t>This supports their central argument that model safety is concentrated in a relatively small middle section rather than spread everywhere.</a:t>
            </a:r>
            <a:endParaRPr lang="ko-KR" altLang="en-US" dirty="0"/>
          </a:p>
        </p:txBody>
      </p:sp>
      <p:sp>
        <p:nvSpPr>
          <p:cNvPr id="4" name="슬라이드 번호 개체 틀 3"/>
          <p:cNvSpPr>
            <a:spLocks noGrp="1"/>
          </p:cNvSpPr>
          <p:nvPr>
            <p:ph type="sldNum" sz="quarter" idx="5"/>
          </p:nvPr>
        </p:nvSpPr>
        <p:spPr/>
        <p:txBody>
          <a:bodyPr/>
          <a:lstStyle/>
          <a:p>
            <a:fld id="{1A4F7613-023F-D848-ADA5-4BBD721DE652}" type="slidenum">
              <a:rPr kumimoji="1" lang="ko-KR" altLang="en-US" smtClean="0"/>
              <a:t>13</a:t>
            </a:fld>
            <a:endParaRPr kumimoji="1" lang="ko-KR" altLang="en-US"/>
          </a:p>
        </p:txBody>
      </p:sp>
    </p:spTree>
    <p:extLst>
      <p:ext uri="{BB962C8B-B14F-4D97-AF65-F5344CB8AC3E}">
        <p14:creationId xmlns:p14="http://schemas.microsoft.com/office/powerpoint/2010/main" val="3656030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Based on these results, the authors suggest a three-stage view of hidden layers in aligned LLMs. </a:t>
            </a:r>
          </a:p>
          <a:p>
            <a:r>
              <a:rPr lang="en-US" altLang="ko-KR" dirty="0"/>
              <a:t>The early layers mainly do preliminary sentence confirmation or basic structural processing. </a:t>
            </a:r>
          </a:p>
          <a:p>
            <a:r>
              <a:rPr lang="en-US" altLang="ko-KR" dirty="0"/>
              <a:t>The middle layers detect malicious intent. The later layers focus more on semantic analysis and answer generation.</a:t>
            </a:r>
          </a:p>
          <a:p>
            <a:r>
              <a:rPr lang="en-US" altLang="ko-KR" dirty="0"/>
              <a:t>So the model may first understand the sentence form, then judge whether it is harmful, and finally decide how to respond.</a:t>
            </a:r>
            <a:endParaRPr lang="ko-KR" altLang="en-US" dirty="0"/>
          </a:p>
        </p:txBody>
      </p:sp>
      <p:sp>
        <p:nvSpPr>
          <p:cNvPr id="4" name="슬라이드 번호 개체 틀 3"/>
          <p:cNvSpPr>
            <a:spLocks noGrp="1"/>
          </p:cNvSpPr>
          <p:nvPr>
            <p:ph type="sldNum" sz="quarter" idx="5"/>
          </p:nvPr>
        </p:nvSpPr>
        <p:spPr/>
        <p:txBody>
          <a:bodyPr/>
          <a:lstStyle/>
          <a:p>
            <a:fld id="{1A4F7613-023F-D848-ADA5-4BBD721DE652}" type="slidenum">
              <a:rPr kumimoji="1" lang="ko-KR" altLang="en-US" smtClean="0"/>
              <a:t>14</a:t>
            </a:fld>
            <a:endParaRPr kumimoji="1" lang="ko-KR" altLang="en-US"/>
          </a:p>
        </p:txBody>
      </p:sp>
    </p:spTree>
    <p:extLst>
      <p:ext uri="{BB962C8B-B14F-4D97-AF65-F5344CB8AC3E}">
        <p14:creationId xmlns:p14="http://schemas.microsoft.com/office/powerpoint/2010/main" val="1245672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Next, I will explain the practical method proposed in this paper, called SPPFT.</a:t>
            </a:r>
            <a:endParaRPr lang="ko-KR" altLang="en-US" dirty="0"/>
          </a:p>
        </p:txBody>
      </p:sp>
      <p:sp>
        <p:nvSpPr>
          <p:cNvPr id="4" name="슬라이드 번호 개체 틀 3"/>
          <p:cNvSpPr>
            <a:spLocks noGrp="1"/>
          </p:cNvSpPr>
          <p:nvPr>
            <p:ph type="sldNum" sz="quarter" idx="5"/>
          </p:nvPr>
        </p:nvSpPr>
        <p:spPr/>
        <p:txBody>
          <a:bodyPr/>
          <a:lstStyle/>
          <a:p>
            <a:fld id="{1A4F7613-023F-D848-ADA5-4BBD721DE652}" type="slidenum">
              <a:rPr kumimoji="1" lang="ko-KR" altLang="en-US" smtClean="0"/>
              <a:t>15</a:t>
            </a:fld>
            <a:endParaRPr kumimoji="1" lang="ko-KR" altLang="en-US"/>
          </a:p>
        </p:txBody>
      </p:sp>
    </p:spTree>
    <p:extLst>
      <p:ext uri="{BB962C8B-B14F-4D97-AF65-F5344CB8AC3E}">
        <p14:creationId xmlns:p14="http://schemas.microsoft.com/office/powerpoint/2010/main" val="3252878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The idea is very simple: during fine-tuning, freeze the safety layers and only update the other layers. </a:t>
            </a:r>
          </a:p>
          <a:p>
            <a:r>
              <a:rPr lang="en-US" altLang="ko-KR" dirty="0"/>
              <a:t>The authors test this under four attack settings: normal data attack, implicit attack, backdoor attack, and harmful data attack. </a:t>
            </a:r>
          </a:p>
          <a:p>
            <a:r>
              <a:rPr lang="en-US" altLang="ko-KR" dirty="0"/>
              <a:t>The main result is that SPPFT achieves a much lower harmful rate than full fine-tuning </a:t>
            </a:r>
            <a:r>
              <a:rPr lang="en-US" altLang="ko-KR" b="1" dirty="0"/>
              <a:t>while keeping similar task performance. </a:t>
            </a:r>
          </a:p>
          <a:p>
            <a:r>
              <a:rPr lang="en-US" altLang="ko-KR" dirty="0"/>
              <a:t>This means the discovered safety layers are not only interpretable, but also useful in practice.</a:t>
            </a:r>
            <a:endParaRPr lang="ko-KR" altLang="en-US" dirty="0"/>
          </a:p>
        </p:txBody>
      </p:sp>
      <p:sp>
        <p:nvSpPr>
          <p:cNvPr id="4" name="슬라이드 번호 개체 틀 3"/>
          <p:cNvSpPr>
            <a:spLocks noGrp="1"/>
          </p:cNvSpPr>
          <p:nvPr>
            <p:ph type="sldNum" sz="quarter" idx="5"/>
          </p:nvPr>
        </p:nvSpPr>
        <p:spPr/>
        <p:txBody>
          <a:bodyPr/>
          <a:lstStyle/>
          <a:p>
            <a:fld id="{1A4F7613-023F-D848-ADA5-4BBD721DE652}" type="slidenum">
              <a:rPr kumimoji="1" lang="ko-KR" altLang="en-US" smtClean="0"/>
              <a:t>16</a:t>
            </a:fld>
            <a:endParaRPr kumimoji="1" lang="ko-KR" altLang="en-US"/>
          </a:p>
        </p:txBody>
      </p:sp>
    </p:spTree>
    <p:extLst>
      <p:ext uri="{BB962C8B-B14F-4D97-AF65-F5344CB8AC3E}">
        <p14:creationId xmlns:p14="http://schemas.microsoft.com/office/powerpoint/2010/main" val="36087140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To conclude, this paper shows that safety in aligned LLMs is concentrated in a small set of middle layers. </a:t>
            </a:r>
          </a:p>
          <a:p>
            <a:r>
              <a:rPr lang="en-US" altLang="ko-KR" dirty="0"/>
              <a:t>These layers appear to emerge during alignment training, and protecting them during fine-tuning helps preserve safety. </a:t>
            </a:r>
          </a:p>
          <a:p>
            <a:r>
              <a:rPr lang="en-US" altLang="ko-KR" dirty="0"/>
              <a:t>So the paper contributes both an interpretability result and a practical defense method. </a:t>
            </a:r>
          </a:p>
        </p:txBody>
      </p:sp>
      <p:sp>
        <p:nvSpPr>
          <p:cNvPr id="4" name="슬라이드 번호 개체 틀 3"/>
          <p:cNvSpPr>
            <a:spLocks noGrp="1"/>
          </p:cNvSpPr>
          <p:nvPr>
            <p:ph type="sldNum" sz="quarter" idx="5"/>
          </p:nvPr>
        </p:nvSpPr>
        <p:spPr/>
        <p:txBody>
          <a:bodyPr/>
          <a:lstStyle/>
          <a:p>
            <a:fld id="{1A4F7613-023F-D848-ADA5-4BBD721DE652}" type="slidenum">
              <a:rPr kumimoji="1" lang="ko-KR" altLang="en-US" smtClean="0"/>
              <a:t>17</a:t>
            </a:fld>
            <a:endParaRPr kumimoji="1" lang="ko-KR" altLang="en-US"/>
          </a:p>
        </p:txBody>
      </p:sp>
    </p:spTree>
    <p:extLst>
      <p:ext uri="{BB962C8B-B14F-4D97-AF65-F5344CB8AC3E}">
        <p14:creationId xmlns:p14="http://schemas.microsoft.com/office/powerpoint/2010/main" val="3659300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E13ACA6-62CD-C161-DC5D-933D2FD66C42}"/>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64339200-1B40-9A6D-09D5-6FBADF31E7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E3CA7C12-42B4-D38A-D36F-3BA86EA64CB5}"/>
              </a:ext>
            </a:extLst>
          </p:cNvPr>
          <p:cNvSpPr>
            <a:spLocks noGrp="1"/>
          </p:cNvSpPr>
          <p:nvPr>
            <p:ph type="dt" sz="half" idx="10"/>
          </p:nvPr>
        </p:nvSpPr>
        <p:spPr/>
        <p:txBody>
          <a:bodyPr/>
          <a:lstStyle/>
          <a:p>
            <a:fld id="{44294A8B-8E13-E947-AF7A-C1554D9B09B2}" type="datetime1">
              <a:rPr lang="ko-KR" altLang="en-US" smtClean="0"/>
              <a:t>2026. 4. 13.</a:t>
            </a:fld>
            <a:endParaRPr lang="ko-KR" altLang="en-US"/>
          </a:p>
        </p:txBody>
      </p:sp>
      <p:sp>
        <p:nvSpPr>
          <p:cNvPr id="5" name="바닥글 개체 틀 4">
            <a:extLst>
              <a:ext uri="{FF2B5EF4-FFF2-40B4-BE49-F238E27FC236}">
                <a16:creationId xmlns:a16="http://schemas.microsoft.com/office/drawing/2014/main" id="{51165135-7C42-B289-5D71-1226F26DB2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10A6AE9-C97F-148A-7EC4-6648FD29C689}"/>
              </a:ext>
            </a:extLst>
          </p:cNvPr>
          <p:cNvSpPr>
            <a:spLocks noGrp="1"/>
          </p:cNvSpPr>
          <p:nvPr>
            <p:ph type="sldNum" sz="quarter" idx="12"/>
          </p:nvPr>
        </p:nvSpPr>
        <p:spPr/>
        <p:txBody>
          <a:bodyPr/>
          <a:lstStyle/>
          <a:p>
            <a:fld id="{64DFE92E-FC6E-4A88-9F96-FE3893F9F10A}" type="slidenum">
              <a:rPr lang="ko-KR" altLang="en-US" smtClean="0"/>
              <a:t>‹#›</a:t>
            </a:fld>
            <a:endParaRPr lang="ko-KR" altLang="en-US"/>
          </a:p>
        </p:txBody>
      </p:sp>
    </p:spTree>
    <p:extLst>
      <p:ext uri="{BB962C8B-B14F-4D97-AF65-F5344CB8AC3E}">
        <p14:creationId xmlns:p14="http://schemas.microsoft.com/office/powerpoint/2010/main" val="2307871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D060671-C098-83EB-3B73-94D9F4544F80}"/>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CA303B6F-059F-D8AF-98FF-67CF87C82EF7}"/>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D96C30B-9041-00F2-F346-4E4C2FD3ED95}"/>
              </a:ext>
            </a:extLst>
          </p:cNvPr>
          <p:cNvSpPr>
            <a:spLocks noGrp="1"/>
          </p:cNvSpPr>
          <p:nvPr>
            <p:ph type="dt" sz="half" idx="10"/>
          </p:nvPr>
        </p:nvSpPr>
        <p:spPr/>
        <p:txBody>
          <a:bodyPr/>
          <a:lstStyle/>
          <a:p>
            <a:fld id="{3BC4EE6D-DFAA-3D42-AB9D-AE149E696656}" type="datetime1">
              <a:rPr lang="ko-KR" altLang="en-US" smtClean="0"/>
              <a:t>2026. 4. 13.</a:t>
            </a:fld>
            <a:endParaRPr lang="ko-KR" altLang="en-US"/>
          </a:p>
        </p:txBody>
      </p:sp>
      <p:sp>
        <p:nvSpPr>
          <p:cNvPr id="5" name="바닥글 개체 틀 4">
            <a:extLst>
              <a:ext uri="{FF2B5EF4-FFF2-40B4-BE49-F238E27FC236}">
                <a16:creationId xmlns:a16="http://schemas.microsoft.com/office/drawing/2014/main" id="{DF877C3B-BA15-DE9F-D952-8595E1655EC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8047F31-D51A-D518-9252-8484520A674C}"/>
              </a:ext>
            </a:extLst>
          </p:cNvPr>
          <p:cNvSpPr>
            <a:spLocks noGrp="1"/>
          </p:cNvSpPr>
          <p:nvPr>
            <p:ph type="sldNum" sz="quarter" idx="12"/>
          </p:nvPr>
        </p:nvSpPr>
        <p:spPr/>
        <p:txBody>
          <a:bodyPr/>
          <a:lstStyle/>
          <a:p>
            <a:fld id="{64DFE92E-FC6E-4A88-9F96-FE3893F9F10A}" type="slidenum">
              <a:rPr lang="ko-KR" altLang="en-US" smtClean="0"/>
              <a:t>‹#›</a:t>
            </a:fld>
            <a:endParaRPr lang="ko-KR" altLang="en-US"/>
          </a:p>
        </p:txBody>
      </p:sp>
    </p:spTree>
    <p:extLst>
      <p:ext uri="{BB962C8B-B14F-4D97-AF65-F5344CB8AC3E}">
        <p14:creationId xmlns:p14="http://schemas.microsoft.com/office/powerpoint/2010/main" val="3389802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0C236-B69E-95F6-4462-F9F82D29ECB3}"/>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A98E0843-18A8-ACC0-1837-51B8DA0414A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37A3407D-0C3C-3D87-D823-EF9EA0C42B61}"/>
              </a:ext>
            </a:extLst>
          </p:cNvPr>
          <p:cNvSpPr>
            <a:spLocks noGrp="1"/>
          </p:cNvSpPr>
          <p:nvPr>
            <p:ph type="dt" sz="half" idx="10"/>
          </p:nvPr>
        </p:nvSpPr>
        <p:spPr/>
        <p:txBody>
          <a:bodyPr/>
          <a:lstStyle/>
          <a:p>
            <a:fld id="{951CD718-AE4F-8A4C-BBBF-A87681ECACA3}" type="datetime1">
              <a:rPr lang="ko-KR" altLang="en-US" smtClean="0"/>
              <a:t>2026. 4. 13.</a:t>
            </a:fld>
            <a:endParaRPr lang="ko-KR" altLang="en-US"/>
          </a:p>
        </p:txBody>
      </p:sp>
      <p:sp>
        <p:nvSpPr>
          <p:cNvPr id="5" name="바닥글 개체 틀 4">
            <a:extLst>
              <a:ext uri="{FF2B5EF4-FFF2-40B4-BE49-F238E27FC236}">
                <a16:creationId xmlns:a16="http://schemas.microsoft.com/office/drawing/2014/main" id="{836AF05A-F58F-7C54-D409-8B967888D9A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4F88C7E-B146-63D9-589C-2178F03945A1}"/>
              </a:ext>
            </a:extLst>
          </p:cNvPr>
          <p:cNvSpPr>
            <a:spLocks noGrp="1"/>
          </p:cNvSpPr>
          <p:nvPr>
            <p:ph type="sldNum" sz="quarter" idx="12"/>
          </p:nvPr>
        </p:nvSpPr>
        <p:spPr/>
        <p:txBody>
          <a:bodyPr/>
          <a:lstStyle/>
          <a:p>
            <a:fld id="{64DFE92E-FC6E-4A88-9F96-FE3893F9F10A}" type="slidenum">
              <a:rPr lang="ko-KR" altLang="en-US" smtClean="0"/>
              <a:t>‹#›</a:t>
            </a:fld>
            <a:endParaRPr lang="ko-KR" altLang="en-US"/>
          </a:p>
        </p:txBody>
      </p:sp>
    </p:spTree>
    <p:extLst>
      <p:ext uri="{BB962C8B-B14F-4D97-AF65-F5344CB8AC3E}">
        <p14:creationId xmlns:p14="http://schemas.microsoft.com/office/powerpoint/2010/main" val="2966243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E63C435-50C1-045A-EFE0-B50392EA32A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CC0C88EB-1EA3-FC91-6FD3-E25C2AD6EBA4}"/>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A8D88D0-9BD5-18EE-6963-B596B8B532C9}"/>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CACB9363-35A9-5C6B-7AA4-8D5180A43D53}"/>
              </a:ext>
            </a:extLst>
          </p:cNvPr>
          <p:cNvSpPr>
            <a:spLocks noGrp="1"/>
          </p:cNvSpPr>
          <p:nvPr>
            <p:ph type="dt" sz="half" idx="10"/>
          </p:nvPr>
        </p:nvSpPr>
        <p:spPr/>
        <p:txBody>
          <a:bodyPr/>
          <a:lstStyle/>
          <a:p>
            <a:fld id="{A5663F90-896E-B042-8D43-52C4AE77042F}" type="datetime1">
              <a:rPr lang="ko-KR" altLang="en-US" smtClean="0"/>
              <a:t>2026. 4. 13.</a:t>
            </a:fld>
            <a:endParaRPr lang="ko-KR" altLang="en-US"/>
          </a:p>
        </p:txBody>
      </p:sp>
      <p:sp>
        <p:nvSpPr>
          <p:cNvPr id="6" name="바닥글 개체 틀 5">
            <a:extLst>
              <a:ext uri="{FF2B5EF4-FFF2-40B4-BE49-F238E27FC236}">
                <a16:creationId xmlns:a16="http://schemas.microsoft.com/office/drawing/2014/main" id="{B8295085-8577-D065-36B4-DCEEE8FF474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2772C8DD-2B90-3BF4-B9A4-AF3F6A6D3B0E}"/>
              </a:ext>
            </a:extLst>
          </p:cNvPr>
          <p:cNvSpPr>
            <a:spLocks noGrp="1"/>
          </p:cNvSpPr>
          <p:nvPr>
            <p:ph type="sldNum" sz="quarter" idx="12"/>
          </p:nvPr>
        </p:nvSpPr>
        <p:spPr/>
        <p:txBody>
          <a:bodyPr/>
          <a:lstStyle/>
          <a:p>
            <a:fld id="{64DFE92E-FC6E-4A88-9F96-FE3893F9F10A}" type="slidenum">
              <a:rPr lang="ko-KR" altLang="en-US" smtClean="0"/>
              <a:t>‹#›</a:t>
            </a:fld>
            <a:endParaRPr lang="ko-KR" altLang="en-US"/>
          </a:p>
        </p:txBody>
      </p:sp>
    </p:spTree>
    <p:extLst>
      <p:ext uri="{BB962C8B-B14F-4D97-AF65-F5344CB8AC3E}">
        <p14:creationId xmlns:p14="http://schemas.microsoft.com/office/powerpoint/2010/main" val="2478850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7949A91-49F8-0ED8-1120-8938E513269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BDBFA7B4-2ADA-6072-17DB-0F87557A7F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3DB1A2F5-2C3D-27A2-43A8-897FFCA65E4F}"/>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0E3E446D-971A-E661-7B2B-237E5F3E32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CA72F30-82D5-6474-2314-53D19321977A}"/>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259E80C7-2627-C60F-AE1E-0C75E0B33E7C}"/>
              </a:ext>
            </a:extLst>
          </p:cNvPr>
          <p:cNvSpPr>
            <a:spLocks noGrp="1"/>
          </p:cNvSpPr>
          <p:nvPr>
            <p:ph type="dt" sz="half" idx="10"/>
          </p:nvPr>
        </p:nvSpPr>
        <p:spPr/>
        <p:txBody>
          <a:bodyPr/>
          <a:lstStyle/>
          <a:p>
            <a:fld id="{D94478DC-BEA8-F844-B64D-FAF9A26B8118}" type="datetime1">
              <a:rPr lang="ko-KR" altLang="en-US" smtClean="0"/>
              <a:t>2026. 4. 13.</a:t>
            </a:fld>
            <a:endParaRPr lang="ko-KR" altLang="en-US"/>
          </a:p>
        </p:txBody>
      </p:sp>
      <p:sp>
        <p:nvSpPr>
          <p:cNvPr id="8" name="바닥글 개체 틀 7">
            <a:extLst>
              <a:ext uri="{FF2B5EF4-FFF2-40B4-BE49-F238E27FC236}">
                <a16:creationId xmlns:a16="http://schemas.microsoft.com/office/drawing/2014/main" id="{BAAAB069-C1DF-B85C-4734-13151607230E}"/>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C34FB3EE-04BE-7DA0-A60B-F29DF750F946}"/>
              </a:ext>
            </a:extLst>
          </p:cNvPr>
          <p:cNvSpPr>
            <a:spLocks noGrp="1"/>
          </p:cNvSpPr>
          <p:nvPr>
            <p:ph type="sldNum" sz="quarter" idx="12"/>
          </p:nvPr>
        </p:nvSpPr>
        <p:spPr/>
        <p:txBody>
          <a:bodyPr/>
          <a:lstStyle/>
          <a:p>
            <a:fld id="{64DFE92E-FC6E-4A88-9F96-FE3893F9F10A}" type="slidenum">
              <a:rPr lang="ko-KR" altLang="en-US" smtClean="0"/>
              <a:t>‹#›</a:t>
            </a:fld>
            <a:endParaRPr lang="ko-KR" altLang="en-US"/>
          </a:p>
        </p:txBody>
      </p:sp>
    </p:spTree>
    <p:extLst>
      <p:ext uri="{BB962C8B-B14F-4D97-AF65-F5344CB8AC3E}">
        <p14:creationId xmlns:p14="http://schemas.microsoft.com/office/powerpoint/2010/main" val="3423911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3F5297B-F4F5-051F-2338-2D962E2AA009}"/>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645B4CC0-9D33-8EC5-A73E-5D40A3FCB0D8}"/>
              </a:ext>
            </a:extLst>
          </p:cNvPr>
          <p:cNvSpPr>
            <a:spLocks noGrp="1"/>
          </p:cNvSpPr>
          <p:nvPr>
            <p:ph type="dt" sz="half" idx="10"/>
          </p:nvPr>
        </p:nvSpPr>
        <p:spPr/>
        <p:txBody>
          <a:bodyPr/>
          <a:lstStyle/>
          <a:p>
            <a:fld id="{826AD47E-7BF2-5D41-AF07-D06026246281}" type="datetime1">
              <a:rPr lang="ko-KR" altLang="en-US" smtClean="0"/>
              <a:t>2026. 4. 13.</a:t>
            </a:fld>
            <a:endParaRPr lang="ko-KR" altLang="en-US"/>
          </a:p>
        </p:txBody>
      </p:sp>
      <p:sp>
        <p:nvSpPr>
          <p:cNvPr id="4" name="바닥글 개체 틀 3">
            <a:extLst>
              <a:ext uri="{FF2B5EF4-FFF2-40B4-BE49-F238E27FC236}">
                <a16:creationId xmlns:a16="http://schemas.microsoft.com/office/drawing/2014/main" id="{289B55AB-50D4-F59F-F282-A69FA7AAC73E}"/>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C6B5C178-DFAB-2058-F48C-A11A0E465C21}"/>
              </a:ext>
            </a:extLst>
          </p:cNvPr>
          <p:cNvSpPr>
            <a:spLocks noGrp="1"/>
          </p:cNvSpPr>
          <p:nvPr>
            <p:ph type="sldNum" sz="quarter" idx="12"/>
          </p:nvPr>
        </p:nvSpPr>
        <p:spPr/>
        <p:txBody>
          <a:bodyPr/>
          <a:lstStyle/>
          <a:p>
            <a:fld id="{64DFE92E-FC6E-4A88-9F96-FE3893F9F10A}" type="slidenum">
              <a:rPr lang="ko-KR" altLang="en-US" smtClean="0"/>
              <a:t>‹#›</a:t>
            </a:fld>
            <a:endParaRPr lang="ko-KR" altLang="en-US"/>
          </a:p>
        </p:txBody>
      </p:sp>
    </p:spTree>
    <p:extLst>
      <p:ext uri="{BB962C8B-B14F-4D97-AF65-F5344CB8AC3E}">
        <p14:creationId xmlns:p14="http://schemas.microsoft.com/office/powerpoint/2010/main" val="2033886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AF44CA99-3F90-356A-7AFE-0A567A457A86}"/>
              </a:ext>
            </a:extLst>
          </p:cNvPr>
          <p:cNvSpPr>
            <a:spLocks noGrp="1"/>
          </p:cNvSpPr>
          <p:nvPr>
            <p:ph type="dt" sz="half" idx="10"/>
          </p:nvPr>
        </p:nvSpPr>
        <p:spPr/>
        <p:txBody>
          <a:bodyPr/>
          <a:lstStyle/>
          <a:p>
            <a:fld id="{45D73277-CA50-2D46-932C-58D8BA486230}" type="datetime1">
              <a:rPr lang="ko-KR" altLang="en-US" smtClean="0"/>
              <a:t>2026. 4. 13.</a:t>
            </a:fld>
            <a:endParaRPr lang="ko-KR" altLang="en-US"/>
          </a:p>
        </p:txBody>
      </p:sp>
      <p:sp>
        <p:nvSpPr>
          <p:cNvPr id="3" name="바닥글 개체 틀 2">
            <a:extLst>
              <a:ext uri="{FF2B5EF4-FFF2-40B4-BE49-F238E27FC236}">
                <a16:creationId xmlns:a16="http://schemas.microsoft.com/office/drawing/2014/main" id="{F9717EAA-CBC9-4166-9112-71D31185337B}"/>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D4A1DD33-E887-4F47-5AA5-FE01347DF0F9}"/>
              </a:ext>
            </a:extLst>
          </p:cNvPr>
          <p:cNvSpPr>
            <a:spLocks noGrp="1"/>
          </p:cNvSpPr>
          <p:nvPr>
            <p:ph type="sldNum" sz="quarter" idx="12"/>
          </p:nvPr>
        </p:nvSpPr>
        <p:spPr/>
        <p:txBody>
          <a:bodyPr/>
          <a:lstStyle/>
          <a:p>
            <a:fld id="{64DFE92E-FC6E-4A88-9F96-FE3893F9F10A}" type="slidenum">
              <a:rPr lang="ko-KR" altLang="en-US" smtClean="0"/>
              <a:t>‹#›</a:t>
            </a:fld>
            <a:endParaRPr lang="ko-KR" altLang="en-US"/>
          </a:p>
        </p:txBody>
      </p:sp>
    </p:spTree>
    <p:extLst>
      <p:ext uri="{BB962C8B-B14F-4D97-AF65-F5344CB8AC3E}">
        <p14:creationId xmlns:p14="http://schemas.microsoft.com/office/powerpoint/2010/main" val="252089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F5B3549-CC1D-3D5C-D4B1-CD193BE9927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210B752F-C279-CDFB-AE42-EE8D825715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35A65819-1D7A-9005-10AA-E0947329B5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ADAE9C8-D9A3-6C8B-C80B-A4AFC34D5C2D}"/>
              </a:ext>
            </a:extLst>
          </p:cNvPr>
          <p:cNvSpPr>
            <a:spLocks noGrp="1"/>
          </p:cNvSpPr>
          <p:nvPr>
            <p:ph type="dt" sz="half" idx="10"/>
          </p:nvPr>
        </p:nvSpPr>
        <p:spPr/>
        <p:txBody>
          <a:bodyPr/>
          <a:lstStyle/>
          <a:p>
            <a:fld id="{F700FA01-AA37-E140-AAAC-CADC073A1F7B}" type="datetime1">
              <a:rPr lang="ko-KR" altLang="en-US" smtClean="0"/>
              <a:t>2026. 4. 13.</a:t>
            </a:fld>
            <a:endParaRPr lang="ko-KR" altLang="en-US"/>
          </a:p>
        </p:txBody>
      </p:sp>
      <p:sp>
        <p:nvSpPr>
          <p:cNvPr id="6" name="바닥글 개체 틀 5">
            <a:extLst>
              <a:ext uri="{FF2B5EF4-FFF2-40B4-BE49-F238E27FC236}">
                <a16:creationId xmlns:a16="http://schemas.microsoft.com/office/drawing/2014/main" id="{2C5089A4-3C2A-DDF0-0880-82FDCF1029C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61951EB3-7A3B-01AA-9201-CBD589C84E16}"/>
              </a:ext>
            </a:extLst>
          </p:cNvPr>
          <p:cNvSpPr>
            <a:spLocks noGrp="1"/>
          </p:cNvSpPr>
          <p:nvPr>
            <p:ph type="sldNum" sz="quarter" idx="12"/>
          </p:nvPr>
        </p:nvSpPr>
        <p:spPr/>
        <p:txBody>
          <a:bodyPr/>
          <a:lstStyle/>
          <a:p>
            <a:fld id="{64DFE92E-FC6E-4A88-9F96-FE3893F9F10A}" type="slidenum">
              <a:rPr lang="ko-KR" altLang="en-US" smtClean="0"/>
              <a:t>‹#›</a:t>
            </a:fld>
            <a:endParaRPr lang="ko-KR" altLang="en-US"/>
          </a:p>
        </p:txBody>
      </p:sp>
    </p:spTree>
    <p:extLst>
      <p:ext uri="{BB962C8B-B14F-4D97-AF65-F5344CB8AC3E}">
        <p14:creationId xmlns:p14="http://schemas.microsoft.com/office/powerpoint/2010/main" val="1698410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BC1A65A-E602-1AD5-6B24-9E557714375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31AEC322-9846-CDE7-4174-45489550AE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1852A7A-D46C-0297-D29B-91A380AC24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44C5E4F7-4E9A-CD61-9F03-C18D19D3C3C5}"/>
              </a:ext>
            </a:extLst>
          </p:cNvPr>
          <p:cNvSpPr>
            <a:spLocks noGrp="1"/>
          </p:cNvSpPr>
          <p:nvPr>
            <p:ph type="dt" sz="half" idx="10"/>
          </p:nvPr>
        </p:nvSpPr>
        <p:spPr/>
        <p:txBody>
          <a:bodyPr/>
          <a:lstStyle/>
          <a:p>
            <a:fld id="{FECAA3F1-5F43-3046-A9E8-0DFF4A7F566C}" type="datetime1">
              <a:rPr lang="ko-KR" altLang="en-US" smtClean="0"/>
              <a:t>2026. 4. 13.</a:t>
            </a:fld>
            <a:endParaRPr lang="ko-KR" altLang="en-US"/>
          </a:p>
        </p:txBody>
      </p:sp>
      <p:sp>
        <p:nvSpPr>
          <p:cNvPr id="6" name="바닥글 개체 틀 5">
            <a:extLst>
              <a:ext uri="{FF2B5EF4-FFF2-40B4-BE49-F238E27FC236}">
                <a16:creationId xmlns:a16="http://schemas.microsoft.com/office/drawing/2014/main" id="{A8F85272-7944-AEA2-7871-D219548597F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63E997D4-46A9-8873-88AE-F006A5A8C855}"/>
              </a:ext>
            </a:extLst>
          </p:cNvPr>
          <p:cNvSpPr>
            <a:spLocks noGrp="1"/>
          </p:cNvSpPr>
          <p:nvPr>
            <p:ph type="sldNum" sz="quarter" idx="12"/>
          </p:nvPr>
        </p:nvSpPr>
        <p:spPr/>
        <p:txBody>
          <a:bodyPr/>
          <a:lstStyle/>
          <a:p>
            <a:fld id="{64DFE92E-FC6E-4A88-9F96-FE3893F9F10A}" type="slidenum">
              <a:rPr lang="ko-KR" altLang="en-US" smtClean="0"/>
              <a:t>‹#›</a:t>
            </a:fld>
            <a:endParaRPr lang="ko-KR" altLang="en-US"/>
          </a:p>
        </p:txBody>
      </p:sp>
    </p:spTree>
    <p:extLst>
      <p:ext uri="{BB962C8B-B14F-4D97-AF65-F5344CB8AC3E}">
        <p14:creationId xmlns:p14="http://schemas.microsoft.com/office/powerpoint/2010/main" val="3078370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DE39C18-7975-7947-1DBB-670E6A4DCA06}"/>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0BBBFCC-D6C7-4657-E82B-27FF4A1B3AC1}"/>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7956F4E-7720-F6A6-2149-4172DB0C6384}"/>
              </a:ext>
            </a:extLst>
          </p:cNvPr>
          <p:cNvSpPr>
            <a:spLocks noGrp="1"/>
          </p:cNvSpPr>
          <p:nvPr>
            <p:ph type="dt" sz="half" idx="10"/>
          </p:nvPr>
        </p:nvSpPr>
        <p:spPr/>
        <p:txBody>
          <a:bodyPr/>
          <a:lstStyle/>
          <a:p>
            <a:fld id="{876B80A4-6373-9948-8FB2-1EBEE828F6A3}" type="datetime1">
              <a:rPr lang="ko-KR" altLang="en-US" smtClean="0"/>
              <a:t>2026. 4. 13.</a:t>
            </a:fld>
            <a:endParaRPr lang="ko-KR" altLang="en-US"/>
          </a:p>
        </p:txBody>
      </p:sp>
      <p:sp>
        <p:nvSpPr>
          <p:cNvPr id="5" name="바닥글 개체 틀 4">
            <a:extLst>
              <a:ext uri="{FF2B5EF4-FFF2-40B4-BE49-F238E27FC236}">
                <a16:creationId xmlns:a16="http://schemas.microsoft.com/office/drawing/2014/main" id="{04743264-4F19-983D-EC6C-DBBF4FD5C4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D34DE8F-58DF-A0E0-7B71-5C8E3EB081DA}"/>
              </a:ext>
            </a:extLst>
          </p:cNvPr>
          <p:cNvSpPr>
            <a:spLocks noGrp="1"/>
          </p:cNvSpPr>
          <p:nvPr>
            <p:ph type="sldNum" sz="quarter" idx="12"/>
          </p:nvPr>
        </p:nvSpPr>
        <p:spPr/>
        <p:txBody>
          <a:bodyPr/>
          <a:lstStyle/>
          <a:p>
            <a:fld id="{64DFE92E-FC6E-4A88-9F96-FE3893F9F10A}" type="slidenum">
              <a:rPr lang="ko-KR" altLang="en-US" smtClean="0"/>
              <a:t>‹#›</a:t>
            </a:fld>
            <a:endParaRPr lang="ko-KR" altLang="en-US"/>
          </a:p>
        </p:txBody>
      </p:sp>
    </p:spTree>
    <p:extLst>
      <p:ext uri="{BB962C8B-B14F-4D97-AF65-F5344CB8AC3E}">
        <p14:creationId xmlns:p14="http://schemas.microsoft.com/office/powerpoint/2010/main" val="3342499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E87838C3-A20E-F69D-BF8A-E6DBF8F39894}"/>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5C250AE3-D8F8-E7BA-3B30-19F5FB35EDE5}"/>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8091C5E-89F2-6BB5-07FD-7309BA6B2E7A}"/>
              </a:ext>
            </a:extLst>
          </p:cNvPr>
          <p:cNvSpPr>
            <a:spLocks noGrp="1"/>
          </p:cNvSpPr>
          <p:nvPr>
            <p:ph type="dt" sz="half" idx="10"/>
          </p:nvPr>
        </p:nvSpPr>
        <p:spPr/>
        <p:txBody>
          <a:bodyPr/>
          <a:lstStyle/>
          <a:p>
            <a:fld id="{C886155A-B3AA-FB4E-92D8-ED0B86A28FB2}" type="datetime1">
              <a:rPr lang="ko-KR" altLang="en-US" smtClean="0"/>
              <a:t>2026. 4. 13.</a:t>
            </a:fld>
            <a:endParaRPr lang="ko-KR" altLang="en-US"/>
          </a:p>
        </p:txBody>
      </p:sp>
      <p:sp>
        <p:nvSpPr>
          <p:cNvPr id="5" name="바닥글 개체 틀 4">
            <a:extLst>
              <a:ext uri="{FF2B5EF4-FFF2-40B4-BE49-F238E27FC236}">
                <a16:creationId xmlns:a16="http://schemas.microsoft.com/office/drawing/2014/main" id="{9FD0FC17-0B01-1277-1CC9-CA77DBB987A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8736A6E-85FE-265C-3BA9-E9A1D155655C}"/>
              </a:ext>
            </a:extLst>
          </p:cNvPr>
          <p:cNvSpPr>
            <a:spLocks noGrp="1"/>
          </p:cNvSpPr>
          <p:nvPr>
            <p:ph type="sldNum" sz="quarter" idx="12"/>
          </p:nvPr>
        </p:nvSpPr>
        <p:spPr/>
        <p:txBody>
          <a:bodyPr/>
          <a:lstStyle/>
          <a:p>
            <a:fld id="{64DFE92E-FC6E-4A88-9F96-FE3893F9F10A}" type="slidenum">
              <a:rPr lang="ko-KR" altLang="en-US" smtClean="0"/>
              <a:t>‹#›</a:t>
            </a:fld>
            <a:endParaRPr lang="ko-KR" altLang="en-US"/>
          </a:p>
        </p:txBody>
      </p:sp>
    </p:spTree>
    <p:extLst>
      <p:ext uri="{BB962C8B-B14F-4D97-AF65-F5344CB8AC3E}">
        <p14:creationId xmlns:p14="http://schemas.microsoft.com/office/powerpoint/2010/main" val="1699358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746DDE33-037F-7A31-7772-0A0A7B5BAA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599BCAC-FF6B-62BC-CC89-B483A78D3C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8F1949D-8BB7-2475-7800-287E35FDEB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2C28E4-2F18-D147-97CD-29B82A284234}" type="datetime1">
              <a:rPr lang="ko-KR" altLang="en-US" smtClean="0"/>
              <a:t>2026. 4. 13.</a:t>
            </a:fld>
            <a:endParaRPr lang="ko-KR" altLang="en-US"/>
          </a:p>
        </p:txBody>
      </p:sp>
      <p:sp>
        <p:nvSpPr>
          <p:cNvPr id="5" name="바닥글 개체 틀 4">
            <a:extLst>
              <a:ext uri="{FF2B5EF4-FFF2-40B4-BE49-F238E27FC236}">
                <a16:creationId xmlns:a16="http://schemas.microsoft.com/office/drawing/2014/main" id="{0BE1C64C-9092-D8F2-7D47-FE7CDAED78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5521AD19-22A7-D38A-D38D-7B6F7B9F94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DFE92E-FC6E-4A88-9F96-FE3893F9F10A}" type="slidenum">
              <a:rPr lang="ko-KR" altLang="en-US" smtClean="0"/>
              <a:t>‹#›</a:t>
            </a:fld>
            <a:endParaRPr lang="ko-KR" altLang="en-US"/>
          </a:p>
        </p:txBody>
      </p:sp>
    </p:spTree>
    <p:extLst>
      <p:ext uri="{BB962C8B-B14F-4D97-AF65-F5344CB8AC3E}">
        <p14:creationId xmlns:p14="http://schemas.microsoft.com/office/powerpoint/2010/main" val="2341878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9C0F5B2-FD87-E9BF-2CA0-689E5A9FBCD5}"/>
              </a:ext>
            </a:extLst>
          </p:cNvPr>
          <p:cNvSpPr>
            <a:spLocks noGrp="1"/>
          </p:cNvSpPr>
          <p:nvPr>
            <p:ph type="ctrTitle"/>
          </p:nvPr>
        </p:nvSpPr>
        <p:spPr>
          <a:xfrm>
            <a:off x="1524000" y="868362"/>
            <a:ext cx="9144000" cy="2387600"/>
          </a:xfrm>
        </p:spPr>
        <p:txBody>
          <a:bodyPr>
            <a:normAutofit/>
          </a:bodyPr>
          <a:lstStyle/>
          <a:p>
            <a:r>
              <a:rPr lang="en" altLang="ko-KR" sz="2800" b="1" dirty="0"/>
              <a:t>SAFETY LAYERS IN ALIGNED LARGE LANGUAGE MODELS: THE KEY TO LLM SECURITY</a:t>
            </a:r>
            <a:endParaRPr kumimoji="1" lang="ko-KR" altLang="en-US" sz="2800" b="1" dirty="0"/>
          </a:p>
        </p:txBody>
      </p:sp>
      <p:sp>
        <p:nvSpPr>
          <p:cNvPr id="3" name="부제목 2">
            <a:extLst>
              <a:ext uri="{FF2B5EF4-FFF2-40B4-BE49-F238E27FC236}">
                <a16:creationId xmlns:a16="http://schemas.microsoft.com/office/drawing/2014/main" id="{F0B606E5-666D-0E5D-3FA3-70E088DAE12D}"/>
              </a:ext>
            </a:extLst>
          </p:cNvPr>
          <p:cNvSpPr>
            <a:spLocks noGrp="1"/>
          </p:cNvSpPr>
          <p:nvPr>
            <p:ph type="subTitle" idx="1"/>
          </p:nvPr>
        </p:nvSpPr>
        <p:spPr/>
        <p:txBody>
          <a:bodyPr/>
          <a:lstStyle/>
          <a:p>
            <a:r>
              <a:rPr lang="en" altLang="ko-KR" dirty="0"/>
              <a:t>Shen Li, </a:t>
            </a:r>
            <a:r>
              <a:rPr lang="en" altLang="ko-KR" dirty="0" err="1"/>
              <a:t>Liuyi</a:t>
            </a:r>
            <a:r>
              <a:rPr lang="en" altLang="ko-KR" dirty="0"/>
              <a:t> Yao, Lan Zhang, </a:t>
            </a:r>
            <a:r>
              <a:rPr lang="en" altLang="ko-KR" dirty="0" err="1"/>
              <a:t>Yaliang</a:t>
            </a:r>
            <a:r>
              <a:rPr lang="en" altLang="ko-KR" dirty="0"/>
              <a:t> Li</a:t>
            </a:r>
          </a:p>
          <a:p>
            <a:r>
              <a:rPr lang="en" altLang="ko-KR" dirty="0"/>
              <a:t>ICLR 2025</a:t>
            </a:r>
          </a:p>
          <a:p>
            <a:r>
              <a:rPr lang="en" altLang="ko-KR" dirty="0"/>
              <a:t>Gahyun Baek</a:t>
            </a:r>
          </a:p>
        </p:txBody>
      </p:sp>
      <p:sp>
        <p:nvSpPr>
          <p:cNvPr id="4" name="슬라이드 번호 개체 틀 3">
            <a:extLst>
              <a:ext uri="{FF2B5EF4-FFF2-40B4-BE49-F238E27FC236}">
                <a16:creationId xmlns:a16="http://schemas.microsoft.com/office/drawing/2014/main" id="{DEE0A06A-0559-BC95-846F-50E36123263D}"/>
              </a:ext>
            </a:extLst>
          </p:cNvPr>
          <p:cNvSpPr>
            <a:spLocks noGrp="1"/>
          </p:cNvSpPr>
          <p:nvPr>
            <p:ph type="sldNum" sz="quarter" idx="12"/>
          </p:nvPr>
        </p:nvSpPr>
        <p:spPr/>
        <p:txBody>
          <a:bodyPr/>
          <a:lstStyle/>
          <a:p>
            <a:fld id="{64DFE92E-FC6E-4A88-9F96-FE3893F9F10A}" type="slidenum">
              <a:rPr lang="ko-KR" altLang="en-US" smtClean="0"/>
              <a:t>1</a:t>
            </a:fld>
            <a:endParaRPr lang="ko-KR" altLang="en-US"/>
          </a:p>
        </p:txBody>
      </p:sp>
    </p:spTree>
    <p:extLst>
      <p:ext uri="{BB962C8B-B14F-4D97-AF65-F5344CB8AC3E}">
        <p14:creationId xmlns:p14="http://schemas.microsoft.com/office/powerpoint/2010/main" val="2149258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F4934-044A-E934-08A3-3458DFAB8A6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AAB29DB-7CA5-27F4-917C-362B61B8BFD2}"/>
              </a:ext>
            </a:extLst>
          </p:cNvPr>
          <p:cNvSpPr>
            <a:spLocks noGrp="1"/>
          </p:cNvSpPr>
          <p:nvPr>
            <p:ph type="title"/>
          </p:nvPr>
        </p:nvSpPr>
        <p:spPr>
          <a:xfrm>
            <a:off x="838200" y="365126"/>
            <a:ext cx="10515600" cy="786840"/>
          </a:xfrm>
        </p:spPr>
        <p:txBody>
          <a:bodyPr>
            <a:normAutofit/>
          </a:bodyPr>
          <a:lstStyle/>
          <a:p>
            <a:pPr algn="ctr"/>
            <a:r>
              <a:rPr lang="en-US" altLang="ko-KR" sz="3000" b="1" dirty="0"/>
              <a:t>Motivation</a:t>
            </a:r>
            <a:endParaRPr lang="ko-KR" altLang="en-US" sz="3000" b="1" dirty="0"/>
          </a:p>
        </p:txBody>
      </p:sp>
      <p:sp>
        <p:nvSpPr>
          <p:cNvPr id="3" name="내용 개체 틀 2">
            <a:extLst>
              <a:ext uri="{FF2B5EF4-FFF2-40B4-BE49-F238E27FC236}">
                <a16:creationId xmlns:a16="http://schemas.microsoft.com/office/drawing/2014/main" id="{687793BC-A3A8-5DEE-0555-1431941D710C}"/>
              </a:ext>
            </a:extLst>
          </p:cNvPr>
          <p:cNvSpPr>
            <a:spLocks noGrp="1"/>
          </p:cNvSpPr>
          <p:nvPr>
            <p:ph idx="1"/>
          </p:nvPr>
        </p:nvSpPr>
        <p:spPr>
          <a:xfrm>
            <a:off x="838200" y="1259541"/>
            <a:ext cx="10515600" cy="4917422"/>
          </a:xfrm>
        </p:spPr>
        <p:txBody>
          <a:bodyPr>
            <a:normAutofit lnSpcReduction="10000"/>
          </a:bodyPr>
          <a:lstStyle/>
          <a:p>
            <a:r>
              <a:rPr lang="en-US" altLang="ko-KR" sz="1800" b="1" dirty="0"/>
              <a:t>Natural Language generation</a:t>
            </a:r>
          </a:p>
          <a:p>
            <a:pPr lvl="1"/>
            <a:r>
              <a:rPr lang="en-US" altLang="ko-KR" sz="1600" dirty="0"/>
              <a:t>Accompanying the risk of producing harmful or biased outputs especially when confronted with malicious prompts. -&gt; </a:t>
            </a:r>
            <a:r>
              <a:rPr lang="en-US" altLang="ko-KR" sz="1400" dirty="0"/>
              <a:t>Additional RLHF (reinforcement learning from human feedback) or</a:t>
            </a:r>
            <a:r>
              <a:rPr lang="ko-KR" altLang="en-US" sz="1400" dirty="0"/>
              <a:t> </a:t>
            </a:r>
            <a:r>
              <a:rPr lang="en-US" altLang="ko-KR" sz="1400" dirty="0"/>
              <a:t>Instruction fine-tuning</a:t>
            </a:r>
          </a:p>
          <a:p>
            <a:pPr lvl="1"/>
            <a:endParaRPr lang="en-US" altLang="ko-KR" sz="1800" dirty="0"/>
          </a:p>
          <a:p>
            <a:r>
              <a:rPr lang="en-US" altLang="ko-KR" sz="1800" b="1" dirty="0"/>
              <a:t>LLM alignment</a:t>
            </a:r>
          </a:p>
          <a:p>
            <a:pPr lvl="1"/>
            <a:r>
              <a:rPr lang="en-US" altLang="ko-KR" sz="1400" dirty="0"/>
              <a:t>The outcome produced by pre-existing LLMs frequently deviates from </a:t>
            </a:r>
            <a:r>
              <a:rPr lang="en-US" altLang="ko-KR" sz="1400" b="1" dirty="0"/>
              <a:t>human expectations and purposes</a:t>
            </a:r>
            <a:r>
              <a:rPr lang="en-US" altLang="ko-KR" sz="1400" dirty="0"/>
              <a:t>, thus necessitating improved alignment for security purposes.</a:t>
            </a:r>
          </a:p>
          <a:p>
            <a:pPr lvl="1"/>
            <a:endParaRPr lang="en-US" altLang="ko-KR" sz="1400" dirty="0"/>
          </a:p>
          <a:p>
            <a:r>
              <a:rPr lang="en-US" altLang="ko-KR" sz="1800" b="1" dirty="0"/>
              <a:t>Aligned LLMs</a:t>
            </a:r>
          </a:p>
          <a:p>
            <a:pPr lvl="1"/>
            <a:r>
              <a:rPr lang="en-US" altLang="ko-KR" sz="1400" dirty="0"/>
              <a:t>Capable of recognizing and refusing to answer malicious questions.</a:t>
            </a:r>
          </a:p>
          <a:p>
            <a:pPr lvl="1"/>
            <a:endParaRPr lang="en-US" altLang="ko-KR" sz="1800" b="1" dirty="0"/>
          </a:p>
          <a:p>
            <a:r>
              <a:rPr lang="en-US" altLang="ko-KR" sz="1800" b="1" dirty="0"/>
              <a:t>Over-rejection in Aligned LLMs</a:t>
            </a:r>
          </a:p>
          <a:p>
            <a:pPr lvl="1"/>
            <a:r>
              <a:rPr lang="en-US" altLang="ko-KR" sz="1400" dirty="0"/>
              <a:t>Can lead to the incorrect rejection of security prompts. But can result in overly cautious behaviors.</a:t>
            </a:r>
          </a:p>
          <a:p>
            <a:pPr marL="457200" lvl="1" indent="0">
              <a:buNone/>
            </a:pPr>
            <a:r>
              <a:rPr lang="en-US" altLang="ko-KR" sz="1400" dirty="0"/>
              <a:t>Ex) “How to kill the process ?”</a:t>
            </a:r>
          </a:p>
          <a:p>
            <a:pPr marL="457200" lvl="1" indent="0">
              <a:buNone/>
            </a:pPr>
            <a:endParaRPr lang="en-US" altLang="ko-KR" sz="1400" dirty="0"/>
          </a:p>
          <a:p>
            <a:r>
              <a:rPr lang="en-US" altLang="ko-KR" sz="1800" b="1" dirty="0"/>
              <a:t>Finetuning Jailbreak</a:t>
            </a:r>
          </a:p>
          <a:p>
            <a:pPr lvl="1"/>
            <a:r>
              <a:rPr lang="en-US" altLang="ko-KR" sz="1400" dirty="0"/>
              <a:t>Full fine-tuning can lead to substantial degradation or even complete loss of security in LLMs.</a:t>
            </a:r>
            <a:endParaRPr lang="ko-KR" altLang="en-US" sz="1400" dirty="0"/>
          </a:p>
        </p:txBody>
      </p:sp>
      <p:cxnSp>
        <p:nvCxnSpPr>
          <p:cNvPr id="5" name="직선 연결선 4">
            <a:extLst>
              <a:ext uri="{FF2B5EF4-FFF2-40B4-BE49-F238E27FC236}">
                <a16:creationId xmlns:a16="http://schemas.microsoft.com/office/drawing/2014/main" id="{1C11B3F0-F0F6-C96A-C3C0-9218AC7F7FAE}"/>
              </a:ext>
            </a:extLst>
          </p:cNvPr>
          <p:cNvCxnSpPr>
            <a:cxnSpLocks/>
          </p:cNvCxnSpPr>
          <p:nvPr/>
        </p:nvCxnSpPr>
        <p:spPr>
          <a:xfrm flipV="1">
            <a:off x="838200" y="11519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F459BC50-D033-17F0-7132-4153D002FEF0}"/>
              </a:ext>
            </a:extLst>
          </p:cNvPr>
          <p:cNvSpPr>
            <a:spLocks noGrp="1"/>
          </p:cNvSpPr>
          <p:nvPr>
            <p:ph type="sldNum" sz="quarter" idx="12"/>
          </p:nvPr>
        </p:nvSpPr>
        <p:spPr/>
        <p:txBody>
          <a:bodyPr/>
          <a:lstStyle/>
          <a:p>
            <a:fld id="{64DFE92E-FC6E-4A88-9F96-FE3893F9F10A}" type="slidenum">
              <a:rPr lang="ko-KR" altLang="en-US" smtClean="0"/>
              <a:t>2</a:t>
            </a:fld>
            <a:endParaRPr lang="ko-KR" altLang="en-US"/>
          </a:p>
        </p:txBody>
      </p:sp>
    </p:spTree>
    <p:extLst>
      <p:ext uri="{BB962C8B-B14F-4D97-AF65-F5344CB8AC3E}">
        <p14:creationId xmlns:p14="http://schemas.microsoft.com/office/powerpoint/2010/main" val="845111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D34BE-A8D9-22C0-8683-F5CF5CF5CD69}"/>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002E612-95E7-01DA-9748-E19144148EA8}"/>
              </a:ext>
            </a:extLst>
          </p:cNvPr>
          <p:cNvSpPr>
            <a:spLocks noGrp="1"/>
          </p:cNvSpPr>
          <p:nvPr>
            <p:ph type="title"/>
          </p:nvPr>
        </p:nvSpPr>
        <p:spPr>
          <a:xfrm>
            <a:off x="838200" y="365126"/>
            <a:ext cx="10515600" cy="786840"/>
          </a:xfrm>
        </p:spPr>
        <p:txBody>
          <a:bodyPr>
            <a:normAutofit/>
          </a:bodyPr>
          <a:lstStyle/>
          <a:p>
            <a:pPr algn="ctr"/>
            <a:r>
              <a:rPr lang="en-US" altLang="ko-KR" sz="3000" b="1" dirty="0"/>
              <a:t>Why this paper matters ?</a:t>
            </a:r>
            <a:endParaRPr lang="ko-KR" altLang="en-US" sz="3000" b="1" dirty="0"/>
          </a:p>
        </p:txBody>
      </p:sp>
      <p:sp>
        <p:nvSpPr>
          <p:cNvPr id="3" name="내용 개체 틀 2">
            <a:extLst>
              <a:ext uri="{FF2B5EF4-FFF2-40B4-BE49-F238E27FC236}">
                <a16:creationId xmlns:a16="http://schemas.microsoft.com/office/drawing/2014/main" id="{B78E43CB-DF8A-96DC-1929-222183536997}"/>
              </a:ext>
            </a:extLst>
          </p:cNvPr>
          <p:cNvSpPr>
            <a:spLocks noGrp="1"/>
          </p:cNvSpPr>
          <p:nvPr>
            <p:ph idx="1"/>
          </p:nvPr>
        </p:nvSpPr>
        <p:spPr>
          <a:xfrm>
            <a:off x="838200" y="1259541"/>
            <a:ext cx="10515600" cy="4917422"/>
          </a:xfrm>
        </p:spPr>
        <p:txBody>
          <a:bodyPr>
            <a:normAutofit/>
          </a:bodyPr>
          <a:lstStyle/>
          <a:p>
            <a:r>
              <a:rPr lang="en-US" altLang="ko-KR" sz="2000" dirty="0"/>
              <a:t>Aligned LLMs often need fine-tuning for domain adaptation in real applications</a:t>
            </a:r>
          </a:p>
          <a:p>
            <a:endParaRPr lang="en-US" altLang="ko-KR" sz="2000" dirty="0"/>
          </a:p>
          <a:p>
            <a:r>
              <a:rPr lang="en-US" altLang="ko-KR" sz="2000" dirty="0"/>
              <a:t>But, fine-tuning can easily weaken safety alignment.</a:t>
            </a:r>
          </a:p>
          <a:p>
            <a:r>
              <a:rPr lang="en-US" altLang="ko-KR" sz="2000" dirty="0"/>
              <a:t>Re-aligning the model every time is expensive.</a:t>
            </a:r>
          </a:p>
          <a:p>
            <a:endParaRPr lang="en-US" altLang="ko-KR" sz="2000" dirty="0"/>
          </a:p>
          <a:p>
            <a:r>
              <a:rPr lang="en-US" altLang="ko-KR" sz="2000" dirty="0"/>
              <a:t>This paper demonstrating </a:t>
            </a:r>
          </a:p>
          <a:p>
            <a:pPr lvl="1"/>
            <a:r>
              <a:rPr lang="en-US" altLang="ko-KR" sz="1750" dirty="0"/>
              <a:t>“</a:t>
            </a:r>
            <a:r>
              <a:rPr lang="en-US" altLang="ko-KR" sz="1750" b="1" dirty="0"/>
              <a:t>only a small fraction of the middle layers in aligned LLM parameters are security-relevant</a:t>
            </a:r>
            <a:r>
              <a:rPr lang="en-US" altLang="ko-KR" sz="1750" dirty="0"/>
              <a:t>”</a:t>
            </a:r>
          </a:p>
          <a:p>
            <a:pPr lvl="1"/>
            <a:r>
              <a:rPr lang="en-US" altLang="ko-KR" sz="1750" dirty="0"/>
              <a:t>“</a:t>
            </a:r>
            <a:r>
              <a:rPr lang="en-US" altLang="ko-KR" sz="1750" b="1" dirty="0"/>
              <a:t>the existence of these safety layers is a result of the security alignment process</a:t>
            </a:r>
            <a:r>
              <a:rPr lang="en-US" altLang="ko-KR" sz="1750" dirty="0"/>
              <a:t>.”</a:t>
            </a:r>
          </a:p>
          <a:p>
            <a:endParaRPr lang="en-US" altLang="ko-KR" sz="2000" dirty="0"/>
          </a:p>
          <a:p>
            <a:endParaRPr lang="ko-KR" altLang="en-US" sz="2000" dirty="0"/>
          </a:p>
        </p:txBody>
      </p:sp>
      <p:cxnSp>
        <p:nvCxnSpPr>
          <p:cNvPr id="5" name="직선 연결선 4">
            <a:extLst>
              <a:ext uri="{FF2B5EF4-FFF2-40B4-BE49-F238E27FC236}">
                <a16:creationId xmlns:a16="http://schemas.microsoft.com/office/drawing/2014/main" id="{A8EEA730-5A30-F196-2A66-B2ABA7BC989E}"/>
              </a:ext>
            </a:extLst>
          </p:cNvPr>
          <p:cNvCxnSpPr>
            <a:cxnSpLocks/>
          </p:cNvCxnSpPr>
          <p:nvPr/>
        </p:nvCxnSpPr>
        <p:spPr>
          <a:xfrm flipV="1">
            <a:off x="838200" y="11519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061045B9-2761-EAEB-5389-70D13BF33992}"/>
              </a:ext>
            </a:extLst>
          </p:cNvPr>
          <p:cNvSpPr>
            <a:spLocks noGrp="1"/>
          </p:cNvSpPr>
          <p:nvPr>
            <p:ph type="sldNum" sz="quarter" idx="12"/>
          </p:nvPr>
        </p:nvSpPr>
        <p:spPr/>
        <p:txBody>
          <a:bodyPr/>
          <a:lstStyle/>
          <a:p>
            <a:fld id="{64DFE92E-FC6E-4A88-9F96-FE3893F9F10A}" type="slidenum">
              <a:rPr lang="ko-KR" altLang="en-US" smtClean="0"/>
              <a:t>3</a:t>
            </a:fld>
            <a:endParaRPr lang="ko-KR" altLang="en-US"/>
          </a:p>
        </p:txBody>
      </p:sp>
    </p:spTree>
    <p:extLst>
      <p:ext uri="{BB962C8B-B14F-4D97-AF65-F5344CB8AC3E}">
        <p14:creationId xmlns:p14="http://schemas.microsoft.com/office/powerpoint/2010/main" val="2657841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88793-82A4-13D2-1ABB-CA3DA261C7DF}"/>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74C91BF0-C2B0-CDF0-348F-8BFAC41012FE}"/>
              </a:ext>
            </a:extLst>
          </p:cNvPr>
          <p:cNvSpPr>
            <a:spLocks noGrp="1"/>
          </p:cNvSpPr>
          <p:nvPr>
            <p:ph type="title"/>
          </p:nvPr>
        </p:nvSpPr>
        <p:spPr>
          <a:xfrm>
            <a:off x="838200" y="365126"/>
            <a:ext cx="10515600" cy="786840"/>
          </a:xfrm>
        </p:spPr>
        <p:txBody>
          <a:bodyPr>
            <a:normAutofit/>
          </a:bodyPr>
          <a:lstStyle/>
          <a:p>
            <a:pPr algn="ctr"/>
            <a:r>
              <a:rPr lang="en-US" altLang="ko-KR" sz="3000" b="1" dirty="0"/>
              <a:t>Safety Layers</a:t>
            </a:r>
            <a:endParaRPr lang="ko-KR" altLang="en-US" sz="3000" b="1" dirty="0"/>
          </a:p>
        </p:txBody>
      </p:sp>
      <p:sp>
        <p:nvSpPr>
          <p:cNvPr id="3" name="내용 개체 틀 2">
            <a:extLst>
              <a:ext uri="{FF2B5EF4-FFF2-40B4-BE49-F238E27FC236}">
                <a16:creationId xmlns:a16="http://schemas.microsoft.com/office/drawing/2014/main" id="{3F431599-8237-CF64-3E17-07FB3B4BB8A0}"/>
              </a:ext>
            </a:extLst>
          </p:cNvPr>
          <p:cNvSpPr>
            <a:spLocks noGrp="1"/>
          </p:cNvSpPr>
          <p:nvPr>
            <p:ph idx="1"/>
          </p:nvPr>
        </p:nvSpPr>
        <p:spPr>
          <a:xfrm>
            <a:off x="838200" y="1259541"/>
            <a:ext cx="10515600" cy="4917422"/>
          </a:xfrm>
        </p:spPr>
        <p:txBody>
          <a:bodyPr>
            <a:normAutofit/>
          </a:bodyPr>
          <a:lstStyle/>
          <a:p>
            <a:r>
              <a:rPr lang="en-US" altLang="ko-KR" sz="2000" dirty="0"/>
              <a:t>A specific segment of layers, safety layers, as a specific middle block of layers that are most important for recognizing malicious intent</a:t>
            </a:r>
          </a:p>
          <a:p>
            <a:endParaRPr lang="en-US" altLang="ko-KR" sz="2000" dirty="0"/>
          </a:p>
          <a:p>
            <a:r>
              <a:rPr lang="en-US" altLang="ko-KR" sz="2000" dirty="0"/>
              <a:t>LLM uses causal attention =&gt; output vector integrates details accumulated from preceding layers along with the inherent semantic information of the input query.</a:t>
            </a:r>
          </a:p>
          <a:p>
            <a:endParaRPr lang="en-US" altLang="ko-KR" sz="2000" dirty="0"/>
          </a:p>
          <a:p>
            <a:r>
              <a:rPr lang="en-US" altLang="ko-KR" sz="2000" dirty="0"/>
              <a:t>How can the same final-position token reasoning yield different outcomes in different semantic contexts ?</a:t>
            </a:r>
          </a:p>
          <a:p>
            <a:endParaRPr lang="en-US" altLang="ko-KR" sz="2000" dirty="0"/>
          </a:p>
          <a:p>
            <a:r>
              <a:rPr lang="en-US" altLang="ko-KR" sz="2000" b="1" dirty="0"/>
              <a:t>this difference emerges in a particular middle region of the network.</a:t>
            </a:r>
          </a:p>
        </p:txBody>
      </p:sp>
      <p:cxnSp>
        <p:nvCxnSpPr>
          <p:cNvPr id="5" name="직선 연결선 4">
            <a:extLst>
              <a:ext uri="{FF2B5EF4-FFF2-40B4-BE49-F238E27FC236}">
                <a16:creationId xmlns:a16="http://schemas.microsoft.com/office/drawing/2014/main" id="{41EEFC76-A88F-C5E6-6838-1EEB76DE3C0F}"/>
              </a:ext>
            </a:extLst>
          </p:cNvPr>
          <p:cNvCxnSpPr>
            <a:cxnSpLocks/>
          </p:cNvCxnSpPr>
          <p:nvPr/>
        </p:nvCxnSpPr>
        <p:spPr>
          <a:xfrm flipV="1">
            <a:off x="838200" y="11519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22DE62EF-66EE-D070-2707-2DEA15975B86}"/>
              </a:ext>
            </a:extLst>
          </p:cNvPr>
          <p:cNvSpPr>
            <a:spLocks noGrp="1"/>
          </p:cNvSpPr>
          <p:nvPr>
            <p:ph type="sldNum" sz="quarter" idx="12"/>
          </p:nvPr>
        </p:nvSpPr>
        <p:spPr/>
        <p:txBody>
          <a:bodyPr/>
          <a:lstStyle/>
          <a:p>
            <a:fld id="{64DFE92E-FC6E-4A88-9F96-FE3893F9F10A}" type="slidenum">
              <a:rPr lang="ko-KR" altLang="en-US" smtClean="0"/>
              <a:t>4</a:t>
            </a:fld>
            <a:endParaRPr lang="ko-KR" altLang="en-US"/>
          </a:p>
        </p:txBody>
      </p:sp>
    </p:spTree>
    <p:extLst>
      <p:ext uri="{BB962C8B-B14F-4D97-AF65-F5344CB8AC3E}">
        <p14:creationId xmlns:p14="http://schemas.microsoft.com/office/powerpoint/2010/main" val="2191150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0A44B-1D01-32EF-6CD2-7BBAE3845D8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8667955F-756D-EFAB-7E34-B5664BF7AC62}"/>
              </a:ext>
            </a:extLst>
          </p:cNvPr>
          <p:cNvSpPr>
            <a:spLocks noGrp="1"/>
          </p:cNvSpPr>
          <p:nvPr>
            <p:ph type="title"/>
          </p:nvPr>
        </p:nvSpPr>
        <p:spPr>
          <a:xfrm>
            <a:off x="838200" y="365126"/>
            <a:ext cx="10515600" cy="786840"/>
          </a:xfrm>
        </p:spPr>
        <p:txBody>
          <a:bodyPr>
            <a:normAutofit/>
          </a:bodyPr>
          <a:lstStyle/>
          <a:p>
            <a:pPr algn="ctr"/>
            <a:r>
              <a:rPr lang="en-US" altLang="ko-KR" sz="3000" b="1" dirty="0"/>
              <a:t>Safety Layers</a:t>
            </a:r>
            <a:endParaRPr lang="ko-KR" altLang="en-US" sz="3000" b="1" dirty="0"/>
          </a:p>
        </p:txBody>
      </p:sp>
      <p:cxnSp>
        <p:nvCxnSpPr>
          <p:cNvPr id="5" name="직선 연결선 4">
            <a:extLst>
              <a:ext uri="{FF2B5EF4-FFF2-40B4-BE49-F238E27FC236}">
                <a16:creationId xmlns:a16="http://schemas.microsoft.com/office/drawing/2014/main" id="{B12DE208-E3AA-3778-F15D-C6402FB64E03}"/>
              </a:ext>
            </a:extLst>
          </p:cNvPr>
          <p:cNvCxnSpPr>
            <a:cxnSpLocks/>
          </p:cNvCxnSpPr>
          <p:nvPr/>
        </p:nvCxnSpPr>
        <p:spPr>
          <a:xfrm flipV="1">
            <a:off x="838200" y="11519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F406922C-4BB5-A867-F704-7DCAC2660DB5}"/>
              </a:ext>
            </a:extLst>
          </p:cNvPr>
          <p:cNvSpPr>
            <a:spLocks noGrp="1"/>
          </p:cNvSpPr>
          <p:nvPr>
            <p:ph type="sldNum" sz="quarter" idx="12"/>
          </p:nvPr>
        </p:nvSpPr>
        <p:spPr/>
        <p:txBody>
          <a:bodyPr/>
          <a:lstStyle/>
          <a:p>
            <a:fld id="{64DFE92E-FC6E-4A88-9F96-FE3893F9F10A}" type="slidenum">
              <a:rPr lang="ko-KR" altLang="en-US" smtClean="0"/>
              <a:t>5</a:t>
            </a:fld>
            <a:endParaRPr lang="ko-KR" altLang="en-US"/>
          </a:p>
        </p:txBody>
      </p:sp>
      <p:graphicFrame>
        <p:nvGraphicFramePr>
          <p:cNvPr id="6" name="다이어그램 5">
            <a:extLst>
              <a:ext uri="{FF2B5EF4-FFF2-40B4-BE49-F238E27FC236}">
                <a16:creationId xmlns:a16="http://schemas.microsoft.com/office/drawing/2014/main" id="{9D59AD27-E7F2-5A64-53E4-7B67544EB8A2}"/>
              </a:ext>
            </a:extLst>
          </p:cNvPr>
          <p:cNvGraphicFramePr/>
          <p:nvPr>
            <p:extLst>
              <p:ext uri="{D42A27DB-BD31-4B8C-83A1-F6EECF244321}">
                <p14:modId xmlns:p14="http://schemas.microsoft.com/office/powerpoint/2010/main" val="4038696091"/>
              </p:ext>
            </p:extLst>
          </p:nvPr>
        </p:nvGraphicFramePr>
        <p:xfrm>
          <a:off x="838200" y="1599037"/>
          <a:ext cx="10515600" cy="40455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28477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F0F40-4102-47AF-AC59-18A8D7225540}"/>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222E4E9-2BD4-392E-E7EF-8F3F0B23749B}"/>
              </a:ext>
            </a:extLst>
          </p:cNvPr>
          <p:cNvSpPr>
            <a:spLocks noGrp="1"/>
          </p:cNvSpPr>
          <p:nvPr>
            <p:ph type="title"/>
          </p:nvPr>
        </p:nvSpPr>
        <p:spPr>
          <a:xfrm>
            <a:off x="838200" y="4475487"/>
            <a:ext cx="10515600" cy="786840"/>
          </a:xfrm>
        </p:spPr>
        <p:txBody>
          <a:bodyPr>
            <a:normAutofit/>
          </a:bodyPr>
          <a:lstStyle/>
          <a:p>
            <a:r>
              <a:rPr lang="en-US" altLang="ko-KR" sz="3000" b="1" dirty="0"/>
              <a:t>Safety Layers: Existence and Localization</a:t>
            </a:r>
            <a:endParaRPr lang="ko-KR" altLang="en-US" sz="3000" b="1" dirty="0"/>
          </a:p>
        </p:txBody>
      </p:sp>
      <p:cxnSp>
        <p:nvCxnSpPr>
          <p:cNvPr id="5" name="직선 연결선 4">
            <a:extLst>
              <a:ext uri="{FF2B5EF4-FFF2-40B4-BE49-F238E27FC236}">
                <a16:creationId xmlns:a16="http://schemas.microsoft.com/office/drawing/2014/main" id="{1D064D18-F662-5A96-7C6A-7F890991520C}"/>
              </a:ext>
            </a:extLst>
          </p:cNvPr>
          <p:cNvCxnSpPr>
            <a:cxnSpLocks/>
          </p:cNvCxnSpPr>
          <p:nvPr/>
        </p:nvCxnSpPr>
        <p:spPr>
          <a:xfrm flipV="1">
            <a:off x="838200" y="5262327"/>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14E3F80F-310A-E130-3484-90527B997750}"/>
              </a:ext>
            </a:extLst>
          </p:cNvPr>
          <p:cNvSpPr>
            <a:spLocks noGrp="1"/>
          </p:cNvSpPr>
          <p:nvPr>
            <p:ph type="sldNum" sz="quarter" idx="12"/>
          </p:nvPr>
        </p:nvSpPr>
        <p:spPr/>
        <p:txBody>
          <a:bodyPr/>
          <a:lstStyle/>
          <a:p>
            <a:fld id="{64DFE92E-FC6E-4A88-9F96-FE3893F9F10A}" type="slidenum">
              <a:rPr lang="ko-KR" altLang="en-US" smtClean="0"/>
              <a:t>6</a:t>
            </a:fld>
            <a:endParaRPr lang="ko-KR" altLang="en-US"/>
          </a:p>
        </p:txBody>
      </p:sp>
    </p:spTree>
    <p:extLst>
      <p:ext uri="{BB962C8B-B14F-4D97-AF65-F5344CB8AC3E}">
        <p14:creationId xmlns:p14="http://schemas.microsoft.com/office/powerpoint/2010/main" val="652688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8790FBF-56E5-E9E2-942E-948CE9E68F6A}"/>
              </a:ext>
            </a:extLst>
          </p:cNvPr>
          <p:cNvSpPr>
            <a:spLocks noGrp="1"/>
          </p:cNvSpPr>
          <p:nvPr>
            <p:ph type="title"/>
          </p:nvPr>
        </p:nvSpPr>
        <p:spPr>
          <a:xfrm>
            <a:off x="838200" y="365126"/>
            <a:ext cx="10515600" cy="786840"/>
          </a:xfrm>
        </p:spPr>
        <p:txBody>
          <a:bodyPr>
            <a:normAutofit/>
          </a:bodyPr>
          <a:lstStyle/>
          <a:p>
            <a:pPr algn="ctr"/>
            <a:r>
              <a:rPr lang="en-US" altLang="ko-KR" sz="3000" b="1" dirty="0"/>
              <a:t>Existence</a:t>
            </a:r>
            <a:endParaRPr lang="ko-KR" altLang="en-US" sz="3000" b="1" dirty="0"/>
          </a:p>
        </p:txBody>
      </p:sp>
      <p:sp>
        <p:nvSpPr>
          <p:cNvPr id="3" name="내용 개체 틀 2">
            <a:extLst>
              <a:ext uri="{FF2B5EF4-FFF2-40B4-BE49-F238E27FC236}">
                <a16:creationId xmlns:a16="http://schemas.microsoft.com/office/drawing/2014/main" id="{28EB8129-4FD4-8CFB-4954-9C755084AC2C}"/>
              </a:ext>
            </a:extLst>
          </p:cNvPr>
          <p:cNvSpPr>
            <a:spLocks noGrp="1"/>
          </p:cNvSpPr>
          <p:nvPr>
            <p:ph idx="1"/>
          </p:nvPr>
        </p:nvSpPr>
        <p:spPr>
          <a:xfrm>
            <a:off x="838200" y="1259541"/>
            <a:ext cx="10515600" cy="4917422"/>
          </a:xfrm>
        </p:spPr>
        <p:txBody>
          <a:bodyPr>
            <a:normAutofit/>
          </a:bodyPr>
          <a:lstStyle/>
          <a:p>
            <a:r>
              <a:rPr lang="en-US" altLang="ko-KR" sz="2400" b="1" dirty="0"/>
              <a:t>Definition of the problem:</a:t>
            </a:r>
          </a:p>
          <a:p>
            <a:pPr lvl="1"/>
            <a:r>
              <a:rPr lang="en-US" altLang="ko-KR" sz="2000" dirty="0"/>
              <a:t>Understanding role of alignment within the model, specifically exploring the parameter mechanisms by which aligned LLMs identify malicious problems and how this mechanisms can be applied to the defense of the phenomenon of security degradation caused by parameter-level attack (fine-tuning).</a:t>
            </a:r>
            <a:endParaRPr lang="en-US" altLang="ko-KR" sz="2400" b="1" dirty="0"/>
          </a:p>
          <a:p>
            <a:r>
              <a:rPr lang="en-US" altLang="ko-KR" sz="2400" b="1" dirty="0"/>
              <a:t>Aligned LLMs:</a:t>
            </a:r>
          </a:p>
          <a:p>
            <a:pPr lvl="1"/>
            <a:r>
              <a:rPr lang="en-US" altLang="ko-KR" sz="2000" dirty="0"/>
              <a:t>Llama-3-8B-Instruct, Llama-2-7b-chat, gemma-2b-it, Phi-3-mini-4kinstruct</a:t>
            </a:r>
            <a:endParaRPr lang="en-US" altLang="ko-KR" sz="2400" b="1" dirty="0"/>
          </a:p>
          <a:p>
            <a:r>
              <a:rPr lang="en-US" altLang="ko-KR" sz="2400" b="1" dirty="0"/>
              <a:t>Prompt Template for LLMs:</a:t>
            </a:r>
          </a:p>
        </p:txBody>
      </p:sp>
      <p:cxnSp>
        <p:nvCxnSpPr>
          <p:cNvPr id="5" name="직선 연결선 4">
            <a:extLst>
              <a:ext uri="{FF2B5EF4-FFF2-40B4-BE49-F238E27FC236}">
                <a16:creationId xmlns:a16="http://schemas.microsoft.com/office/drawing/2014/main" id="{FE74F64A-4F15-8D70-9D1F-8C7E99DEC682}"/>
              </a:ext>
            </a:extLst>
          </p:cNvPr>
          <p:cNvCxnSpPr>
            <a:cxnSpLocks/>
          </p:cNvCxnSpPr>
          <p:nvPr/>
        </p:nvCxnSpPr>
        <p:spPr>
          <a:xfrm flipV="1">
            <a:off x="838200" y="11519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98FA8972-A89E-77A1-E15A-7B212B37A411}"/>
              </a:ext>
            </a:extLst>
          </p:cNvPr>
          <p:cNvSpPr>
            <a:spLocks noGrp="1"/>
          </p:cNvSpPr>
          <p:nvPr>
            <p:ph type="sldNum" sz="quarter" idx="12"/>
          </p:nvPr>
        </p:nvSpPr>
        <p:spPr/>
        <p:txBody>
          <a:bodyPr/>
          <a:lstStyle/>
          <a:p>
            <a:fld id="{64DFE92E-FC6E-4A88-9F96-FE3893F9F10A}" type="slidenum">
              <a:rPr lang="ko-KR" altLang="en-US" smtClean="0"/>
              <a:t>7</a:t>
            </a:fld>
            <a:endParaRPr lang="ko-KR" altLang="en-US"/>
          </a:p>
        </p:txBody>
      </p:sp>
      <p:pic>
        <p:nvPicPr>
          <p:cNvPr id="7" name="그림 6">
            <a:extLst>
              <a:ext uri="{FF2B5EF4-FFF2-40B4-BE49-F238E27FC236}">
                <a16:creationId xmlns:a16="http://schemas.microsoft.com/office/drawing/2014/main" id="{9C99674F-FBD4-E44D-6F0A-7DC0C3756BAE}"/>
              </a:ext>
            </a:extLst>
          </p:cNvPr>
          <p:cNvPicPr>
            <a:picLocks noChangeAspect="1"/>
          </p:cNvPicPr>
          <p:nvPr/>
        </p:nvPicPr>
        <p:blipFill>
          <a:blip r:embed="rId3"/>
          <a:stretch>
            <a:fillRect/>
          </a:stretch>
        </p:blipFill>
        <p:spPr>
          <a:xfrm>
            <a:off x="536602" y="4304461"/>
            <a:ext cx="11118796" cy="1574034"/>
          </a:xfrm>
          <a:prstGeom prst="rect">
            <a:avLst/>
          </a:prstGeom>
        </p:spPr>
      </p:pic>
    </p:spTree>
    <p:extLst>
      <p:ext uri="{BB962C8B-B14F-4D97-AF65-F5344CB8AC3E}">
        <p14:creationId xmlns:p14="http://schemas.microsoft.com/office/powerpoint/2010/main" val="2440095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495F9-ECA2-B9D8-045C-1CA6B534005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4CD45A74-8FB0-19D3-13AA-6E382CFAB714}"/>
              </a:ext>
            </a:extLst>
          </p:cNvPr>
          <p:cNvSpPr>
            <a:spLocks noGrp="1"/>
          </p:cNvSpPr>
          <p:nvPr>
            <p:ph type="title"/>
          </p:nvPr>
        </p:nvSpPr>
        <p:spPr>
          <a:xfrm>
            <a:off x="838200" y="365126"/>
            <a:ext cx="10515600" cy="786840"/>
          </a:xfrm>
        </p:spPr>
        <p:txBody>
          <a:bodyPr>
            <a:normAutofit/>
          </a:bodyPr>
          <a:lstStyle/>
          <a:p>
            <a:pPr algn="ctr"/>
            <a:r>
              <a:rPr lang="en-US" altLang="ko-KR" sz="3000" b="1" dirty="0"/>
              <a:t>Existence</a:t>
            </a:r>
            <a:endParaRPr lang="ko-KR" altLang="en-US" sz="3000" b="1" dirty="0"/>
          </a:p>
        </p:txBody>
      </p:sp>
      <p:sp>
        <p:nvSpPr>
          <p:cNvPr id="3" name="내용 개체 틀 2">
            <a:extLst>
              <a:ext uri="{FF2B5EF4-FFF2-40B4-BE49-F238E27FC236}">
                <a16:creationId xmlns:a16="http://schemas.microsoft.com/office/drawing/2014/main" id="{FF6B3C95-D598-2B8B-5967-72BE368BA454}"/>
              </a:ext>
            </a:extLst>
          </p:cNvPr>
          <p:cNvSpPr>
            <a:spLocks noGrp="1"/>
          </p:cNvSpPr>
          <p:nvPr>
            <p:ph idx="1"/>
          </p:nvPr>
        </p:nvSpPr>
        <p:spPr>
          <a:xfrm>
            <a:off x="838200" y="1259541"/>
            <a:ext cx="10515600" cy="4917422"/>
          </a:xfrm>
        </p:spPr>
        <p:txBody>
          <a:bodyPr>
            <a:normAutofit/>
          </a:bodyPr>
          <a:lstStyle/>
          <a:p>
            <a:r>
              <a:rPr lang="en-US" altLang="ko-KR" sz="2000" dirty="0"/>
              <a:t>Compare hidden states for three pair types:</a:t>
            </a:r>
          </a:p>
          <a:p>
            <a:pPr lvl="1"/>
            <a:r>
              <a:rPr lang="en-US" altLang="ko-KR" sz="1600" dirty="0"/>
              <a:t>non-malicious, non-malicious</a:t>
            </a:r>
          </a:p>
          <a:p>
            <a:pPr lvl="1"/>
            <a:r>
              <a:rPr lang="en-US" altLang="ko-KR" sz="1600" dirty="0"/>
              <a:t>malicious, malicious</a:t>
            </a:r>
          </a:p>
          <a:p>
            <a:pPr lvl="1"/>
            <a:r>
              <a:rPr lang="en-US" altLang="ko-KR" sz="1600" dirty="0"/>
              <a:t>malicious, non-malicious</a:t>
            </a:r>
          </a:p>
          <a:p>
            <a:pPr marL="0" indent="0">
              <a:buNone/>
            </a:pPr>
            <a:endParaRPr lang="en-US" altLang="ko-KR" sz="2000" dirty="0"/>
          </a:p>
          <a:p>
            <a:pPr marL="0" indent="0">
              <a:buNone/>
            </a:pPr>
            <a:r>
              <a:rPr lang="en-US" altLang="ko-KR" sz="2000" dirty="0"/>
              <a:t>-&gt; Use Cosine similarity across layers</a:t>
            </a:r>
          </a:p>
          <a:p>
            <a:pPr marL="0" indent="0">
              <a:buNone/>
            </a:pPr>
            <a:r>
              <a:rPr lang="en-US" altLang="ko-KR" sz="2000" b="1" dirty="0"/>
              <a:t>Finding: A clear gap appears in the middle layers.</a:t>
            </a:r>
            <a:endParaRPr lang="ko-KR" altLang="en-US" sz="2000" b="1" dirty="0"/>
          </a:p>
        </p:txBody>
      </p:sp>
      <p:cxnSp>
        <p:nvCxnSpPr>
          <p:cNvPr id="5" name="직선 연결선 4">
            <a:extLst>
              <a:ext uri="{FF2B5EF4-FFF2-40B4-BE49-F238E27FC236}">
                <a16:creationId xmlns:a16="http://schemas.microsoft.com/office/drawing/2014/main" id="{DAD6C958-3905-2D34-C2F3-658E3C75CBF8}"/>
              </a:ext>
            </a:extLst>
          </p:cNvPr>
          <p:cNvCxnSpPr>
            <a:cxnSpLocks/>
          </p:cNvCxnSpPr>
          <p:nvPr/>
        </p:nvCxnSpPr>
        <p:spPr>
          <a:xfrm flipV="1">
            <a:off x="838200" y="11519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8" name="그림 7">
            <a:extLst>
              <a:ext uri="{FF2B5EF4-FFF2-40B4-BE49-F238E27FC236}">
                <a16:creationId xmlns:a16="http://schemas.microsoft.com/office/drawing/2014/main" id="{3162AFD8-3DF0-4983-364E-6E0B562D245E}"/>
              </a:ext>
            </a:extLst>
          </p:cNvPr>
          <p:cNvPicPr>
            <a:picLocks noChangeAspect="1"/>
          </p:cNvPicPr>
          <p:nvPr/>
        </p:nvPicPr>
        <p:blipFill>
          <a:blip r:embed="rId3"/>
          <a:srcRect l="1032"/>
          <a:stretch>
            <a:fillRect/>
          </a:stretch>
        </p:blipFill>
        <p:spPr>
          <a:xfrm>
            <a:off x="895525" y="3935442"/>
            <a:ext cx="10400950" cy="2143549"/>
          </a:xfrm>
          <a:prstGeom prst="rect">
            <a:avLst/>
          </a:prstGeom>
        </p:spPr>
      </p:pic>
      <p:sp>
        <p:nvSpPr>
          <p:cNvPr id="4" name="슬라이드 번호 개체 틀 3">
            <a:extLst>
              <a:ext uri="{FF2B5EF4-FFF2-40B4-BE49-F238E27FC236}">
                <a16:creationId xmlns:a16="http://schemas.microsoft.com/office/drawing/2014/main" id="{AF357F8D-691D-1435-BA83-57884CF37483}"/>
              </a:ext>
            </a:extLst>
          </p:cNvPr>
          <p:cNvSpPr>
            <a:spLocks noGrp="1"/>
          </p:cNvSpPr>
          <p:nvPr>
            <p:ph type="sldNum" sz="quarter" idx="12"/>
          </p:nvPr>
        </p:nvSpPr>
        <p:spPr/>
        <p:txBody>
          <a:bodyPr/>
          <a:lstStyle/>
          <a:p>
            <a:fld id="{64DFE92E-FC6E-4A88-9F96-FE3893F9F10A}" type="slidenum">
              <a:rPr lang="ko-KR" altLang="en-US" smtClean="0"/>
              <a:t>8</a:t>
            </a:fld>
            <a:endParaRPr lang="ko-KR" altLang="en-US"/>
          </a:p>
        </p:txBody>
      </p:sp>
    </p:spTree>
    <p:extLst>
      <p:ext uri="{BB962C8B-B14F-4D97-AF65-F5344CB8AC3E}">
        <p14:creationId xmlns:p14="http://schemas.microsoft.com/office/powerpoint/2010/main" val="3742445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0A29A-8A40-3EAC-5F31-A45CACC41A7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1C54693-1DDB-523A-E101-CC949A974D78}"/>
              </a:ext>
            </a:extLst>
          </p:cNvPr>
          <p:cNvSpPr>
            <a:spLocks noGrp="1"/>
          </p:cNvSpPr>
          <p:nvPr>
            <p:ph type="title"/>
          </p:nvPr>
        </p:nvSpPr>
        <p:spPr>
          <a:xfrm>
            <a:off x="838200" y="365126"/>
            <a:ext cx="10515600" cy="786840"/>
          </a:xfrm>
        </p:spPr>
        <p:txBody>
          <a:bodyPr>
            <a:normAutofit/>
          </a:bodyPr>
          <a:lstStyle/>
          <a:p>
            <a:pPr algn="ctr"/>
            <a:r>
              <a:rPr lang="en-US" altLang="ko-KR" sz="3000" b="1" dirty="0"/>
              <a:t>Localization</a:t>
            </a:r>
            <a:endParaRPr lang="ko-KR" altLang="en-US" sz="3000" b="1" dirty="0"/>
          </a:p>
        </p:txBody>
      </p:sp>
      <p:cxnSp>
        <p:nvCxnSpPr>
          <p:cNvPr id="5" name="직선 연결선 4">
            <a:extLst>
              <a:ext uri="{FF2B5EF4-FFF2-40B4-BE49-F238E27FC236}">
                <a16:creationId xmlns:a16="http://schemas.microsoft.com/office/drawing/2014/main" id="{43A6902D-55CC-4A3A-9865-148181832E76}"/>
              </a:ext>
            </a:extLst>
          </p:cNvPr>
          <p:cNvCxnSpPr>
            <a:cxnSpLocks/>
          </p:cNvCxnSpPr>
          <p:nvPr/>
        </p:nvCxnSpPr>
        <p:spPr>
          <a:xfrm flipV="1">
            <a:off x="838200" y="11519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6" name="그림 5">
            <a:extLst>
              <a:ext uri="{FF2B5EF4-FFF2-40B4-BE49-F238E27FC236}">
                <a16:creationId xmlns:a16="http://schemas.microsoft.com/office/drawing/2014/main" id="{F8F042BC-B406-79EF-A307-DEF494D604FF}"/>
              </a:ext>
            </a:extLst>
          </p:cNvPr>
          <p:cNvPicPr>
            <a:picLocks noChangeAspect="1"/>
          </p:cNvPicPr>
          <p:nvPr/>
        </p:nvPicPr>
        <p:blipFill>
          <a:blip r:embed="rId3"/>
          <a:stretch>
            <a:fillRect/>
          </a:stretch>
        </p:blipFill>
        <p:spPr>
          <a:xfrm>
            <a:off x="719956" y="1265706"/>
            <a:ext cx="10752082" cy="2672865"/>
          </a:xfrm>
          <a:prstGeom prst="rect">
            <a:avLst/>
          </a:prstGeom>
        </p:spPr>
      </p:pic>
      <p:sp>
        <p:nvSpPr>
          <p:cNvPr id="3" name="TextBox 2">
            <a:extLst>
              <a:ext uri="{FF2B5EF4-FFF2-40B4-BE49-F238E27FC236}">
                <a16:creationId xmlns:a16="http://schemas.microsoft.com/office/drawing/2014/main" id="{1C7DA883-66C6-5B81-881C-B4A3C529B938}"/>
              </a:ext>
            </a:extLst>
          </p:cNvPr>
          <p:cNvSpPr txBox="1"/>
          <p:nvPr/>
        </p:nvSpPr>
        <p:spPr>
          <a:xfrm>
            <a:off x="719956" y="5846543"/>
            <a:ext cx="9057031" cy="646331"/>
          </a:xfrm>
          <a:prstGeom prst="rect">
            <a:avLst/>
          </a:prstGeom>
          <a:noFill/>
        </p:spPr>
        <p:txBody>
          <a:bodyPr wrap="none" rtlCol="0">
            <a:spAutoFit/>
          </a:bodyPr>
          <a:lstStyle/>
          <a:p>
            <a:r>
              <a:rPr lang="en-US" altLang="ko-KR" dirty="0"/>
              <a:t>first evidence:</a:t>
            </a:r>
          </a:p>
          <a:p>
            <a:r>
              <a:rPr lang="en-US" altLang="ko-KR" dirty="0"/>
              <a:t>safety </a:t>
            </a:r>
            <a:r>
              <a:rPr lang="en" altLang="ko-KR" dirty="0"/>
              <a:t>is not spread evenly across the network, but concentrated in a middle block.</a:t>
            </a:r>
            <a:r>
              <a:rPr lang="ko-KR" altLang="ko-KR" dirty="0"/>
              <a:t> </a:t>
            </a:r>
            <a:endParaRPr kumimoji="1" lang="ko-KR" altLang="en-US" dirty="0"/>
          </a:p>
        </p:txBody>
      </p:sp>
      <p:sp>
        <p:nvSpPr>
          <p:cNvPr id="4" name="TextBox 3">
            <a:extLst>
              <a:ext uri="{FF2B5EF4-FFF2-40B4-BE49-F238E27FC236}">
                <a16:creationId xmlns:a16="http://schemas.microsoft.com/office/drawing/2014/main" id="{184BAE03-D1F6-66D8-412A-E41AC94BFB0F}"/>
              </a:ext>
            </a:extLst>
          </p:cNvPr>
          <p:cNvSpPr txBox="1"/>
          <p:nvPr/>
        </p:nvSpPr>
        <p:spPr>
          <a:xfrm>
            <a:off x="719956" y="3938571"/>
            <a:ext cx="10752082" cy="830997"/>
          </a:xfrm>
          <a:prstGeom prst="rect">
            <a:avLst/>
          </a:prstGeom>
          <a:noFill/>
        </p:spPr>
        <p:txBody>
          <a:bodyPr wrap="square" rtlCol="0">
            <a:spAutoFit/>
          </a:bodyPr>
          <a:lstStyle/>
          <a:p>
            <a:r>
              <a:rPr lang="en-US" altLang="ko-KR" sz="1200" dirty="0"/>
              <a:t>Figure2. The upper half shows the “Normal-Normal(N-N) Pairs” and “Normal-Malicious(N-M) Pairs” cosine similarity analysis results for each hidden layer of LLama-3-8B-Instruct, Llama-2-7B-Chat, Phi-3-mini-4k-instruct and gemma-2b-it. The lower half displays the mean angular difference between these two cases for each aligned LLM.</a:t>
            </a:r>
          </a:p>
          <a:p>
            <a:endParaRPr kumimoji="1" lang="ko-KR" altLang="en-US" sz="1200" dirty="0"/>
          </a:p>
        </p:txBody>
      </p:sp>
      <p:sp>
        <p:nvSpPr>
          <p:cNvPr id="7" name="슬라이드 번호 개체 틀 6">
            <a:extLst>
              <a:ext uri="{FF2B5EF4-FFF2-40B4-BE49-F238E27FC236}">
                <a16:creationId xmlns:a16="http://schemas.microsoft.com/office/drawing/2014/main" id="{9229F3CF-8057-80C9-26C8-7CBDC69E009E}"/>
              </a:ext>
            </a:extLst>
          </p:cNvPr>
          <p:cNvSpPr>
            <a:spLocks noGrp="1"/>
          </p:cNvSpPr>
          <p:nvPr>
            <p:ph type="sldNum" sz="quarter" idx="12"/>
          </p:nvPr>
        </p:nvSpPr>
        <p:spPr/>
        <p:txBody>
          <a:bodyPr/>
          <a:lstStyle/>
          <a:p>
            <a:fld id="{64DFE92E-FC6E-4A88-9F96-FE3893F9F10A}" type="slidenum">
              <a:rPr lang="ko-KR" altLang="en-US" smtClean="0"/>
              <a:t>9</a:t>
            </a:fld>
            <a:endParaRPr lang="ko-KR" altLang="en-US"/>
          </a:p>
        </p:txBody>
      </p:sp>
    </p:spTree>
    <p:extLst>
      <p:ext uri="{BB962C8B-B14F-4D97-AF65-F5344CB8AC3E}">
        <p14:creationId xmlns:p14="http://schemas.microsoft.com/office/powerpoint/2010/main" val="379421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095EA-B740-1948-6CE2-5BD6AF02AAD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0B9CB01-7344-EB2E-7CBD-BEF2A4DBAFEB}"/>
              </a:ext>
            </a:extLst>
          </p:cNvPr>
          <p:cNvSpPr>
            <a:spLocks noGrp="1"/>
          </p:cNvSpPr>
          <p:nvPr>
            <p:ph type="title"/>
          </p:nvPr>
        </p:nvSpPr>
        <p:spPr>
          <a:xfrm>
            <a:off x="838200" y="365126"/>
            <a:ext cx="10515600" cy="786840"/>
          </a:xfrm>
        </p:spPr>
        <p:txBody>
          <a:bodyPr>
            <a:normAutofit/>
          </a:bodyPr>
          <a:lstStyle/>
          <a:p>
            <a:pPr algn="ctr"/>
            <a:r>
              <a:rPr lang="en-US" altLang="ko-KR" sz="3000" b="1" dirty="0"/>
              <a:t>Localization</a:t>
            </a:r>
            <a:endParaRPr lang="ko-KR" altLang="en-US" sz="3000" b="1" dirty="0"/>
          </a:p>
        </p:txBody>
      </p:sp>
      <p:cxnSp>
        <p:nvCxnSpPr>
          <p:cNvPr id="5" name="직선 연결선 4">
            <a:extLst>
              <a:ext uri="{FF2B5EF4-FFF2-40B4-BE49-F238E27FC236}">
                <a16:creationId xmlns:a16="http://schemas.microsoft.com/office/drawing/2014/main" id="{B7BD7B29-7E58-6C56-B29F-1955E234FC17}"/>
              </a:ext>
            </a:extLst>
          </p:cNvPr>
          <p:cNvCxnSpPr>
            <a:cxnSpLocks/>
          </p:cNvCxnSpPr>
          <p:nvPr/>
        </p:nvCxnSpPr>
        <p:spPr>
          <a:xfrm flipV="1">
            <a:off x="838200" y="11519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10" name="그림 9">
            <a:extLst>
              <a:ext uri="{FF2B5EF4-FFF2-40B4-BE49-F238E27FC236}">
                <a16:creationId xmlns:a16="http://schemas.microsoft.com/office/drawing/2014/main" id="{0A5AF4FC-9583-7AAA-20C8-7B93602A95DC}"/>
              </a:ext>
            </a:extLst>
          </p:cNvPr>
          <p:cNvPicPr>
            <a:picLocks noChangeAspect="1"/>
          </p:cNvPicPr>
          <p:nvPr/>
        </p:nvPicPr>
        <p:blipFill>
          <a:blip r:embed="rId3"/>
          <a:stretch>
            <a:fillRect/>
          </a:stretch>
        </p:blipFill>
        <p:spPr>
          <a:xfrm>
            <a:off x="1965434" y="1279713"/>
            <a:ext cx="8261131" cy="2295038"/>
          </a:xfrm>
          <a:prstGeom prst="rect">
            <a:avLst/>
          </a:prstGeom>
        </p:spPr>
      </p:pic>
      <p:sp>
        <p:nvSpPr>
          <p:cNvPr id="11" name="TextBox 10">
            <a:extLst>
              <a:ext uri="{FF2B5EF4-FFF2-40B4-BE49-F238E27FC236}">
                <a16:creationId xmlns:a16="http://schemas.microsoft.com/office/drawing/2014/main" id="{751ED00C-BB04-A051-5EDC-8D85135F658A}"/>
              </a:ext>
            </a:extLst>
          </p:cNvPr>
          <p:cNvSpPr txBox="1"/>
          <p:nvPr/>
        </p:nvSpPr>
        <p:spPr>
          <a:xfrm>
            <a:off x="838199" y="6277430"/>
            <a:ext cx="8868104" cy="430887"/>
          </a:xfrm>
          <a:prstGeom prst="rect">
            <a:avLst/>
          </a:prstGeom>
          <a:noFill/>
        </p:spPr>
        <p:txBody>
          <a:bodyPr wrap="square" rtlCol="0">
            <a:spAutoFit/>
          </a:bodyPr>
          <a:lstStyle/>
          <a:p>
            <a:r>
              <a:rPr lang="en-US" altLang="ko-KR" sz="1100" dirty="0"/>
              <a:t>Phi-3 didn’t release pre-trained version of their models.</a:t>
            </a:r>
          </a:p>
          <a:p>
            <a:r>
              <a:rPr lang="en-US" altLang="ko-KR" sz="1100" dirty="0"/>
              <a:t>So cannot compared the aligned model with its original pre-trained version.</a:t>
            </a:r>
            <a:endParaRPr lang="ko-KR" altLang="en-US" sz="1100" dirty="0"/>
          </a:p>
        </p:txBody>
      </p:sp>
      <p:sp>
        <p:nvSpPr>
          <p:cNvPr id="4" name="TextBox 3">
            <a:extLst>
              <a:ext uri="{FF2B5EF4-FFF2-40B4-BE49-F238E27FC236}">
                <a16:creationId xmlns:a16="http://schemas.microsoft.com/office/drawing/2014/main" id="{0B30EC56-D9C2-BBE7-0E9D-01ADF19B8D40}"/>
              </a:ext>
            </a:extLst>
          </p:cNvPr>
          <p:cNvSpPr txBox="1"/>
          <p:nvPr/>
        </p:nvSpPr>
        <p:spPr>
          <a:xfrm>
            <a:off x="1965434" y="3574751"/>
            <a:ext cx="6096000" cy="276999"/>
          </a:xfrm>
          <a:prstGeom prst="rect">
            <a:avLst/>
          </a:prstGeom>
          <a:noFill/>
        </p:spPr>
        <p:txBody>
          <a:bodyPr wrap="square">
            <a:spAutoFit/>
          </a:bodyPr>
          <a:lstStyle/>
          <a:p>
            <a:pPr>
              <a:buNone/>
            </a:pPr>
            <a:r>
              <a:rPr lang="en-US" altLang="ko-KR" sz="1200" dirty="0">
                <a:solidFill>
                  <a:srgbClr val="000000"/>
                </a:solidFill>
                <a:effectLst/>
                <a:latin typeface="Helvetica" pitchFamily="2" charset="0"/>
              </a:rPr>
              <a:t>Figure 3. The pre-trained LLMs internal layers’ “N-N Pair” and “N-M Pair” analysis.</a:t>
            </a:r>
          </a:p>
        </p:txBody>
      </p:sp>
      <p:sp>
        <p:nvSpPr>
          <p:cNvPr id="6" name="슬라이드 번호 개체 틀 5">
            <a:extLst>
              <a:ext uri="{FF2B5EF4-FFF2-40B4-BE49-F238E27FC236}">
                <a16:creationId xmlns:a16="http://schemas.microsoft.com/office/drawing/2014/main" id="{DCEB1A2B-B774-FD22-C555-971979797562}"/>
              </a:ext>
            </a:extLst>
          </p:cNvPr>
          <p:cNvSpPr>
            <a:spLocks noGrp="1"/>
          </p:cNvSpPr>
          <p:nvPr>
            <p:ph type="sldNum" sz="quarter" idx="12"/>
          </p:nvPr>
        </p:nvSpPr>
        <p:spPr/>
        <p:txBody>
          <a:bodyPr/>
          <a:lstStyle/>
          <a:p>
            <a:fld id="{64DFE92E-FC6E-4A88-9F96-FE3893F9F10A}" type="slidenum">
              <a:rPr lang="ko-KR" altLang="en-US" smtClean="0"/>
              <a:t>10</a:t>
            </a:fld>
            <a:endParaRPr lang="ko-KR" altLang="en-US"/>
          </a:p>
        </p:txBody>
      </p:sp>
      <p:sp>
        <p:nvSpPr>
          <p:cNvPr id="7" name="TextBox 6">
            <a:extLst>
              <a:ext uri="{FF2B5EF4-FFF2-40B4-BE49-F238E27FC236}">
                <a16:creationId xmlns:a16="http://schemas.microsoft.com/office/drawing/2014/main" id="{EBEAA3EC-6DB7-4A78-5337-1F5276B1090F}"/>
              </a:ext>
            </a:extLst>
          </p:cNvPr>
          <p:cNvSpPr txBox="1"/>
          <p:nvPr/>
        </p:nvSpPr>
        <p:spPr>
          <a:xfrm>
            <a:off x="838199" y="4503885"/>
            <a:ext cx="10515599" cy="646331"/>
          </a:xfrm>
          <a:prstGeom prst="rect">
            <a:avLst/>
          </a:prstGeom>
          <a:noFill/>
        </p:spPr>
        <p:txBody>
          <a:bodyPr wrap="square">
            <a:spAutoFit/>
          </a:bodyPr>
          <a:lstStyle/>
          <a:p>
            <a:r>
              <a:rPr lang="en" altLang="ko-KR" dirty="0"/>
              <a:t>Safety layers are not just a generic property of all LLMs. Instead, they seem to emerge as a result of security alignment.</a:t>
            </a:r>
            <a:endParaRPr lang="ko-KR" altLang="en-US" dirty="0"/>
          </a:p>
        </p:txBody>
      </p:sp>
    </p:spTree>
    <p:extLst>
      <p:ext uri="{BB962C8B-B14F-4D97-AF65-F5344CB8AC3E}">
        <p14:creationId xmlns:p14="http://schemas.microsoft.com/office/powerpoint/2010/main" val="2628977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252E6-A4BA-C822-2D31-C0872B00704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7D056EC-31E5-4940-1D25-C4A4909A3ED4}"/>
              </a:ext>
            </a:extLst>
          </p:cNvPr>
          <p:cNvSpPr>
            <a:spLocks noGrp="1"/>
          </p:cNvSpPr>
          <p:nvPr>
            <p:ph type="title"/>
          </p:nvPr>
        </p:nvSpPr>
        <p:spPr>
          <a:xfrm>
            <a:off x="838200" y="365126"/>
            <a:ext cx="10515600" cy="786840"/>
          </a:xfrm>
        </p:spPr>
        <p:txBody>
          <a:bodyPr>
            <a:normAutofit/>
          </a:bodyPr>
          <a:lstStyle/>
          <a:p>
            <a:pPr algn="ctr"/>
            <a:r>
              <a:rPr lang="en-US" altLang="ko-KR" sz="3000" b="1" dirty="0"/>
              <a:t>Over-rejection in safety layer parameter scaling</a:t>
            </a:r>
            <a:endParaRPr lang="ko-KR" altLang="en-US" sz="3000" b="1" dirty="0"/>
          </a:p>
        </p:txBody>
      </p:sp>
      <p:sp>
        <p:nvSpPr>
          <p:cNvPr id="3" name="내용 개체 틀 2">
            <a:extLst>
              <a:ext uri="{FF2B5EF4-FFF2-40B4-BE49-F238E27FC236}">
                <a16:creationId xmlns:a16="http://schemas.microsoft.com/office/drawing/2014/main" id="{584B6FCD-0735-7B0C-D2B5-22999EA46DA5}"/>
              </a:ext>
            </a:extLst>
          </p:cNvPr>
          <p:cNvSpPr>
            <a:spLocks noGrp="1"/>
          </p:cNvSpPr>
          <p:nvPr>
            <p:ph idx="1"/>
          </p:nvPr>
        </p:nvSpPr>
        <p:spPr>
          <a:xfrm>
            <a:off x="838200" y="1259541"/>
            <a:ext cx="10515600" cy="4917422"/>
          </a:xfrm>
        </p:spPr>
        <p:txBody>
          <a:bodyPr>
            <a:normAutofit/>
          </a:bodyPr>
          <a:lstStyle/>
          <a:p>
            <a:r>
              <a:rPr lang="en-US" altLang="ko-KR" sz="1400" dirty="0"/>
              <a:t>Over-rejection: refusing a safe question because it contains dangerous-looking words.</a:t>
            </a:r>
          </a:p>
          <a:p>
            <a:endParaRPr lang="en-US" altLang="ko-KR" sz="2000" dirty="0"/>
          </a:p>
          <a:p>
            <a:r>
              <a:rPr lang="en-US" altLang="ko-KR" sz="2000" dirty="0"/>
              <a:t>Where aligned LLMs will refuse to answer some non-malicious queries, especially of the queries contains a potentially dangerous verb, bring the new solution to the metric design.</a:t>
            </a:r>
          </a:p>
          <a:p>
            <a:endParaRPr lang="en-US" altLang="ko-KR" sz="2000" dirty="0"/>
          </a:p>
          <a:p>
            <a:r>
              <a:rPr lang="en-US" altLang="ko-KR" sz="2000" dirty="0"/>
              <a:t>Consequently, scaling partial parameters of the safety layers could affect the extent of over-rejection phenomenon.</a:t>
            </a:r>
          </a:p>
          <a:p>
            <a:endParaRPr lang="en-US" altLang="ko-KR" sz="2000" dirty="0"/>
          </a:p>
          <a:p>
            <a:r>
              <a:rPr lang="en-US" altLang="ko-KR" sz="2000" b="1" dirty="0"/>
              <a:t>Over-rejection is an additional effect of security alignment.</a:t>
            </a:r>
            <a:endParaRPr lang="ko-KR" altLang="en-US" sz="2000" b="1" dirty="0"/>
          </a:p>
        </p:txBody>
      </p:sp>
      <p:cxnSp>
        <p:nvCxnSpPr>
          <p:cNvPr id="5" name="직선 연결선 4">
            <a:extLst>
              <a:ext uri="{FF2B5EF4-FFF2-40B4-BE49-F238E27FC236}">
                <a16:creationId xmlns:a16="http://schemas.microsoft.com/office/drawing/2014/main" id="{7947D339-82AF-A046-3BA0-229C4A1CD71A}"/>
              </a:ext>
            </a:extLst>
          </p:cNvPr>
          <p:cNvCxnSpPr>
            <a:cxnSpLocks/>
          </p:cNvCxnSpPr>
          <p:nvPr/>
        </p:nvCxnSpPr>
        <p:spPr>
          <a:xfrm flipV="1">
            <a:off x="838200" y="11519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16574FCF-CC92-4719-7B67-D232C513B931}"/>
              </a:ext>
            </a:extLst>
          </p:cNvPr>
          <p:cNvSpPr>
            <a:spLocks noGrp="1"/>
          </p:cNvSpPr>
          <p:nvPr>
            <p:ph type="sldNum" sz="quarter" idx="12"/>
          </p:nvPr>
        </p:nvSpPr>
        <p:spPr/>
        <p:txBody>
          <a:bodyPr/>
          <a:lstStyle/>
          <a:p>
            <a:fld id="{64DFE92E-FC6E-4A88-9F96-FE3893F9F10A}" type="slidenum">
              <a:rPr lang="ko-KR" altLang="en-US" smtClean="0"/>
              <a:t>11</a:t>
            </a:fld>
            <a:endParaRPr lang="ko-KR" altLang="en-US"/>
          </a:p>
        </p:txBody>
      </p:sp>
    </p:spTree>
    <p:extLst>
      <p:ext uri="{BB962C8B-B14F-4D97-AF65-F5344CB8AC3E}">
        <p14:creationId xmlns:p14="http://schemas.microsoft.com/office/powerpoint/2010/main" val="2138719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DFF63-B9F1-8A65-C3B6-0740632F39B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122FB8D-7B5F-7008-D51F-9E3184EB054F}"/>
              </a:ext>
            </a:extLst>
          </p:cNvPr>
          <p:cNvSpPr>
            <a:spLocks noGrp="1"/>
          </p:cNvSpPr>
          <p:nvPr>
            <p:ph type="title"/>
          </p:nvPr>
        </p:nvSpPr>
        <p:spPr>
          <a:xfrm>
            <a:off x="838200" y="365126"/>
            <a:ext cx="10515600" cy="786840"/>
          </a:xfrm>
        </p:spPr>
        <p:txBody>
          <a:bodyPr>
            <a:normAutofit/>
          </a:bodyPr>
          <a:lstStyle/>
          <a:p>
            <a:pPr algn="ctr"/>
            <a:r>
              <a:rPr lang="en-US" altLang="ko-KR" sz="3000" b="1" dirty="0"/>
              <a:t>Progressive safety layers localization adjusting</a:t>
            </a:r>
            <a:endParaRPr lang="ko-KR" altLang="en-US" sz="3000" b="1"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1AF0F8D0-22EE-8037-27AF-6402407D1BC1}"/>
                  </a:ext>
                </a:extLst>
              </p:cNvPr>
              <p:cNvSpPr>
                <a:spLocks noGrp="1"/>
              </p:cNvSpPr>
              <p:nvPr>
                <p:ph idx="1"/>
              </p:nvPr>
            </p:nvSpPr>
            <p:spPr>
              <a:xfrm>
                <a:off x="838200" y="1259541"/>
                <a:ext cx="10515600" cy="4917422"/>
              </a:xfrm>
            </p:spPr>
            <p:txBody>
              <a:bodyPr>
                <a:normAutofit/>
              </a:bodyPr>
              <a:lstStyle/>
              <a:p>
                <a:r>
                  <a:rPr lang="en-US" altLang="ko-KR" sz="2400" dirty="0"/>
                  <a:t>Expand the layer range from</a:t>
                </a:r>
                <a:r>
                  <a:rPr lang="ko-KR" altLang="en-US" sz="2400" dirty="0"/>
                  <a:t> </a:t>
                </a:r>
                <a14:m>
                  <m:oMath xmlns:m="http://schemas.openxmlformats.org/officeDocument/2006/math">
                    <m:d>
                      <m:dPr>
                        <m:begChr m:val="["/>
                        <m:endChr m:val="]"/>
                        <m:ctrlPr>
                          <a:rPr lang="en-US" altLang="ko-KR" sz="2400" i="1" dirty="0" smtClean="0">
                            <a:latin typeface="Cambria Math" panose="02040503050406030204" pitchFamily="18" charset="0"/>
                          </a:rPr>
                        </m:ctrlPr>
                      </m:dPr>
                      <m:e>
                        <m:r>
                          <a:rPr lang="en-US" altLang="ko-KR" sz="2400" i="1" dirty="0" err="1" smtClean="0">
                            <a:latin typeface="Cambria Math" panose="02040503050406030204" pitchFamily="18" charset="0"/>
                          </a:rPr>
                          <m:t>𝑖</m:t>
                        </m:r>
                        <m:r>
                          <a:rPr lang="en-US" altLang="ko-KR" sz="2400" i="1" dirty="0" smtClean="0">
                            <a:latin typeface="Cambria Math" panose="02040503050406030204" pitchFamily="18" charset="0"/>
                          </a:rPr>
                          <m:t>,</m:t>
                        </m:r>
                        <m:r>
                          <a:rPr lang="en-US" altLang="ko-KR" sz="2400" i="1" dirty="0" smtClean="0">
                            <a:latin typeface="Cambria Math" panose="02040503050406030204" pitchFamily="18" charset="0"/>
                          </a:rPr>
                          <m:t>𝑗</m:t>
                        </m:r>
                        <m:r>
                          <a:rPr lang="en-US" altLang="ko-KR" sz="2400" i="1" dirty="0" smtClean="0">
                            <a:latin typeface="Cambria Math" panose="02040503050406030204" pitchFamily="18" charset="0"/>
                          </a:rPr>
                          <m:t>+</m:t>
                        </m:r>
                        <m:r>
                          <a:rPr lang="en-US" altLang="ko-KR" sz="2400" i="1" dirty="0" smtClean="0">
                            <a:latin typeface="Cambria Math" panose="02040503050406030204" pitchFamily="18" charset="0"/>
                          </a:rPr>
                          <m:t>𝑘</m:t>
                        </m:r>
                        <m:r>
                          <a:rPr lang="en-US" altLang="ko-KR" sz="2400" i="1" dirty="0" smtClean="0">
                            <a:latin typeface="Cambria Math" panose="02040503050406030204" pitchFamily="18" charset="0"/>
                          </a:rPr>
                          <m:t>−1</m:t>
                        </m:r>
                      </m:e>
                    </m:d>
                  </m:oMath>
                </a14:m>
                <a:r>
                  <a:rPr lang="en-US" altLang="ko-KR" sz="2400" dirty="0"/>
                  <a:t>=&gt; </a:t>
                </a:r>
                <a14:m>
                  <m:oMath xmlns:m="http://schemas.openxmlformats.org/officeDocument/2006/math">
                    <m:d>
                      <m:dPr>
                        <m:begChr m:val="["/>
                        <m:endChr m:val="]"/>
                        <m:ctrlPr>
                          <a:rPr lang="en-US" altLang="ko-KR" sz="2400" i="1" dirty="0" smtClean="0">
                            <a:latin typeface="Cambria Math" panose="02040503050406030204" pitchFamily="18" charset="0"/>
                          </a:rPr>
                        </m:ctrlPr>
                      </m:dPr>
                      <m:e>
                        <m:r>
                          <a:rPr lang="en-US" altLang="ko-KR" sz="2400" i="1" dirty="0" err="1" smtClean="0">
                            <a:latin typeface="Cambria Math" panose="02040503050406030204" pitchFamily="18" charset="0"/>
                          </a:rPr>
                          <m:t>𝑖</m:t>
                        </m:r>
                        <m:r>
                          <a:rPr lang="en-US" altLang="ko-KR" sz="2400" i="1" dirty="0" smtClean="0">
                            <a:latin typeface="Cambria Math" panose="02040503050406030204" pitchFamily="18" charset="0"/>
                          </a:rPr>
                          <m:t>,</m:t>
                        </m:r>
                        <m:r>
                          <a:rPr lang="en-US" altLang="ko-KR" sz="2400" i="1" dirty="0" err="1" smtClean="0">
                            <a:latin typeface="Cambria Math" panose="02040503050406030204" pitchFamily="18" charset="0"/>
                          </a:rPr>
                          <m:t>𝑗</m:t>
                        </m:r>
                        <m:r>
                          <a:rPr lang="en-US" altLang="ko-KR" sz="2400" i="1" dirty="0" err="1" smtClean="0">
                            <a:latin typeface="Cambria Math" panose="02040503050406030204" pitchFamily="18" charset="0"/>
                          </a:rPr>
                          <m:t>+</m:t>
                        </m:r>
                        <m:r>
                          <a:rPr lang="en-US" altLang="ko-KR" sz="2400" i="1" dirty="0" err="1">
                            <a:latin typeface="Cambria Math" panose="02040503050406030204" pitchFamily="18" charset="0"/>
                          </a:rPr>
                          <m:t>𝑘</m:t>
                        </m:r>
                      </m:e>
                    </m:d>
                  </m:oMath>
                </a14:m>
                <a:r>
                  <a:rPr lang="en-US" altLang="ko-KR" sz="2400" dirty="0"/>
                  <a:t> with </a:t>
                </a:r>
                <a14:m>
                  <m:oMath xmlns:m="http://schemas.openxmlformats.org/officeDocument/2006/math">
                    <m:r>
                      <a:rPr lang="en-US" altLang="ko-KR" sz="2400" i="1" dirty="0" smtClean="0">
                        <a:latin typeface="Cambria Math" panose="02040503050406030204" pitchFamily="18" charset="0"/>
                      </a:rPr>
                      <m:t>𝛼</m:t>
                    </m:r>
                    <m:r>
                      <a:rPr lang="en-US" altLang="ko-KR" sz="2400" i="1" dirty="0" smtClean="0">
                        <a:latin typeface="Cambria Math" panose="02040503050406030204" pitchFamily="18" charset="0"/>
                      </a:rPr>
                      <m:t>&gt; 1</m:t>
                    </m:r>
                  </m:oMath>
                </a14:m>
                <a:endParaRPr lang="en-US" altLang="ko-KR" sz="2400" dirty="0"/>
              </a:p>
              <a:p>
                <a:pPr marL="457200" lvl="1" indent="0">
                  <a:buNone/>
                </a:pPr>
                <a14:m>
                  <m:oMath xmlns:m="http://schemas.openxmlformats.org/officeDocument/2006/math">
                    <m:r>
                      <a:rPr lang="en-US" altLang="ko-KR" sz="1600" i="1" dirty="0" smtClean="0">
                        <a:latin typeface="Cambria Math" panose="02040503050406030204" pitchFamily="18" charset="0"/>
                      </a:rPr>
                      <m:t>𝛼</m:t>
                    </m:r>
                  </m:oMath>
                </a14:m>
                <a:r>
                  <a:rPr lang="en-US" altLang="ko-KR" sz="1600" dirty="0"/>
                  <a:t>: scaling factor</a:t>
                </a:r>
              </a:p>
              <a:p>
                <a:pPr lvl="1"/>
                <a:r>
                  <a:rPr lang="en-US" altLang="ko-KR" sz="1800" dirty="0"/>
                  <a:t>When the layer is related to safety -&gt; over-rejection phenomenon</a:t>
                </a:r>
              </a:p>
              <a:p>
                <a:pPr lvl="1"/>
                <a:r>
                  <a:rPr lang="en-US" altLang="ko-KR" sz="1800" dirty="0"/>
                  <a:t>When the layer is not related to safety or has little influence to model security  the amplification dilutes the proportion of security parameters.</a:t>
                </a:r>
              </a:p>
              <a:p>
                <a:pPr lvl="1"/>
                <a:endParaRPr lang="en-US" altLang="ko-KR" sz="1800" dirty="0"/>
              </a:p>
              <a:p>
                <a:r>
                  <a:rPr lang="en-US" altLang="ko-KR" sz="2200" dirty="0"/>
                  <a:t>When scaling with </a:t>
                </a:r>
                <a14:m>
                  <m:oMath xmlns:m="http://schemas.openxmlformats.org/officeDocument/2006/math">
                    <m:r>
                      <a:rPr lang="en-US" altLang="ko-KR" sz="2200" i="1" dirty="0" smtClean="0">
                        <a:latin typeface="Cambria Math" panose="02040503050406030204" pitchFamily="18" charset="0"/>
                      </a:rPr>
                      <m:t>𝛼</m:t>
                    </m:r>
                    <m:r>
                      <a:rPr lang="en-US" altLang="ko-KR" sz="2200" i="1" dirty="0" smtClean="0">
                        <a:latin typeface="Cambria Math" panose="02040503050406030204" pitchFamily="18" charset="0"/>
                      </a:rPr>
                      <m:t>&lt; 1</m:t>
                    </m:r>
                  </m:oMath>
                </a14:m>
                <a:r>
                  <a:rPr lang="en-US" altLang="ko-KR" sz="2200" dirty="0"/>
                  <a:t>, the model’s security decreases.</a:t>
                </a:r>
              </a:p>
            </p:txBody>
          </p:sp>
        </mc:Choice>
        <mc:Fallback xmlns="">
          <p:sp>
            <p:nvSpPr>
              <p:cNvPr id="3" name="내용 개체 틀 2">
                <a:extLst>
                  <a:ext uri="{FF2B5EF4-FFF2-40B4-BE49-F238E27FC236}">
                    <a16:creationId xmlns:a16="http://schemas.microsoft.com/office/drawing/2014/main" id="{1AF0F8D0-22EE-8037-27AF-6402407D1BC1}"/>
                  </a:ext>
                </a:extLst>
              </p:cNvPr>
              <p:cNvSpPr>
                <a:spLocks noGrp="1" noRot="1" noChangeAspect="1" noMove="1" noResize="1" noEditPoints="1" noAdjustHandles="1" noChangeArrowheads="1" noChangeShapeType="1" noTextEdit="1"/>
              </p:cNvSpPr>
              <p:nvPr>
                <p:ph idx="1"/>
              </p:nvPr>
            </p:nvSpPr>
            <p:spPr>
              <a:xfrm>
                <a:off x="838200" y="1259541"/>
                <a:ext cx="10515600" cy="4917422"/>
              </a:xfrm>
              <a:blipFill>
                <a:blip r:embed="rId3"/>
                <a:stretch>
                  <a:fillRect l="-812" t="-1737"/>
                </a:stretch>
              </a:blipFill>
            </p:spPr>
            <p:txBody>
              <a:bodyPr/>
              <a:lstStyle/>
              <a:p>
                <a:r>
                  <a:rPr lang="ko-KR" altLang="en-US">
                    <a:noFill/>
                  </a:rPr>
                  <a:t> </a:t>
                </a:r>
              </a:p>
            </p:txBody>
          </p:sp>
        </mc:Fallback>
      </mc:AlternateContent>
      <p:cxnSp>
        <p:nvCxnSpPr>
          <p:cNvPr id="5" name="직선 연결선 4">
            <a:extLst>
              <a:ext uri="{FF2B5EF4-FFF2-40B4-BE49-F238E27FC236}">
                <a16:creationId xmlns:a16="http://schemas.microsoft.com/office/drawing/2014/main" id="{C11F5B42-9AB9-9175-EFDE-E308CF55445D}"/>
              </a:ext>
            </a:extLst>
          </p:cNvPr>
          <p:cNvCxnSpPr>
            <a:cxnSpLocks/>
          </p:cNvCxnSpPr>
          <p:nvPr/>
        </p:nvCxnSpPr>
        <p:spPr>
          <a:xfrm flipV="1">
            <a:off x="838200" y="11519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A876CAB-8AFB-7B5D-3915-FA844D2D94D8}"/>
              </a:ext>
            </a:extLst>
          </p:cNvPr>
          <p:cNvSpPr>
            <a:spLocks noGrp="1"/>
          </p:cNvSpPr>
          <p:nvPr>
            <p:ph type="sldNum" sz="quarter" idx="12"/>
          </p:nvPr>
        </p:nvSpPr>
        <p:spPr/>
        <p:txBody>
          <a:bodyPr/>
          <a:lstStyle/>
          <a:p>
            <a:fld id="{64DFE92E-FC6E-4A88-9F96-FE3893F9F10A}" type="slidenum">
              <a:rPr lang="ko-KR" altLang="en-US" smtClean="0"/>
              <a:t>12</a:t>
            </a:fld>
            <a:endParaRPr lang="ko-KR" altLang="en-US"/>
          </a:p>
        </p:txBody>
      </p:sp>
    </p:spTree>
    <p:extLst>
      <p:ext uri="{BB962C8B-B14F-4D97-AF65-F5344CB8AC3E}">
        <p14:creationId xmlns:p14="http://schemas.microsoft.com/office/powerpoint/2010/main" val="852612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09FE1-731F-90E7-6E71-BC0DFC58B02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9E0E520B-DE91-1E03-A6E2-AB3254C2169F}"/>
              </a:ext>
            </a:extLst>
          </p:cNvPr>
          <p:cNvSpPr>
            <a:spLocks noGrp="1"/>
          </p:cNvSpPr>
          <p:nvPr>
            <p:ph type="title"/>
          </p:nvPr>
        </p:nvSpPr>
        <p:spPr>
          <a:xfrm>
            <a:off x="838200" y="365126"/>
            <a:ext cx="10515600" cy="786840"/>
          </a:xfrm>
        </p:spPr>
        <p:txBody>
          <a:bodyPr>
            <a:normAutofit/>
          </a:bodyPr>
          <a:lstStyle/>
          <a:p>
            <a:pPr algn="ctr"/>
            <a:r>
              <a:rPr lang="en-US" altLang="ko-KR" sz="3000" b="1" dirty="0"/>
              <a:t>Safety Layers of Aligned LLMs</a:t>
            </a:r>
            <a:endParaRPr lang="ko-KR" altLang="en-US" sz="3000" b="1" dirty="0"/>
          </a:p>
        </p:txBody>
      </p:sp>
      <p:sp>
        <p:nvSpPr>
          <p:cNvPr id="3" name="내용 개체 틀 2">
            <a:extLst>
              <a:ext uri="{FF2B5EF4-FFF2-40B4-BE49-F238E27FC236}">
                <a16:creationId xmlns:a16="http://schemas.microsoft.com/office/drawing/2014/main" id="{43F91A67-DDF8-0BDF-C7CC-8901A0424991}"/>
              </a:ext>
            </a:extLst>
          </p:cNvPr>
          <p:cNvSpPr>
            <a:spLocks noGrp="1"/>
          </p:cNvSpPr>
          <p:nvPr>
            <p:ph idx="1"/>
          </p:nvPr>
        </p:nvSpPr>
        <p:spPr>
          <a:xfrm>
            <a:off x="838200" y="1259541"/>
            <a:ext cx="10515600" cy="4917422"/>
          </a:xfrm>
        </p:spPr>
        <p:txBody>
          <a:bodyPr>
            <a:normAutofit/>
          </a:bodyPr>
          <a:lstStyle/>
          <a:p>
            <a:r>
              <a:rPr lang="en-US" altLang="ko-KR" sz="2000" dirty="0"/>
              <a:t>The final safety-layer ranges for each model</a:t>
            </a:r>
          </a:p>
          <a:p>
            <a:r>
              <a:rPr lang="en-US" altLang="ko-KR" sz="2000" dirty="0"/>
              <a:t>The key layers sit in the middle of the network.</a:t>
            </a:r>
            <a:endParaRPr lang="ko-KR" altLang="en-US" sz="2000" dirty="0"/>
          </a:p>
        </p:txBody>
      </p:sp>
      <p:cxnSp>
        <p:nvCxnSpPr>
          <p:cNvPr id="5" name="직선 연결선 4">
            <a:extLst>
              <a:ext uri="{FF2B5EF4-FFF2-40B4-BE49-F238E27FC236}">
                <a16:creationId xmlns:a16="http://schemas.microsoft.com/office/drawing/2014/main" id="{06B6BD62-A430-78F6-B238-04013856C43C}"/>
              </a:ext>
            </a:extLst>
          </p:cNvPr>
          <p:cNvCxnSpPr>
            <a:cxnSpLocks/>
          </p:cNvCxnSpPr>
          <p:nvPr/>
        </p:nvCxnSpPr>
        <p:spPr>
          <a:xfrm flipV="1">
            <a:off x="838200" y="11519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그림 3">
            <a:extLst>
              <a:ext uri="{FF2B5EF4-FFF2-40B4-BE49-F238E27FC236}">
                <a16:creationId xmlns:a16="http://schemas.microsoft.com/office/drawing/2014/main" id="{2105E454-BCF6-16BD-71CD-447CFD2E1AE9}"/>
              </a:ext>
            </a:extLst>
          </p:cNvPr>
          <p:cNvPicPr>
            <a:picLocks noChangeAspect="1"/>
          </p:cNvPicPr>
          <p:nvPr/>
        </p:nvPicPr>
        <p:blipFill>
          <a:blip r:embed="rId3"/>
          <a:stretch>
            <a:fillRect/>
          </a:stretch>
        </p:blipFill>
        <p:spPr>
          <a:xfrm>
            <a:off x="2209800" y="2230299"/>
            <a:ext cx="7772400" cy="2397402"/>
          </a:xfrm>
          <a:prstGeom prst="rect">
            <a:avLst/>
          </a:prstGeom>
        </p:spPr>
      </p:pic>
      <p:sp>
        <p:nvSpPr>
          <p:cNvPr id="7" name="TextBox 6">
            <a:extLst>
              <a:ext uri="{FF2B5EF4-FFF2-40B4-BE49-F238E27FC236}">
                <a16:creationId xmlns:a16="http://schemas.microsoft.com/office/drawing/2014/main" id="{FA4A1C68-15C0-6799-095A-6662E862787E}"/>
              </a:ext>
            </a:extLst>
          </p:cNvPr>
          <p:cNvSpPr txBox="1"/>
          <p:nvPr/>
        </p:nvSpPr>
        <p:spPr>
          <a:xfrm>
            <a:off x="1085850" y="4876800"/>
            <a:ext cx="7696200" cy="1477328"/>
          </a:xfrm>
          <a:prstGeom prst="rect">
            <a:avLst/>
          </a:prstGeom>
          <a:noFill/>
        </p:spPr>
        <p:txBody>
          <a:bodyPr wrap="square" rtlCol="0">
            <a:spAutoFit/>
          </a:bodyPr>
          <a:lstStyle/>
          <a:p>
            <a:r>
              <a:rPr kumimoji="1" lang="en-US" altLang="ko-KR" dirty="0"/>
              <a:t>The bolded parts indicate the confirmed upper or lower bounds: </a:t>
            </a:r>
          </a:p>
          <a:p>
            <a:pPr marL="285750" indent="-285750">
              <a:buFont typeface="Arial" panose="020B0604020202020204" pitchFamily="34" charset="0"/>
              <a:buChar char="•"/>
            </a:pPr>
            <a:r>
              <a:rPr kumimoji="1" lang="en-US" altLang="ko-KR" dirty="0"/>
              <a:t>Llama-3-8B-Instruct [6, 12]</a:t>
            </a:r>
          </a:p>
          <a:p>
            <a:pPr marL="285750" indent="-285750">
              <a:buFont typeface="Arial" panose="020B0604020202020204" pitchFamily="34" charset="0"/>
              <a:buChar char="•"/>
            </a:pPr>
            <a:r>
              <a:rPr kumimoji="1" lang="en-US" altLang="ko-KR" dirty="0"/>
              <a:t>Llama-2-7b-chat [6, 14]</a:t>
            </a:r>
          </a:p>
          <a:p>
            <a:pPr marL="285750" indent="-285750">
              <a:buFont typeface="Arial" panose="020B0604020202020204" pitchFamily="34" charset="0"/>
              <a:buChar char="•"/>
            </a:pPr>
            <a:r>
              <a:rPr kumimoji="1" lang="en-US" altLang="ko-KR" dirty="0"/>
              <a:t>Gemma-2b-it [6, 11]</a:t>
            </a:r>
          </a:p>
          <a:p>
            <a:pPr marL="285750" indent="-285750">
              <a:buFont typeface="Arial" panose="020B0604020202020204" pitchFamily="34" charset="0"/>
              <a:buChar char="•"/>
            </a:pPr>
            <a:r>
              <a:rPr kumimoji="1" lang="en-US" altLang="ko-KR" dirty="0"/>
              <a:t>Phi-3-mini-4k [11, 15]</a:t>
            </a:r>
            <a:endParaRPr kumimoji="1" lang="ko-KR" altLang="en-US" dirty="0"/>
          </a:p>
        </p:txBody>
      </p:sp>
      <p:sp>
        <p:nvSpPr>
          <p:cNvPr id="6" name="슬라이드 번호 개체 틀 5">
            <a:extLst>
              <a:ext uri="{FF2B5EF4-FFF2-40B4-BE49-F238E27FC236}">
                <a16:creationId xmlns:a16="http://schemas.microsoft.com/office/drawing/2014/main" id="{3ADDFB98-54E8-8B88-6A0E-4BFC958C6E4D}"/>
              </a:ext>
            </a:extLst>
          </p:cNvPr>
          <p:cNvSpPr>
            <a:spLocks noGrp="1"/>
          </p:cNvSpPr>
          <p:nvPr>
            <p:ph type="sldNum" sz="quarter" idx="12"/>
          </p:nvPr>
        </p:nvSpPr>
        <p:spPr/>
        <p:txBody>
          <a:bodyPr/>
          <a:lstStyle/>
          <a:p>
            <a:fld id="{64DFE92E-FC6E-4A88-9F96-FE3893F9F10A}" type="slidenum">
              <a:rPr lang="ko-KR" altLang="en-US" smtClean="0"/>
              <a:t>13</a:t>
            </a:fld>
            <a:endParaRPr lang="ko-KR" altLang="en-US"/>
          </a:p>
        </p:txBody>
      </p:sp>
    </p:spTree>
    <p:extLst>
      <p:ext uri="{BB962C8B-B14F-4D97-AF65-F5344CB8AC3E}">
        <p14:creationId xmlns:p14="http://schemas.microsoft.com/office/powerpoint/2010/main" val="3546870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591E9-5ECC-23D5-15AD-CE567D361E5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EDC1707A-0ACA-8115-0F84-F80B21B3AA8D}"/>
              </a:ext>
            </a:extLst>
          </p:cNvPr>
          <p:cNvSpPr>
            <a:spLocks noGrp="1"/>
          </p:cNvSpPr>
          <p:nvPr>
            <p:ph type="title"/>
          </p:nvPr>
        </p:nvSpPr>
        <p:spPr>
          <a:xfrm>
            <a:off x="838200" y="365126"/>
            <a:ext cx="10515600" cy="786840"/>
          </a:xfrm>
        </p:spPr>
        <p:txBody>
          <a:bodyPr>
            <a:normAutofit/>
          </a:bodyPr>
          <a:lstStyle/>
          <a:p>
            <a:pPr algn="ctr"/>
            <a:r>
              <a:rPr lang="en-US" altLang="ko-KR" sz="3000" b="1" dirty="0"/>
              <a:t>Discussion</a:t>
            </a:r>
            <a:endParaRPr lang="ko-KR" altLang="en-US" sz="3000" b="1" dirty="0"/>
          </a:p>
        </p:txBody>
      </p:sp>
      <p:sp>
        <p:nvSpPr>
          <p:cNvPr id="3" name="내용 개체 틀 2">
            <a:extLst>
              <a:ext uri="{FF2B5EF4-FFF2-40B4-BE49-F238E27FC236}">
                <a16:creationId xmlns:a16="http://schemas.microsoft.com/office/drawing/2014/main" id="{1E08E251-213C-63C2-BF91-532BA599A06C}"/>
              </a:ext>
            </a:extLst>
          </p:cNvPr>
          <p:cNvSpPr>
            <a:spLocks noGrp="1"/>
          </p:cNvSpPr>
          <p:nvPr>
            <p:ph idx="1"/>
          </p:nvPr>
        </p:nvSpPr>
        <p:spPr>
          <a:xfrm>
            <a:off x="838200" y="1259541"/>
            <a:ext cx="10515600" cy="4917422"/>
          </a:xfrm>
        </p:spPr>
        <p:txBody>
          <a:bodyPr>
            <a:normAutofit/>
          </a:bodyPr>
          <a:lstStyle/>
          <a:p>
            <a:r>
              <a:rPr lang="en-US" altLang="ko-KR" sz="2000" dirty="0"/>
              <a:t>The middle layers are most related to detecting harmful intent.</a:t>
            </a:r>
            <a:endParaRPr lang="en-US" altLang="ko-KR" dirty="0"/>
          </a:p>
          <a:p>
            <a:r>
              <a:rPr lang="en-US" altLang="ko-KR" sz="2000" dirty="0"/>
              <a:t>The heatmap also points to a special middle region.</a:t>
            </a:r>
          </a:p>
          <a:p>
            <a:endParaRPr lang="en-US" altLang="ko-KR" sz="2000" dirty="0"/>
          </a:p>
          <a:p>
            <a:r>
              <a:rPr lang="en-US" altLang="ko-KR" sz="2000" dirty="0"/>
              <a:t>They proposed a 3-stage division for the internal layers of aligned LLM</a:t>
            </a:r>
          </a:p>
          <a:p>
            <a:pPr marL="457200" indent="-457200">
              <a:buFont typeface="+mj-lt"/>
              <a:buAutoNum type="arabicPeriod"/>
            </a:pPr>
            <a:r>
              <a:rPr lang="en-US" altLang="ko-KR" sz="2000" dirty="0"/>
              <a:t>Preliminary sentence confirmation</a:t>
            </a:r>
          </a:p>
          <a:p>
            <a:pPr marL="457200" indent="-457200">
              <a:buFont typeface="+mj-lt"/>
              <a:buAutoNum type="arabicPeriod"/>
            </a:pPr>
            <a:r>
              <a:rPr lang="en-US" altLang="ko-KR" sz="2000" dirty="0"/>
              <a:t>Detection of malicious intent</a:t>
            </a:r>
          </a:p>
          <a:p>
            <a:pPr marL="457200" indent="-457200">
              <a:buFont typeface="+mj-lt"/>
              <a:buAutoNum type="arabicPeriod"/>
            </a:pPr>
            <a:r>
              <a:rPr lang="en-US" altLang="ko-KR" sz="2000" dirty="0"/>
              <a:t>Semantic analysis and understanding</a:t>
            </a:r>
            <a:endParaRPr lang="ko-KR" altLang="en-US" sz="2000" dirty="0"/>
          </a:p>
          <a:p>
            <a:endParaRPr lang="en-US" altLang="ko-KR" sz="2000" dirty="0"/>
          </a:p>
        </p:txBody>
      </p:sp>
      <p:cxnSp>
        <p:nvCxnSpPr>
          <p:cNvPr id="5" name="직선 연결선 4">
            <a:extLst>
              <a:ext uri="{FF2B5EF4-FFF2-40B4-BE49-F238E27FC236}">
                <a16:creationId xmlns:a16="http://schemas.microsoft.com/office/drawing/2014/main" id="{189E9D88-F6C3-9B43-E19D-C7D676220243}"/>
              </a:ext>
            </a:extLst>
          </p:cNvPr>
          <p:cNvCxnSpPr>
            <a:cxnSpLocks/>
          </p:cNvCxnSpPr>
          <p:nvPr/>
        </p:nvCxnSpPr>
        <p:spPr>
          <a:xfrm flipV="1">
            <a:off x="838200" y="11519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15" name="그림 14">
            <a:extLst>
              <a:ext uri="{FF2B5EF4-FFF2-40B4-BE49-F238E27FC236}">
                <a16:creationId xmlns:a16="http://schemas.microsoft.com/office/drawing/2014/main" id="{F566D229-9D50-AC0C-8144-8D5B6A5678D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792491" y="4027393"/>
            <a:ext cx="8607017" cy="2328957"/>
          </a:xfrm>
          <a:prstGeom prst="rect">
            <a:avLst/>
          </a:prstGeom>
        </p:spPr>
      </p:pic>
      <p:sp>
        <p:nvSpPr>
          <p:cNvPr id="16" name="슬라이드 번호 개체 틀 15">
            <a:extLst>
              <a:ext uri="{FF2B5EF4-FFF2-40B4-BE49-F238E27FC236}">
                <a16:creationId xmlns:a16="http://schemas.microsoft.com/office/drawing/2014/main" id="{8D23EFE4-AAB4-F8AE-8425-6C83BB49657A}"/>
              </a:ext>
            </a:extLst>
          </p:cNvPr>
          <p:cNvSpPr>
            <a:spLocks noGrp="1"/>
          </p:cNvSpPr>
          <p:nvPr>
            <p:ph type="sldNum" sz="quarter" idx="12"/>
          </p:nvPr>
        </p:nvSpPr>
        <p:spPr/>
        <p:txBody>
          <a:bodyPr/>
          <a:lstStyle/>
          <a:p>
            <a:fld id="{64DFE92E-FC6E-4A88-9F96-FE3893F9F10A}" type="slidenum">
              <a:rPr lang="ko-KR" altLang="en-US" smtClean="0"/>
              <a:t>14</a:t>
            </a:fld>
            <a:endParaRPr lang="ko-KR" altLang="en-US"/>
          </a:p>
        </p:txBody>
      </p:sp>
      <p:sp>
        <p:nvSpPr>
          <p:cNvPr id="4" name="TextBox 3">
            <a:extLst>
              <a:ext uri="{FF2B5EF4-FFF2-40B4-BE49-F238E27FC236}">
                <a16:creationId xmlns:a16="http://schemas.microsoft.com/office/drawing/2014/main" id="{7B2AC671-E72F-2B6A-E8E8-56244084E8FD}"/>
              </a:ext>
            </a:extLst>
          </p:cNvPr>
          <p:cNvSpPr txBox="1"/>
          <p:nvPr/>
        </p:nvSpPr>
        <p:spPr>
          <a:xfrm>
            <a:off x="5138055" y="6352143"/>
            <a:ext cx="1915887" cy="369332"/>
          </a:xfrm>
          <a:prstGeom prst="rect">
            <a:avLst/>
          </a:prstGeom>
          <a:noFill/>
        </p:spPr>
        <p:txBody>
          <a:bodyPr wrap="square" rtlCol="0">
            <a:spAutoFit/>
          </a:bodyPr>
          <a:lstStyle/>
          <a:p>
            <a:r>
              <a:rPr kumimoji="1" lang="en-US" altLang="ko-KR" dirty="0"/>
              <a:t>Attention Score</a:t>
            </a:r>
            <a:endParaRPr kumimoji="1" lang="ko-KR" altLang="en-US" dirty="0"/>
          </a:p>
        </p:txBody>
      </p:sp>
    </p:spTree>
    <p:extLst>
      <p:ext uri="{BB962C8B-B14F-4D97-AF65-F5344CB8AC3E}">
        <p14:creationId xmlns:p14="http://schemas.microsoft.com/office/powerpoint/2010/main" val="151826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1F78F-C71E-634F-5EC5-5469A552236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7C739ED-5E9F-5B76-C876-CE8AA82A8BE1}"/>
              </a:ext>
            </a:extLst>
          </p:cNvPr>
          <p:cNvSpPr>
            <a:spLocks noGrp="1"/>
          </p:cNvSpPr>
          <p:nvPr>
            <p:ph type="title"/>
          </p:nvPr>
        </p:nvSpPr>
        <p:spPr>
          <a:xfrm>
            <a:off x="838200" y="3758486"/>
            <a:ext cx="10515600" cy="2168680"/>
          </a:xfrm>
        </p:spPr>
        <p:txBody>
          <a:bodyPr>
            <a:normAutofit/>
          </a:bodyPr>
          <a:lstStyle/>
          <a:p>
            <a:r>
              <a:rPr lang="en-US" altLang="ko-KR" sz="3600" b="1" dirty="0"/>
              <a:t>SPPFT: Safely Partial-Parameter Fine-Tuning</a:t>
            </a:r>
            <a:br>
              <a:rPr lang="en-US" altLang="ko-KR" sz="3600" b="1" dirty="0"/>
            </a:br>
            <a:endParaRPr lang="en-US" altLang="ko-KR" sz="3600" b="1" dirty="0"/>
          </a:p>
        </p:txBody>
      </p:sp>
      <p:cxnSp>
        <p:nvCxnSpPr>
          <p:cNvPr id="5" name="직선 연결선 4">
            <a:extLst>
              <a:ext uri="{FF2B5EF4-FFF2-40B4-BE49-F238E27FC236}">
                <a16:creationId xmlns:a16="http://schemas.microsoft.com/office/drawing/2014/main" id="{14523342-E4C2-8593-FA41-EE95457BEE90}"/>
              </a:ext>
            </a:extLst>
          </p:cNvPr>
          <p:cNvCxnSpPr>
            <a:cxnSpLocks/>
          </p:cNvCxnSpPr>
          <p:nvPr/>
        </p:nvCxnSpPr>
        <p:spPr>
          <a:xfrm flipV="1">
            <a:off x="838200" y="52667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6" name="슬라이드 번호 개체 틀 5">
            <a:extLst>
              <a:ext uri="{FF2B5EF4-FFF2-40B4-BE49-F238E27FC236}">
                <a16:creationId xmlns:a16="http://schemas.microsoft.com/office/drawing/2014/main" id="{32B3B73B-A26B-A045-6BB2-02EBDA526465}"/>
              </a:ext>
            </a:extLst>
          </p:cNvPr>
          <p:cNvSpPr>
            <a:spLocks noGrp="1"/>
          </p:cNvSpPr>
          <p:nvPr>
            <p:ph type="sldNum" sz="quarter" idx="12"/>
          </p:nvPr>
        </p:nvSpPr>
        <p:spPr/>
        <p:txBody>
          <a:bodyPr/>
          <a:lstStyle/>
          <a:p>
            <a:fld id="{64DFE92E-FC6E-4A88-9F96-FE3893F9F10A}" type="slidenum">
              <a:rPr lang="ko-KR" altLang="en-US" smtClean="0"/>
              <a:t>15</a:t>
            </a:fld>
            <a:endParaRPr lang="ko-KR" altLang="en-US"/>
          </a:p>
        </p:txBody>
      </p:sp>
    </p:spTree>
    <p:extLst>
      <p:ext uri="{BB962C8B-B14F-4D97-AF65-F5344CB8AC3E}">
        <p14:creationId xmlns:p14="http://schemas.microsoft.com/office/powerpoint/2010/main" val="4007120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C7949-C381-A031-F092-5C9E1AF7A390}"/>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927E03DC-D628-4911-44D2-9F8EFE949CAD}"/>
              </a:ext>
            </a:extLst>
          </p:cNvPr>
          <p:cNvSpPr>
            <a:spLocks noGrp="1"/>
          </p:cNvSpPr>
          <p:nvPr>
            <p:ph type="title"/>
          </p:nvPr>
        </p:nvSpPr>
        <p:spPr>
          <a:xfrm>
            <a:off x="838200" y="365126"/>
            <a:ext cx="10515600" cy="786840"/>
          </a:xfrm>
        </p:spPr>
        <p:txBody>
          <a:bodyPr>
            <a:normAutofit/>
          </a:bodyPr>
          <a:lstStyle/>
          <a:p>
            <a:pPr algn="ctr"/>
            <a:r>
              <a:rPr lang="en-US" altLang="ko-KR" sz="3000" b="1" dirty="0"/>
              <a:t>Safety Layers: fine-tuning Jailbreak </a:t>
            </a:r>
            <a:r>
              <a:rPr lang="en-US" altLang="ko-KR" sz="3000" b="1" dirty="0" err="1"/>
              <a:t>defence</a:t>
            </a:r>
            <a:endParaRPr lang="ko-KR" altLang="en-US" sz="3000" b="1" dirty="0"/>
          </a:p>
        </p:txBody>
      </p:sp>
      <p:sp>
        <p:nvSpPr>
          <p:cNvPr id="3" name="내용 개체 틀 2">
            <a:extLst>
              <a:ext uri="{FF2B5EF4-FFF2-40B4-BE49-F238E27FC236}">
                <a16:creationId xmlns:a16="http://schemas.microsoft.com/office/drawing/2014/main" id="{7B14CF84-E677-90CC-17E0-744787A17390}"/>
              </a:ext>
            </a:extLst>
          </p:cNvPr>
          <p:cNvSpPr>
            <a:spLocks noGrp="1"/>
          </p:cNvSpPr>
          <p:nvPr>
            <p:ph idx="1"/>
          </p:nvPr>
        </p:nvSpPr>
        <p:spPr>
          <a:xfrm>
            <a:off x="838200" y="1259541"/>
            <a:ext cx="10515600" cy="4917422"/>
          </a:xfrm>
        </p:spPr>
        <p:txBody>
          <a:bodyPr>
            <a:normAutofit/>
          </a:bodyPr>
          <a:lstStyle/>
          <a:p>
            <a:r>
              <a:rPr lang="en-US" altLang="ko-KR" sz="2000" dirty="0"/>
              <a:t>Experiment settings</a:t>
            </a:r>
          </a:p>
          <a:p>
            <a:pPr lvl="1"/>
            <a:r>
              <a:rPr lang="en-US" altLang="ko-KR" sz="1600" dirty="0"/>
              <a:t>Fine-tuning attack scenarios: (1) normal data attack (2) implicit attack (3) backdoor attack (4) harmful data attack</a:t>
            </a:r>
          </a:p>
          <a:p>
            <a:pPr lvl="1"/>
            <a:r>
              <a:rPr lang="en-US" altLang="ko-KR" sz="1600" b="1" dirty="0"/>
              <a:t>SPPFT freezes the safety layers during fine-tuning.</a:t>
            </a:r>
          </a:p>
          <a:p>
            <a:pPr lvl="1"/>
            <a:endParaRPr lang="en-US" altLang="ko-KR" sz="1600" dirty="0"/>
          </a:p>
          <a:p>
            <a:pPr lvl="1"/>
            <a:endParaRPr lang="ko-KR" altLang="en-US" sz="1600" dirty="0"/>
          </a:p>
        </p:txBody>
      </p:sp>
      <p:cxnSp>
        <p:nvCxnSpPr>
          <p:cNvPr id="5" name="직선 연결선 4">
            <a:extLst>
              <a:ext uri="{FF2B5EF4-FFF2-40B4-BE49-F238E27FC236}">
                <a16:creationId xmlns:a16="http://schemas.microsoft.com/office/drawing/2014/main" id="{6C5F45F5-3954-C027-94F7-DBE7F7642B8E}"/>
              </a:ext>
            </a:extLst>
          </p:cNvPr>
          <p:cNvCxnSpPr>
            <a:cxnSpLocks/>
          </p:cNvCxnSpPr>
          <p:nvPr/>
        </p:nvCxnSpPr>
        <p:spPr>
          <a:xfrm flipV="1">
            <a:off x="838200" y="11519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그림 3">
            <a:extLst>
              <a:ext uri="{FF2B5EF4-FFF2-40B4-BE49-F238E27FC236}">
                <a16:creationId xmlns:a16="http://schemas.microsoft.com/office/drawing/2014/main" id="{0A1AB6CA-7475-84E9-0521-A2F2FC4A5999}"/>
              </a:ext>
            </a:extLst>
          </p:cNvPr>
          <p:cNvPicPr>
            <a:picLocks noChangeAspect="1"/>
          </p:cNvPicPr>
          <p:nvPr/>
        </p:nvPicPr>
        <p:blipFill>
          <a:blip r:embed="rId3"/>
          <a:stretch>
            <a:fillRect/>
          </a:stretch>
        </p:blipFill>
        <p:spPr>
          <a:xfrm>
            <a:off x="2209800" y="2706909"/>
            <a:ext cx="7772400" cy="2891550"/>
          </a:xfrm>
          <a:prstGeom prst="rect">
            <a:avLst/>
          </a:prstGeom>
        </p:spPr>
      </p:pic>
      <p:sp>
        <p:nvSpPr>
          <p:cNvPr id="8" name="TextBox 7">
            <a:extLst>
              <a:ext uri="{FF2B5EF4-FFF2-40B4-BE49-F238E27FC236}">
                <a16:creationId xmlns:a16="http://schemas.microsoft.com/office/drawing/2014/main" id="{2E099F1D-7117-E660-25A6-DAD6B1A67277}"/>
              </a:ext>
            </a:extLst>
          </p:cNvPr>
          <p:cNvSpPr txBox="1"/>
          <p:nvPr/>
        </p:nvSpPr>
        <p:spPr>
          <a:xfrm>
            <a:off x="1047750" y="5890163"/>
            <a:ext cx="10306050" cy="369332"/>
          </a:xfrm>
          <a:prstGeom prst="rect">
            <a:avLst/>
          </a:prstGeom>
          <a:noFill/>
        </p:spPr>
        <p:txBody>
          <a:bodyPr wrap="square">
            <a:spAutoFit/>
          </a:bodyPr>
          <a:lstStyle/>
          <a:p>
            <a:r>
              <a:rPr lang="en-US" altLang="ko-KR" sz="1800" dirty="0"/>
              <a:t>Result: much lower harmful rate than Full Fine-Tuning, </a:t>
            </a:r>
            <a:r>
              <a:rPr lang="en-US" altLang="ko-KR" dirty="0"/>
              <a:t>with similar task performance.</a:t>
            </a:r>
            <a:endParaRPr kumimoji="1" lang="en-US" altLang="ko-KR" dirty="0"/>
          </a:p>
        </p:txBody>
      </p:sp>
      <p:sp>
        <p:nvSpPr>
          <p:cNvPr id="6" name="슬라이드 번호 개체 틀 5">
            <a:extLst>
              <a:ext uri="{FF2B5EF4-FFF2-40B4-BE49-F238E27FC236}">
                <a16:creationId xmlns:a16="http://schemas.microsoft.com/office/drawing/2014/main" id="{5329B3B3-AA70-F81F-0245-DFB7689BCEDC}"/>
              </a:ext>
            </a:extLst>
          </p:cNvPr>
          <p:cNvSpPr>
            <a:spLocks noGrp="1"/>
          </p:cNvSpPr>
          <p:nvPr>
            <p:ph type="sldNum" sz="quarter" idx="12"/>
          </p:nvPr>
        </p:nvSpPr>
        <p:spPr/>
        <p:txBody>
          <a:bodyPr/>
          <a:lstStyle/>
          <a:p>
            <a:fld id="{64DFE92E-FC6E-4A88-9F96-FE3893F9F10A}" type="slidenum">
              <a:rPr lang="ko-KR" altLang="en-US" smtClean="0"/>
              <a:t>16</a:t>
            </a:fld>
            <a:endParaRPr lang="ko-KR" altLang="en-US"/>
          </a:p>
        </p:txBody>
      </p:sp>
      <p:sp>
        <p:nvSpPr>
          <p:cNvPr id="7" name="TextBox 6">
            <a:extLst>
              <a:ext uri="{FF2B5EF4-FFF2-40B4-BE49-F238E27FC236}">
                <a16:creationId xmlns:a16="http://schemas.microsoft.com/office/drawing/2014/main" id="{9E414EE3-ADF6-05C3-07D9-E3E5C952A13B}"/>
              </a:ext>
            </a:extLst>
          </p:cNvPr>
          <p:cNvSpPr txBox="1"/>
          <p:nvPr/>
        </p:nvSpPr>
        <p:spPr>
          <a:xfrm>
            <a:off x="2209800" y="5597922"/>
            <a:ext cx="5453743" cy="253916"/>
          </a:xfrm>
          <a:prstGeom prst="rect">
            <a:avLst/>
          </a:prstGeom>
          <a:noFill/>
        </p:spPr>
        <p:txBody>
          <a:bodyPr wrap="square" rtlCol="0">
            <a:spAutoFit/>
          </a:bodyPr>
          <a:lstStyle/>
          <a:p>
            <a:r>
              <a:rPr lang="en-US" altLang="ko-KR" sz="1050" b="1" dirty="0"/>
              <a:t>NFFT</a:t>
            </a:r>
            <a:r>
              <a:rPr lang="en-US" altLang="ko-KR" sz="1050" dirty="0"/>
              <a:t>: protect selected security-related neurons  ( Wei et al )</a:t>
            </a:r>
            <a:endParaRPr kumimoji="1" lang="ko-KR" altLang="en-US" sz="1050" dirty="0"/>
          </a:p>
        </p:txBody>
      </p:sp>
    </p:spTree>
    <p:extLst>
      <p:ext uri="{BB962C8B-B14F-4D97-AF65-F5344CB8AC3E}">
        <p14:creationId xmlns:p14="http://schemas.microsoft.com/office/powerpoint/2010/main" val="3748080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2DA3F-1996-2CC5-8777-12C1B93DE15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29AE774-2CF3-4280-F3A1-096B5E66CD00}"/>
              </a:ext>
            </a:extLst>
          </p:cNvPr>
          <p:cNvSpPr>
            <a:spLocks noGrp="1"/>
          </p:cNvSpPr>
          <p:nvPr>
            <p:ph type="title"/>
          </p:nvPr>
        </p:nvSpPr>
        <p:spPr>
          <a:xfrm>
            <a:off x="838200" y="365126"/>
            <a:ext cx="10515600" cy="786840"/>
          </a:xfrm>
        </p:spPr>
        <p:txBody>
          <a:bodyPr>
            <a:normAutofit/>
          </a:bodyPr>
          <a:lstStyle/>
          <a:p>
            <a:pPr algn="ctr"/>
            <a:r>
              <a:rPr lang="en-US" altLang="ko-KR" sz="3000" b="1" dirty="0"/>
              <a:t>Conclusion</a:t>
            </a:r>
            <a:endParaRPr lang="ko-KR" altLang="en-US" sz="3000" b="1" dirty="0"/>
          </a:p>
        </p:txBody>
      </p:sp>
      <p:sp>
        <p:nvSpPr>
          <p:cNvPr id="3" name="내용 개체 틀 2">
            <a:extLst>
              <a:ext uri="{FF2B5EF4-FFF2-40B4-BE49-F238E27FC236}">
                <a16:creationId xmlns:a16="http://schemas.microsoft.com/office/drawing/2014/main" id="{47B8FABE-4274-D76D-8CDF-D7A5743FBAE4}"/>
              </a:ext>
            </a:extLst>
          </p:cNvPr>
          <p:cNvSpPr>
            <a:spLocks noGrp="1"/>
          </p:cNvSpPr>
          <p:nvPr>
            <p:ph idx="1"/>
          </p:nvPr>
        </p:nvSpPr>
        <p:spPr>
          <a:xfrm>
            <a:off x="838200" y="1259541"/>
            <a:ext cx="10515600" cy="4917422"/>
          </a:xfrm>
        </p:spPr>
        <p:txBody>
          <a:bodyPr>
            <a:normAutofit/>
          </a:bodyPr>
          <a:lstStyle/>
          <a:p>
            <a:r>
              <a:rPr lang="en-US" altLang="ko-KR" sz="2000" dirty="0"/>
              <a:t>Safety is concentrated in a small set of middle layers.</a:t>
            </a:r>
            <a:endParaRPr lang="en-US" altLang="ko-KR" sz="2400" dirty="0"/>
          </a:p>
          <a:p>
            <a:r>
              <a:rPr lang="en-US" altLang="ko-KR" sz="2000" dirty="0"/>
              <a:t>These layers seem to emerge during alignment training.</a:t>
            </a:r>
          </a:p>
          <a:p>
            <a:r>
              <a:rPr lang="en-US" altLang="ko-KR" sz="2000" dirty="0"/>
              <a:t>Freezing them during fine-tuning helps preserve safety.</a:t>
            </a:r>
          </a:p>
          <a:p>
            <a:endParaRPr lang="en-US" altLang="ko-KR" sz="2000" dirty="0"/>
          </a:p>
          <a:p>
            <a:r>
              <a:rPr lang="en-US" altLang="ko-KR" sz="2000" dirty="0"/>
              <a:t>Limitation </a:t>
            </a:r>
          </a:p>
          <a:p>
            <a:pPr lvl="1"/>
            <a:r>
              <a:rPr lang="en-US" altLang="ko-KR" sz="1600" dirty="0"/>
              <a:t>A small number of models were tested.</a:t>
            </a:r>
          </a:p>
          <a:p>
            <a:pPr lvl="1"/>
            <a:r>
              <a:rPr lang="en-US" altLang="ko-KR" sz="1600" dirty="0"/>
              <a:t>dataset is proprietary and small (721 items)</a:t>
            </a:r>
          </a:p>
          <a:p>
            <a:pPr lvl="1"/>
            <a:r>
              <a:rPr lang="en-US" altLang="ko-KR" sz="1600" dirty="0"/>
              <a:t>there is no testing against strong, diverse jailbreak attacks</a:t>
            </a:r>
            <a:endParaRPr lang="ko-KR" altLang="en-US" sz="1600" dirty="0"/>
          </a:p>
          <a:p>
            <a:endParaRPr lang="en-US" altLang="ko-KR" sz="2000" dirty="0"/>
          </a:p>
          <a:p>
            <a:endParaRPr lang="ko-KR" altLang="en-US" sz="2000" dirty="0"/>
          </a:p>
        </p:txBody>
      </p:sp>
      <p:cxnSp>
        <p:nvCxnSpPr>
          <p:cNvPr id="5" name="직선 연결선 4">
            <a:extLst>
              <a:ext uri="{FF2B5EF4-FFF2-40B4-BE49-F238E27FC236}">
                <a16:creationId xmlns:a16="http://schemas.microsoft.com/office/drawing/2014/main" id="{03042DF5-8B66-32E3-FE94-E2066C58104D}"/>
              </a:ext>
            </a:extLst>
          </p:cNvPr>
          <p:cNvCxnSpPr>
            <a:cxnSpLocks/>
          </p:cNvCxnSpPr>
          <p:nvPr/>
        </p:nvCxnSpPr>
        <p:spPr>
          <a:xfrm flipV="1">
            <a:off x="838200" y="11519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AE05C16C-CD4E-5349-9781-7A26E8FDB216}"/>
              </a:ext>
            </a:extLst>
          </p:cNvPr>
          <p:cNvSpPr>
            <a:spLocks noGrp="1"/>
          </p:cNvSpPr>
          <p:nvPr>
            <p:ph type="sldNum" sz="quarter" idx="12"/>
          </p:nvPr>
        </p:nvSpPr>
        <p:spPr/>
        <p:txBody>
          <a:bodyPr/>
          <a:lstStyle/>
          <a:p>
            <a:fld id="{64DFE92E-FC6E-4A88-9F96-FE3893F9F10A}" type="slidenum">
              <a:rPr lang="ko-KR" altLang="en-US" smtClean="0"/>
              <a:t>17</a:t>
            </a:fld>
            <a:endParaRPr lang="ko-KR" altLang="en-US"/>
          </a:p>
        </p:txBody>
      </p:sp>
    </p:spTree>
    <p:extLst>
      <p:ext uri="{BB962C8B-B14F-4D97-AF65-F5344CB8AC3E}">
        <p14:creationId xmlns:p14="http://schemas.microsoft.com/office/powerpoint/2010/main" val="1644478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467DC-27F1-B544-9A31-D31DE1AB42D0}"/>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977FEE6D-ED7F-7497-BB6B-1FD4CEFD406C}"/>
              </a:ext>
            </a:extLst>
          </p:cNvPr>
          <p:cNvSpPr>
            <a:spLocks noGrp="1"/>
          </p:cNvSpPr>
          <p:nvPr>
            <p:ph type="title"/>
          </p:nvPr>
        </p:nvSpPr>
        <p:spPr>
          <a:xfrm>
            <a:off x="838200" y="365126"/>
            <a:ext cx="10515600" cy="786840"/>
          </a:xfrm>
        </p:spPr>
        <p:txBody>
          <a:bodyPr>
            <a:normAutofit/>
          </a:bodyPr>
          <a:lstStyle/>
          <a:p>
            <a:pPr algn="ctr"/>
            <a:r>
              <a:rPr lang="en-US" altLang="ko-KR" sz="3000" b="1" dirty="0"/>
              <a:t>Thank You</a:t>
            </a:r>
            <a:endParaRPr lang="ko-KR" altLang="en-US" sz="3000" b="1" dirty="0"/>
          </a:p>
        </p:txBody>
      </p:sp>
      <p:sp>
        <p:nvSpPr>
          <p:cNvPr id="3" name="내용 개체 틀 2">
            <a:extLst>
              <a:ext uri="{FF2B5EF4-FFF2-40B4-BE49-F238E27FC236}">
                <a16:creationId xmlns:a16="http://schemas.microsoft.com/office/drawing/2014/main" id="{C612CD96-90BF-26B0-6932-060A4E124234}"/>
              </a:ext>
            </a:extLst>
          </p:cNvPr>
          <p:cNvSpPr>
            <a:spLocks noGrp="1"/>
          </p:cNvSpPr>
          <p:nvPr>
            <p:ph idx="1"/>
          </p:nvPr>
        </p:nvSpPr>
        <p:spPr>
          <a:xfrm>
            <a:off x="838200" y="1259541"/>
            <a:ext cx="10515600" cy="4917422"/>
          </a:xfrm>
        </p:spPr>
        <p:txBody>
          <a:bodyPr>
            <a:normAutofit/>
          </a:bodyPr>
          <a:lstStyle/>
          <a:p>
            <a:pPr marL="0" indent="0">
              <a:buNone/>
            </a:pPr>
            <a:endParaRPr lang="ko-KR" altLang="en-US" sz="2000" dirty="0"/>
          </a:p>
        </p:txBody>
      </p:sp>
      <p:cxnSp>
        <p:nvCxnSpPr>
          <p:cNvPr id="5" name="직선 연결선 4">
            <a:extLst>
              <a:ext uri="{FF2B5EF4-FFF2-40B4-BE49-F238E27FC236}">
                <a16:creationId xmlns:a16="http://schemas.microsoft.com/office/drawing/2014/main" id="{890544DF-2D3F-2FFC-F47D-35C9D1C81025}"/>
              </a:ext>
            </a:extLst>
          </p:cNvPr>
          <p:cNvCxnSpPr>
            <a:cxnSpLocks/>
          </p:cNvCxnSpPr>
          <p:nvPr/>
        </p:nvCxnSpPr>
        <p:spPr>
          <a:xfrm flipV="1">
            <a:off x="838200" y="11519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F99B9146-C8E4-D61C-629E-2C7A56166610}"/>
              </a:ext>
            </a:extLst>
          </p:cNvPr>
          <p:cNvSpPr>
            <a:spLocks noGrp="1"/>
          </p:cNvSpPr>
          <p:nvPr>
            <p:ph type="sldNum" sz="quarter" idx="12"/>
          </p:nvPr>
        </p:nvSpPr>
        <p:spPr/>
        <p:txBody>
          <a:bodyPr/>
          <a:lstStyle/>
          <a:p>
            <a:fld id="{64DFE92E-FC6E-4A88-9F96-FE3893F9F10A}" type="slidenum">
              <a:rPr lang="ko-KR" altLang="en-US" smtClean="0"/>
              <a:t>18</a:t>
            </a:fld>
            <a:endParaRPr lang="ko-KR" altLang="en-US"/>
          </a:p>
        </p:txBody>
      </p:sp>
    </p:spTree>
    <p:extLst>
      <p:ext uri="{BB962C8B-B14F-4D97-AF65-F5344CB8AC3E}">
        <p14:creationId xmlns:p14="http://schemas.microsoft.com/office/powerpoint/2010/main" val="82024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003BA-303B-26F7-12CB-836EB1691D50}"/>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1E6118A-1BBE-0142-8502-E79C67D20894}"/>
              </a:ext>
            </a:extLst>
          </p:cNvPr>
          <p:cNvSpPr>
            <a:spLocks noGrp="1"/>
          </p:cNvSpPr>
          <p:nvPr>
            <p:ph type="title"/>
          </p:nvPr>
        </p:nvSpPr>
        <p:spPr>
          <a:xfrm>
            <a:off x="838200" y="365126"/>
            <a:ext cx="10515600" cy="786840"/>
          </a:xfrm>
        </p:spPr>
        <p:txBody>
          <a:bodyPr>
            <a:normAutofit/>
          </a:bodyPr>
          <a:lstStyle/>
          <a:p>
            <a:pPr algn="ctr"/>
            <a:endParaRPr lang="ko-KR" altLang="en-US" sz="3000" b="1" dirty="0"/>
          </a:p>
        </p:txBody>
      </p:sp>
      <p:sp>
        <p:nvSpPr>
          <p:cNvPr id="3" name="내용 개체 틀 2">
            <a:extLst>
              <a:ext uri="{FF2B5EF4-FFF2-40B4-BE49-F238E27FC236}">
                <a16:creationId xmlns:a16="http://schemas.microsoft.com/office/drawing/2014/main" id="{A8DECD10-C2AB-E40F-591C-A31994C87851}"/>
              </a:ext>
            </a:extLst>
          </p:cNvPr>
          <p:cNvSpPr>
            <a:spLocks noGrp="1"/>
          </p:cNvSpPr>
          <p:nvPr>
            <p:ph idx="1"/>
          </p:nvPr>
        </p:nvSpPr>
        <p:spPr>
          <a:xfrm>
            <a:off x="838200" y="1259541"/>
            <a:ext cx="10515600" cy="4917422"/>
          </a:xfrm>
        </p:spPr>
        <p:txBody>
          <a:bodyPr>
            <a:normAutofit/>
          </a:bodyPr>
          <a:lstStyle/>
          <a:p>
            <a:pPr marL="0" indent="0">
              <a:buNone/>
            </a:pPr>
            <a:endParaRPr lang="ko-KR" altLang="en-US" sz="2000" dirty="0"/>
          </a:p>
        </p:txBody>
      </p:sp>
      <p:cxnSp>
        <p:nvCxnSpPr>
          <p:cNvPr id="5" name="직선 연결선 4">
            <a:extLst>
              <a:ext uri="{FF2B5EF4-FFF2-40B4-BE49-F238E27FC236}">
                <a16:creationId xmlns:a16="http://schemas.microsoft.com/office/drawing/2014/main" id="{CB67A70D-41FF-8512-3109-792392EE7F86}"/>
              </a:ext>
            </a:extLst>
          </p:cNvPr>
          <p:cNvCxnSpPr>
            <a:cxnSpLocks/>
          </p:cNvCxnSpPr>
          <p:nvPr/>
        </p:nvCxnSpPr>
        <p:spPr>
          <a:xfrm flipV="1">
            <a:off x="838200" y="11519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그림 3">
            <a:extLst>
              <a:ext uri="{FF2B5EF4-FFF2-40B4-BE49-F238E27FC236}">
                <a16:creationId xmlns:a16="http://schemas.microsoft.com/office/drawing/2014/main" id="{ACDDFFE8-C990-B387-6CA4-C08144A180C1}"/>
              </a:ext>
            </a:extLst>
          </p:cNvPr>
          <p:cNvPicPr>
            <a:picLocks noChangeAspect="1"/>
          </p:cNvPicPr>
          <p:nvPr/>
        </p:nvPicPr>
        <p:blipFill>
          <a:blip r:embed="rId2"/>
          <a:stretch>
            <a:fillRect/>
          </a:stretch>
        </p:blipFill>
        <p:spPr>
          <a:xfrm>
            <a:off x="2209800" y="365126"/>
            <a:ext cx="7772400" cy="5915834"/>
          </a:xfrm>
          <a:prstGeom prst="rect">
            <a:avLst/>
          </a:prstGeom>
        </p:spPr>
      </p:pic>
      <p:sp>
        <p:nvSpPr>
          <p:cNvPr id="6" name="슬라이드 번호 개체 틀 5">
            <a:extLst>
              <a:ext uri="{FF2B5EF4-FFF2-40B4-BE49-F238E27FC236}">
                <a16:creationId xmlns:a16="http://schemas.microsoft.com/office/drawing/2014/main" id="{667FFDF4-E832-0604-791B-52CEE560A43E}"/>
              </a:ext>
            </a:extLst>
          </p:cNvPr>
          <p:cNvSpPr>
            <a:spLocks noGrp="1"/>
          </p:cNvSpPr>
          <p:nvPr>
            <p:ph type="sldNum" sz="quarter" idx="12"/>
          </p:nvPr>
        </p:nvSpPr>
        <p:spPr/>
        <p:txBody>
          <a:bodyPr/>
          <a:lstStyle/>
          <a:p>
            <a:fld id="{64DFE92E-FC6E-4A88-9F96-FE3893F9F10A}" type="slidenum">
              <a:rPr lang="ko-KR" altLang="en-US" smtClean="0"/>
              <a:t>19</a:t>
            </a:fld>
            <a:endParaRPr lang="ko-KR" altLang="en-US"/>
          </a:p>
        </p:txBody>
      </p:sp>
    </p:spTree>
    <p:extLst>
      <p:ext uri="{BB962C8B-B14F-4D97-AF65-F5344CB8AC3E}">
        <p14:creationId xmlns:p14="http://schemas.microsoft.com/office/powerpoint/2010/main" val="789629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56DD4-CE45-ED0F-59DB-724D6E7FBBA0}"/>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D85374CC-A757-A5D7-2965-C2D947489855}"/>
              </a:ext>
            </a:extLst>
          </p:cNvPr>
          <p:cNvSpPr>
            <a:spLocks noGrp="1"/>
          </p:cNvSpPr>
          <p:nvPr>
            <p:ph type="title"/>
          </p:nvPr>
        </p:nvSpPr>
        <p:spPr>
          <a:xfrm>
            <a:off x="838200" y="365126"/>
            <a:ext cx="10515600" cy="786840"/>
          </a:xfrm>
        </p:spPr>
        <p:txBody>
          <a:bodyPr>
            <a:normAutofit/>
          </a:bodyPr>
          <a:lstStyle/>
          <a:p>
            <a:pPr algn="ctr"/>
            <a:endParaRPr lang="ko-KR" altLang="en-US" sz="3000" b="1" dirty="0"/>
          </a:p>
        </p:txBody>
      </p:sp>
      <p:sp>
        <p:nvSpPr>
          <p:cNvPr id="3" name="내용 개체 틀 2">
            <a:extLst>
              <a:ext uri="{FF2B5EF4-FFF2-40B4-BE49-F238E27FC236}">
                <a16:creationId xmlns:a16="http://schemas.microsoft.com/office/drawing/2014/main" id="{2C3E26D2-4D2D-DB93-5B81-F4CBB300A9E3}"/>
              </a:ext>
            </a:extLst>
          </p:cNvPr>
          <p:cNvSpPr>
            <a:spLocks noGrp="1"/>
          </p:cNvSpPr>
          <p:nvPr>
            <p:ph idx="1"/>
          </p:nvPr>
        </p:nvSpPr>
        <p:spPr>
          <a:xfrm>
            <a:off x="838200" y="1259541"/>
            <a:ext cx="10515600" cy="4917422"/>
          </a:xfrm>
        </p:spPr>
        <p:txBody>
          <a:bodyPr>
            <a:normAutofit/>
          </a:bodyPr>
          <a:lstStyle/>
          <a:p>
            <a:pPr marL="0" indent="0">
              <a:buNone/>
            </a:pPr>
            <a:endParaRPr lang="ko-KR" altLang="en-US" sz="2000" dirty="0"/>
          </a:p>
        </p:txBody>
      </p:sp>
      <p:cxnSp>
        <p:nvCxnSpPr>
          <p:cNvPr id="5" name="직선 연결선 4">
            <a:extLst>
              <a:ext uri="{FF2B5EF4-FFF2-40B4-BE49-F238E27FC236}">
                <a16:creationId xmlns:a16="http://schemas.microsoft.com/office/drawing/2014/main" id="{A31DCF33-814A-AD86-CD7E-1BD61ED1A131}"/>
              </a:ext>
            </a:extLst>
          </p:cNvPr>
          <p:cNvCxnSpPr>
            <a:cxnSpLocks/>
          </p:cNvCxnSpPr>
          <p:nvPr/>
        </p:nvCxnSpPr>
        <p:spPr>
          <a:xfrm flipV="1">
            <a:off x="838200" y="1151966"/>
            <a:ext cx="10515600" cy="2504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6" name="슬라이드 번호 개체 틀 5">
            <a:extLst>
              <a:ext uri="{FF2B5EF4-FFF2-40B4-BE49-F238E27FC236}">
                <a16:creationId xmlns:a16="http://schemas.microsoft.com/office/drawing/2014/main" id="{74155BA9-22ED-A1E5-72AA-B3818705E402}"/>
              </a:ext>
            </a:extLst>
          </p:cNvPr>
          <p:cNvSpPr>
            <a:spLocks noGrp="1"/>
          </p:cNvSpPr>
          <p:nvPr>
            <p:ph type="sldNum" sz="quarter" idx="12"/>
          </p:nvPr>
        </p:nvSpPr>
        <p:spPr/>
        <p:txBody>
          <a:bodyPr/>
          <a:lstStyle/>
          <a:p>
            <a:fld id="{64DFE92E-FC6E-4A88-9F96-FE3893F9F10A}" type="slidenum">
              <a:rPr lang="ko-KR" altLang="en-US" smtClean="0"/>
              <a:t>20</a:t>
            </a:fld>
            <a:endParaRPr lang="ko-KR" altLang="en-US"/>
          </a:p>
        </p:txBody>
      </p:sp>
      <p:pic>
        <p:nvPicPr>
          <p:cNvPr id="8" name="그림 7">
            <a:extLst>
              <a:ext uri="{FF2B5EF4-FFF2-40B4-BE49-F238E27FC236}">
                <a16:creationId xmlns:a16="http://schemas.microsoft.com/office/drawing/2014/main" id="{9F354092-383C-B905-B8AA-7B3B503E92E6}"/>
              </a:ext>
            </a:extLst>
          </p:cNvPr>
          <p:cNvPicPr>
            <a:picLocks noChangeAspect="1"/>
          </p:cNvPicPr>
          <p:nvPr/>
        </p:nvPicPr>
        <p:blipFill>
          <a:blip r:embed="rId2"/>
          <a:stretch>
            <a:fillRect/>
          </a:stretch>
        </p:blipFill>
        <p:spPr>
          <a:xfrm>
            <a:off x="2725847" y="0"/>
            <a:ext cx="6740305" cy="6858000"/>
          </a:xfrm>
          <a:prstGeom prst="rect">
            <a:avLst/>
          </a:prstGeom>
        </p:spPr>
      </p:pic>
    </p:spTree>
    <p:extLst>
      <p:ext uri="{BB962C8B-B14F-4D97-AF65-F5344CB8AC3E}">
        <p14:creationId xmlns:p14="http://schemas.microsoft.com/office/powerpoint/2010/main" val="465643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D134A7B6-0A7B-4F12-1228-D1213277AF3C}"/>
              </a:ext>
            </a:extLst>
          </p:cNvPr>
          <p:cNvSpPr>
            <a:spLocks noGrp="1"/>
          </p:cNvSpPr>
          <p:nvPr>
            <p:ph type="sldNum" sz="quarter" idx="12"/>
          </p:nvPr>
        </p:nvSpPr>
        <p:spPr/>
        <p:txBody>
          <a:bodyPr/>
          <a:lstStyle/>
          <a:p>
            <a:fld id="{64DFE92E-FC6E-4A88-9F96-FE3893F9F10A}" type="slidenum">
              <a:rPr lang="ko-KR" altLang="en-US" smtClean="0"/>
              <a:t>21</a:t>
            </a:fld>
            <a:endParaRPr lang="ko-KR" altLang="en-US"/>
          </a:p>
        </p:txBody>
      </p:sp>
      <p:pic>
        <p:nvPicPr>
          <p:cNvPr id="4" name="그림 3">
            <a:extLst>
              <a:ext uri="{FF2B5EF4-FFF2-40B4-BE49-F238E27FC236}">
                <a16:creationId xmlns:a16="http://schemas.microsoft.com/office/drawing/2014/main" id="{236E1CFB-2B42-9BC5-4057-1480132539ED}"/>
              </a:ext>
            </a:extLst>
          </p:cNvPr>
          <p:cNvPicPr>
            <a:picLocks noChangeAspect="1"/>
          </p:cNvPicPr>
          <p:nvPr/>
        </p:nvPicPr>
        <p:blipFill>
          <a:blip r:embed="rId2"/>
          <a:stretch>
            <a:fillRect/>
          </a:stretch>
        </p:blipFill>
        <p:spPr>
          <a:xfrm>
            <a:off x="2342626" y="1075996"/>
            <a:ext cx="7506748" cy="4706007"/>
          </a:xfrm>
          <a:prstGeom prst="rect">
            <a:avLst/>
          </a:prstGeom>
        </p:spPr>
      </p:pic>
    </p:spTree>
    <p:extLst>
      <p:ext uri="{BB962C8B-B14F-4D97-AF65-F5344CB8AC3E}">
        <p14:creationId xmlns:p14="http://schemas.microsoft.com/office/powerpoint/2010/main" val="24857360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956</TotalTime>
  <Words>1755</Words>
  <Application>Microsoft Macintosh PowerPoint</Application>
  <PresentationFormat>와이드스크린</PresentationFormat>
  <Paragraphs>196</Paragraphs>
  <Slides>21</Slides>
  <Notes>15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21</vt:i4>
      </vt:variant>
    </vt:vector>
  </HeadingPairs>
  <TitlesOfParts>
    <vt:vector size="26" baseType="lpstr">
      <vt:lpstr>맑은 고딕</vt:lpstr>
      <vt:lpstr>Arial</vt:lpstr>
      <vt:lpstr>Cambria Math</vt:lpstr>
      <vt:lpstr>Helvetica</vt:lpstr>
      <vt:lpstr>Office 테마</vt:lpstr>
      <vt:lpstr>SAFETY LAYERS IN ALIGNED LARGE LANGUAGE MODELS: THE KEY TO LLM SECURITY</vt:lpstr>
      <vt:lpstr>Motivation</vt:lpstr>
      <vt:lpstr>Why this paper matters ?</vt:lpstr>
      <vt:lpstr>Safety Layers</vt:lpstr>
      <vt:lpstr>Safety Layers</vt:lpstr>
      <vt:lpstr>Safety Layers: Existence and Localization</vt:lpstr>
      <vt:lpstr>Existence</vt:lpstr>
      <vt:lpstr>Existence</vt:lpstr>
      <vt:lpstr>Localization</vt:lpstr>
      <vt:lpstr>Localization</vt:lpstr>
      <vt:lpstr>Over-rejection in safety layer parameter scaling</vt:lpstr>
      <vt:lpstr>Progressive safety layers localization adjusting</vt:lpstr>
      <vt:lpstr>Safety Layers of Aligned LLMs</vt:lpstr>
      <vt:lpstr>Discussion</vt:lpstr>
      <vt:lpstr>SPPFT: Safely Partial-Parameter Fine-Tuning </vt:lpstr>
      <vt:lpstr>Safety Layers: fine-tuning Jailbreak defence</vt:lpstr>
      <vt:lpstr>Conclusion</vt:lpstr>
      <vt:lpstr>Thank You</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백가현</dc:creator>
  <cp:lastModifiedBy>백가현</cp:lastModifiedBy>
  <cp:revision>86</cp:revision>
  <dcterms:created xsi:type="dcterms:W3CDTF">2026-04-07T05:23:48Z</dcterms:created>
  <dcterms:modified xsi:type="dcterms:W3CDTF">2026-04-13T04:04:13Z</dcterms:modified>
</cp:coreProperties>
</file>