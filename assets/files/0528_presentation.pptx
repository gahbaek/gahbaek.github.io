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4" r:id="rId3"/>
    <p:sldId id="291" r:id="rId4"/>
    <p:sldId id="261" r:id="rId5"/>
    <p:sldId id="275" r:id="rId6"/>
    <p:sldId id="263" r:id="rId7"/>
    <p:sldId id="259" r:id="rId8"/>
    <p:sldId id="260" r:id="rId9"/>
    <p:sldId id="262" r:id="rId10"/>
    <p:sldId id="280" r:id="rId11"/>
    <p:sldId id="281" r:id="rId12"/>
    <p:sldId id="282" r:id="rId13"/>
    <p:sldId id="283" r:id="rId14"/>
    <p:sldId id="285" r:id="rId15"/>
    <p:sldId id="284" r:id="rId16"/>
    <p:sldId id="286" r:id="rId17"/>
    <p:sldId id="287" r:id="rId18"/>
    <p:sldId id="288" r:id="rId19"/>
    <p:sldId id="289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3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BE"/>
    <a:srgbClr val="E2F7D9"/>
    <a:srgbClr val="DEE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6" autoAdjust="0"/>
    <p:restoredTop sz="81864" autoAdjust="0"/>
  </p:normalViewPr>
  <p:slideViewPr>
    <p:cSldViewPr snapToGrid="0">
      <p:cViewPr varScale="1">
        <p:scale>
          <a:sx n="84" d="100"/>
          <a:sy n="84" d="100"/>
        </p:scale>
        <p:origin x="72" y="1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BD20F6-7AF2-E0AE-3805-0A654E6DBE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A6A595-C5BD-F7BF-7696-5A38F043F9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4E722-4B6C-45A1-9603-AE8C54B3A2A3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F93BFD-2228-F3F6-D7B2-1A6B525D0E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9845D3-5D20-C22A-0E70-0D0FBF4C20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4B0B8-DE81-4A36-A75E-EC56F6E667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024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B147C-1E27-1E4C-9DAC-245C048CD903}" type="datetimeFigureOut">
              <a:rPr kumimoji="1" lang="ko-KR" altLang="en-US" smtClean="0"/>
              <a:t>2026-05-27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37B7D-2B8D-8B48-AFD1-DD4AA299B0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5807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3506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A3BF3-28DC-2A76-EF09-3A0228AE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7F09E9-B210-3586-BB0E-38721E9C9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7530F-B7DD-AF8A-544B-3B4946C5E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0FB00-E423-B778-E349-2DBAE4DF2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700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99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471A-A43F-A139-9295-F3FDE4CA9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0E0130-A2F6-956E-3BDA-631964E0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5A2B1E-8667-A794-F6A6-AF922C171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B489E-8E08-7479-58B0-E8FBF97FA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608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F69B-C914-916D-9893-87297652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25F3D1-D4FD-E1F0-B014-2EAFE9306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1EEF10-FE4D-6A4D-9D3F-F6927B0EA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5C8B2-1254-5866-DF2F-05A0B5B69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997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4584-E7B9-B1FC-0934-BC5AD335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500F32-31A8-9C1E-0CF1-2B8705486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782E08-AA21-0395-CED0-EA626DEDD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84C51-E031-8A31-5936-8EE389808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0479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6D8E-C7A3-4688-0F95-38091800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67BE0D-4EF9-87A7-E63F-BA857F587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29C72-96A9-70C4-FFE9-44CFC701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CACEE-CEF9-ACFA-8298-6CB937371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2062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81CD-E068-C928-6E8D-371C1E5E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F40F49-34A1-46BC-6CD0-E31989997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395732-4AE9-57BE-5048-C93579E79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9AB91-4D7E-205D-0586-DDB1941A7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3605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97C54-8BAB-8EFD-5E0D-F741E160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09F7A7-6DBA-95CE-D1F6-5E9CD472A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C4BD6B-002C-05D8-F170-F3ED10953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8F0D0D-ADC6-C1B8-CCD8-6C3C5E867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1589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1D8B7-38EF-4400-BF65-3803DD98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5CBA33-356E-A66C-BAC3-02ECB6D7F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A657E7-95CF-5756-BDA7-AA5C869CC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89244F-6115-D6EE-98F1-57C7AC4FC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7144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C5F4-53BB-F9E9-5A96-4EFF7E92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06D4B-C8B4-5EF9-5BC9-05CBAE6C5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32C35B-FB57-1E3D-21B9-A4474E38B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89348A-38A3-6B58-3EB5-063BD5E9D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8711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27FA-B437-E771-BF8C-CC16F308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FDC4F1-F92E-ADC8-B085-0CF955C06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BDECA5-2E6C-6934-3ABD-5416B7A9E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B9DE8-4FF9-20A2-6B2F-B3E384390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5788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0275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9373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37B7D-2B8D-8B48-AFD1-DD4AA299B006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2210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3ACA6-62CD-C161-DC5D-933D2FD66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339200-1B40-9A6D-09D5-6FBADF31E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CA7C12-42B4-D38A-D36F-3BA86EA64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05A-9359-416F-A7FE-BC71402234B6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65135-7C42-B289-5D71-1226F26D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A6AE9-C97F-148A-7EC4-6648FD29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7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60671-C098-83EB-3B73-94D9F454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303B6F-059F-D8AF-98FF-67CF87C82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96C30B-9041-00F2-F346-4E4C2FD3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DED1-C463-4034-BEFA-1890D9B68826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77C3B-BA15-DE9F-D952-8595E165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47F31-D51A-D518-9252-8484520A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80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0C236-B69E-95F6-4462-F9F82D29E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8E0843-18A8-ACC0-1837-51B8DA0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3407D-0C3C-3D87-D823-EF9EA0C4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7005-CD66-4AD3-B94A-FE83F363BA6E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6AF05A-F58F-7C54-D409-8B967888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F88C7E-B146-63D9-589C-2178F039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4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3C435-50C1-045A-EFE0-B50392EA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C88EB-1EA3-FC91-6FD3-E25C2AD6E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8D88D0-9BD5-18EE-6963-B596B8B53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CB9363-35A9-5C6B-7AA4-8D5180A4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DBB13-5A20-4852-BC1B-162CB91FB930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295085-8577-D065-36B4-DCEEE8FF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2C8DD-2B90-3BF4-B9A4-AF3F6A6D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85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49A91-49F8-0ED8-1120-8938E513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BFA7B4-2ADA-6072-17DB-0F87557A7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B1A2F5-2C3D-27A2-43A8-897FFCA65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3E446D-971A-E661-7B2B-237E5F3E3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A72F30-82D5-6474-2314-53D193219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9E80C7-2627-C60F-AE1E-0C75E0B33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B73D-2A46-45C7-A926-23DE8AA05B2F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AAB069-C1DF-B85C-4734-13151607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4FB3EE-04BE-7DA0-A60B-F29DF750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91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5297B-F4F5-051F-2338-2D962E2A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5B4CC0-9D33-8EC5-A73E-5D40A3FCB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835F0-57AC-46DF-A550-D7C44C7CE03F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9B55AB-50D4-F59F-F282-A69FA7AA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B5C178-DFAB-2058-F48C-A11A0E46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88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44CA99-3F90-356A-7AFE-0A567A457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E1711-62A8-4664-B84F-5620D8567A05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717EAA-CBC9-4166-9112-71D31185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A1DD33-E887-4F47-5AA5-FE01347D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B3549-CC1D-3D5C-D4B1-CD193BE9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B752F-C279-CDFB-AE42-EE8D82571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A65819-1D7A-9005-10AA-E0947329B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DAE9C8-D9A3-6C8B-C80B-A4AFC34D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B17B8-D76C-453D-BFB4-8B74ED02BC26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5089A4-3C2A-DDF0-0880-82FDCF10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951EB3-7A3B-01AA-9201-CBD589C8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41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1A65A-E602-1AD5-6B24-9E557714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AEC322-9846-CDE7-4174-45489550A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852A7A-D46C-0297-D29B-91A380AC2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C5E4F7-4E9A-CD61-9F03-C18D19D3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1DE22-5A6E-428B-A1B8-B5CEDAE54AF0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F85272-7944-AEA2-7871-D21954859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997D4-46A9-8873-88AE-F006A5A8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37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39C18-7975-7947-1DBB-670E6A4D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BBBFCC-D6C7-4657-E82B-27FF4A1B3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56F4E-7720-F6A6-2149-4172DB0C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A6C0-121F-45DD-83CF-242FAAB16DA6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43264-4F19-983D-EC6C-DBBF4FD5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34DE8F-58DF-A0E0-7B71-5C8E3EB0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49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7838C3-A20E-F69D-BF8A-E6DBF8F39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250AE3-D8F8-E7BA-3B30-19F5FB35E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91C5E-89F2-6BB5-07FD-7309BA6B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FBDF6-7BC1-4E16-8F03-D17B94A533C3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D0FC17-0B01-1277-1CC9-CA77DBB9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36A6E-85FE-265C-3BA9-E9A1D155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35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6DDE33-037F-7A31-7772-0A0A7B5BA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99BCAC-FF6B-62BC-CC89-B483A78D3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1949D-8BB7-2475-7800-287E35FDE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80BED-E83E-4977-B6A2-BDA527A39F97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1C64C-9092-D8F2-7D47-FE7CDAED7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1AD19-22A7-D38A-D38D-7B6F7B9F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FE92E-FC6E-4A88-9F96-FE3893F9F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87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AC747-EEC3-E4FA-7C2D-E03357DC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4745"/>
            <a:ext cx="9144000" cy="1423776"/>
          </a:xfrm>
        </p:spPr>
        <p:txBody>
          <a:bodyPr>
            <a:noAutofit/>
          </a:bodyPr>
          <a:lstStyle/>
          <a:p>
            <a:r>
              <a:rPr lang="en-US" altLang="ko-K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Symbolic Execution with Self-Configuring Parameters</a:t>
            </a:r>
            <a:endParaRPr lang="ko-KR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BE109E-A229-E829-223A-0A07A2C62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6743"/>
            <a:ext cx="9144000" cy="451884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ICSE 2026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0A357-BA4E-D970-6F9A-B0ACEBD427CF}"/>
              </a:ext>
            </a:extLst>
          </p:cNvPr>
          <p:cNvSpPr txBox="1"/>
          <p:nvPr/>
        </p:nvSpPr>
        <p:spPr>
          <a:xfrm>
            <a:off x="2622699" y="3626688"/>
            <a:ext cx="28849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Minjong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</a:t>
            </a:r>
          </a:p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Sungkyunkwan University</a:t>
            </a:r>
          </a:p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Suwon, Republic of Korea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BF63B-3E05-AE90-A6DD-DA76752AA0A0}"/>
              </a:ext>
            </a:extLst>
          </p:cNvPr>
          <p:cNvSpPr txBox="1"/>
          <p:nvPr/>
        </p:nvSpPr>
        <p:spPr>
          <a:xfrm>
            <a:off x="6684350" y="3626688"/>
            <a:ext cx="28849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Sooyoung Cha</a:t>
            </a:r>
          </a:p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Sungkyunkwan University</a:t>
            </a:r>
          </a:p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Suwon, Republic of Korea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510A3BD9-600A-6884-50CB-C337F3118700}"/>
              </a:ext>
            </a:extLst>
          </p:cNvPr>
          <p:cNvSpPr txBox="1">
            <a:spLocks/>
          </p:cNvSpPr>
          <p:nvPr/>
        </p:nvSpPr>
        <p:spPr>
          <a:xfrm>
            <a:off x="1524000" y="5283752"/>
            <a:ext cx="9144000" cy="93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2026.05.28 </a:t>
            </a:r>
          </a:p>
          <a:p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백가현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66D61-D61C-215B-564A-8F21795C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28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2F67-41F0-6C53-6448-4DFA2B2F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CB72E-A531-1064-4C0A-F9D498FC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ko-KR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ko-KR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Execution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633239-8CDB-CDE5-3C40-0A72AB574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Symbolic execution</a:t>
            </a:r>
          </a:p>
          <a:p>
            <a:pPr lvl="1"/>
            <a:r>
              <a:rPr lang="ko-KR" altLang="en-US" sz="1600" dirty="0"/>
              <a:t>프로그램의 입력을 </a:t>
            </a:r>
            <a:r>
              <a:rPr lang="en-US" altLang="ko-KR" sz="1600" dirty="0"/>
              <a:t>symbolic variable</a:t>
            </a:r>
            <a:r>
              <a:rPr lang="ko-KR" altLang="en-US" sz="1600" dirty="0"/>
              <a:t>로 두고 여러 실행 경로를 탐색하면서 </a:t>
            </a:r>
            <a:r>
              <a:rPr lang="en-US" altLang="ko-KR" sz="1600" dirty="0"/>
              <a:t>test case</a:t>
            </a:r>
            <a:r>
              <a:rPr lang="ko-KR" altLang="en-US" sz="1600" dirty="0"/>
              <a:t>를 생성하는 기법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현대 </a:t>
            </a:r>
            <a:r>
              <a:rPr lang="en-US" altLang="ko-KR" sz="1800" dirty="0"/>
              <a:t>symbolic execution tools </a:t>
            </a:r>
            <a:r>
              <a:rPr lang="ko-KR" altLang="en-US" sz="1800" dirty="0"/>
              <a:t>에는 많은 파라미터가 있고 이러한 방대한 파라미터는 사용자로 하여금 사용을 어렵게 만든다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600" dirty="0"/>
              <a:t>KLEE</a:t>
            </a:r>
            <a:r>
              <a:rPr lang="ko-KR" altLang="en-US" sz="1600" dirty="0"/>
              <a:t> 는 </a:t>
            </a:r>
            <a:r>
              <a:rPr lang="en-US" altLang="ko-KR" sz="1600" dirty="0"/>
              <a:t>148</a:t>
            </a:r>
            <a:r>
              <a:rPr lang="ko-KR" altLang="en-US" sz="1600" dirty="0"/>
              <a:t>개의 </a:t>
            </a:r>
            <a:r>
              <a:rPr lang="en-US" altLang="ko-KR" sz="1600" dirty="0"/>
              <a:t>parameter </a:t>
            </a:r>
            <a:r>
              <a:rPr lang="ko-KR" altLang="en-US" sz="1600" dirty="0"/>
              <a:t>가 있다</a:t>
            </a:r>
            <a:r>
              <a:rPr lang="en-US" altLang="ko-KR" sz="1600" dirty="0"/>
              <a:t>.</a:t>
            </a:r>
          </a:p>
          <a:p>
            <a:pPr lvl="1"/>
            <a:endParaRPr kumimoji="1" lang="ko-KR" altLang="en-US" sz="1600" dirty="0"/>
          </a:p>
          <a:p>
            <a:r>
              <a:rPr lang="en-US" altLang="ko-KR" sz="1800" dirty="0"/>
              <a:t>Symbolic executor </a:t>
            </a:r>
            <a:r>
              <a:rPr lang="ko-KR" altLang="en-US" sz="1800" dirty="0"/>
              <a:t>의 많은 외부 파라미터가 </a:t>
            </a:r>
            <a:r>
              <a:rPr lang="en-US" altLang="ko-KR" sz="1800" dirty="0"/>
              <a:t>branch coverage</a:t>
            </a:r>
            <a:r>
              <a:rPr lang="ko-KR" altLang="en-US" sz="1800" dirty="0"/>
              <a:t>와 </a:t>
            </a:r>
            <a:r>
              <a:rPr lang="en-US" altLang="ko-KR" sz="1800" dirty="0"/>
              <a:t>bug finding </a:t>
            </a:r>
            <a:r>
              <a:rPr lang="ko-KR" altLang="en-US" sz="1800" dirty="0"/>
              <a:t>등의 성능에 큰 영향을 준다</a:t>
            </a:r>
            <a:r>
              <a:rPr lang="en-US" altLang="ko-KR" sz="1800" dirty="0"/>
              <a:t>.</a:t>
            </a: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D7FE1FB6-EBFC-DFE4-ACF2-57019BFE68CD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317979-8C8F-C0E2-2406-CC75800D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87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31AF-E110-C06B-15AA-30ADF90B2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FA41F-A274-0F6D-B533-A506140F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Parasuit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F07787-A4F7-E891-F63A-275C33D2C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1800" b="1" dirty="0" err="1"/>
              <a:t>Parasuit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의 목표</a:t>
            </a:r>
            <a:r>
              <a:rPr lang="en-US" altLang="ko-KR" sz="1800" dirty="0"/>
              <a:t>:</a:t>
            </a:r>
          </a:p>
          <a:p>
            <a:pPr lvl="1"/>
            <a:r>
              <a:rPr lang="ko-KR" altLang="en-US" sz="1600" dirty="0"/>
              <a:t>각각의 프로그램에 대해 </a:t>
            </a:r>
            <a:r>
              <a:rPr lang="ko-KR" altLang="ko-KR" sz="1600" dirty="0"/>
              <a:t>자동으로 </a:t>
            </a:r>
            <a:r>
              <a:rPr lang="ko-KR" altLang="ko-KR" sz="1600" dirty="0" err="1"/>
              <a:t>symbolic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execution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parameter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configuration을</a:t>
            </a:r>
            <a:r>
              <a:rPr lang="ko-KR" altLang="ko-KR" sz="1600" dirty="0"/>
              <a:t> 구성</a:t>
            </a:r>
            <a:r>
              <a:rPr lang="en-US" altLang="ko-KR" sz="1600" dirty="0"/>
              <a:t>.</a:t>
            </a:r>
            <a:endParaRPr kumimoji="1" lang="ko-KR" altLang="en-US" sz="16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5872DBDC-7051-41A2-E471-966FCC0F0EF5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2C7F065-3086-B2CA-554F-52D640892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605764"/>
              </p:ext>
            </p:extLst>
          </p:nvPr>
        </p:nvGraphicFramePr>
        <p:xfrm>
          <a:off x="2327778" y="2377440"/>
          <a:ext cx="7536444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8510">
                  <a:extLst>
                    <a:ext uri="{9D8B030D-6E8A-4147-A177-3AD203B41FA5}">
                      <a16:colId xmlns:a16="http://schemas.microsoft.com/office/drawing/2014/main" val="3102812563"/>
                    </a:ext>
                  </a:extLst>
                </a:gridCol>
                <a:gridCol w="2758967">
                  <a:extLst>
                    <a:ext uri="{9D8B030D-6E8A-4147-A177-3AD203B41FA5}">
                      <a16:colId xmlns:a16="http://schemas.microsoft.com/office/drawing/2014/main" val="264833147"/>
                    </a:ext>
                  </a:extLst>
                </a:gridCol>
                <a:gridCol w="2758967">
                  <a:extLst>
                    <a:ext uri="{9D8B030D-6E8A-4147-A177-3AD203B41FA5}">
                      <a16:colId xmlns:a16="http://schemas.microsoft.com/office/drawing/2014/main" val="3899605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/>
                        <a:t>SymTuner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/>
                        <a:t>ParaSuit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234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파라미터</a:t>
                      </a:r>
                      <a:r>
                        <a:rPr lang="en-US" b="1" dirty="0"/>
                        <a:t> </a:t>
                      </a:r>
                      <a:r>
                        <a:rPr lang="ko-KR" altLang="en-US" b="1" dirty="0"/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사람이 미리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자동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9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 err="1"/>
                        <a:t>후보값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사람이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프로그램별 자동 구성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29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튜닝</a:t>
                      </a:r>
                      <a:r>
                        <a:rPr lang="en-US" b="1" dirty="0"/>
                        <a:t> </a:t>
                      </a:r>
                      <a:r>
                        <a:rPr lang="ko-KR" altLang="en-US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user-configured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self-configuring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90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한계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fixed search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실행 </a:t>
                      </a:r>
                      <a:r>
                        <a:rPr lang="en-US" altLang="ko-KR" dirty="0"/>
                        <a:t>feedback </a:t>
                      </a:r>
                      <a:r>
                        <a:rPr lang="ko-KR" altLang="en-US" dirty="0"/>
                        <a:t>기반 반복 개선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354962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8E33A-0059-6501-B7FB-0033C1B2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36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B104-D5BA-E7AB-0EE6-F79F19A7E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C620C-A7C3-AABF-731A-50F61DC5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Parameter Tuning Approaches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43CFC1-5140-E46C-0C73-015B7E633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Manual Tuning Approach</a:t>
            </a:r>
          </a:p>
          <a:p>
            <a:pPr lvl="1"/>
            <a:r>
              <a:rPr lang="en-US" altLang="ko-KR" sz="1600" dirty="0"/>
              <a:t>Boolean, integer, string type </a:t>
            </a:r>
            <a:r>
              <a:rPr lang="ko-KR" altLang="en-US" sz="1600" dirty="0"/>
              <a:t>파라미터가 섞여 있고 가능한 조합이 매우 많음</a:t>
            </a:r>
            <a:r>
              <a:rPr lang="en-US" altLang="ko-KR" sz="16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b="1" dirty="0"/>
              <a:t>User-configured Tuning Approach	</a:t>
            </a:r>
          </a:p>
          <a:p>
            <a:pPr lvl="1"/>
            <a:r>
              <a:rPr lang="ko-KR" altLang="en-US" sz="1600" dirty="0"/>
              <a:t>사용자가 미리 정한 </a:t>
            </a:r>
            <a:r>
              <a:rPr lang="en-US" altLang="ko-KR" sz="1600" dirty="0"/>
              <a:t>parameter space </a:t>
            </a:r>
            <a:r>
              <a:rPr lang="ko-KR" altLang="en-US" sz="1600" dirty="0"/>
              <a:t>를 입력으로 받고</a:t>
            </a:r>
            <a:r>
              <a:rPr lang="en-US" altLang="ko-KR" sz="1600" dirty="0"/>
              <a:t>, symbolic execution </a:t>
            </a:r>
            <a:r>
              <a:rPr lang="ko-KR" altLang="en-US" sz="1600" dirty="0"/>
              <a:t>을 반복 실행하면서 </a:t>
            </a:r>
            <a:r>
              <a:rPr lang="en-US" altLang="ko-KR" sz="1600" dirty="0"/>
              <a:t>sampling probability </a:t>
            </a:r>
            <a:r>
              <a:rPr lang="ko-KR" altLang="en-US" sz="1600" dirty="0"/>
              <a:t>를 업데이트한다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그러나</a:t>
            </a:r>
            <a:r>
              <a:rPr lang="en-US" altLang="ko-KR" sz="1600" dirty="0"/>
              <a:t>, parameter space </a:t>
            </a:r>
            <a:r>
              <a:rPr lang="ko-KR" altLang="en-US" sz="1600" dirty="0"/>
              <a:t>자체는 사람이 정해야 한다는 한계가 존재한다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06AA830D-8742-7361-6E55-F62E42900823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1D02C1B-DED0-55D9-03AD-0E94D0BE8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61" y="1594693"/>
            <a:ext cx="4241411" cy="12392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58897A3-2F3A-970E-8AB9-46211FB5C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061" y="4300798"/>
            <a:ext cx="3825241" cy="208169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4DEC0D-838B-6D73-319B-155C953B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54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D1677-1601-7097-3708-ACC9FDD7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A8876-BD13-9317-53D8-CC26DD27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DF8C8D-F427-1F54-273F-280F5D31F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Symbolic Execution</a:t>
            </a:r>
          </a:p>
          <a:p>
            <a:pPr lvl="1">
              <a:spcAft>
                <a:spcPts val="200"/>
              </a:spcAft>
            </a:pP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Path explosion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을 줄이기 위한 </a:t>
            </a: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search heuristic 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연구</a:t>
            </a:r>
          </a:p>
          <a:p>
            <a:pPr lvl="1">
              <a:spcAft>
                <a:spcPts val="200"/>
              </a:spcAft>
            </a:pP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Seed selection, state pruning, concolic testing 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등으로 탐색 효율 개선</a:t>
            </a:r>
          </a:p>
          <a:p>
            <a:pPr lvl="1">
              <a:spcAft>
                <a:spcPts val="200"/>
              </a:spcAft>
            </a:pP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대부분 </a:t>
            </a: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engine 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내부 알고리즘 개선에 초점</a:t>
            </a: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External Parameters</a:t>
            </a:r>
          </a:p>
          <a:p>
            <a:pPr lvl="1">
              <a:spcAft>
                <a:spcPts val="200"/>
              </a:spcAft>
            </a:pP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KLEE/CREST 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같은 도구는 많은 외부 파라미터에 민감</a:t>
            </a:r>
          </a:p>
          <a:p>
            <a:pPr lvl="1">
              <a:spcAft>
                <a:spcPts val="200"/>
              </a:spcAft>
            </a:pPr>
            <a:r>
              <a:rPr lang="en-US" altLang="ko-KR" sz="1600" dirty="0" err="1">
                <a:solidFill>
                  <a:srgbClr val="191919"/>
                </a:solidFill>
                <a:latin typeface="Noto Sans CJK KR"/>
              </a:rPr>
              <a:t>SymTuner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는 주어진 후보 공간 안에서 값을 적응적으로 선택</a:t>
            </a:r>
          </a:p>
          <a:p>
            <a:pPr lvl="1">
              <a:spcAft>
                <a:spcPts val="200"/>
              </a:spcAft>
            </a:pP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하지만 튜닝할 파라미터와 후보 값은 사용자가 미리 정해야 함</a:t>
            </a:r>
          </a:p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Search-based Software Testing</a:t>
            </a:r>
          </a:p>
          <a:p>
            <a:pPr lvl="1">
              <a:spcAft>
                <a:spcPts val="200"/>
              </a:spcAft>
            </a:pP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Random search, Bayesian optimization, genetic algorithm 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등 활용 가능</a:t>
            </a:r>
          </a:p>
          <a:p>
            <a:pPr lvl="1">
              <a:spcAft>
                <a:spcPts val="200"/>
              </a:spcAft>
            </a:pP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일반 최적화 기법은 </a:t>
            </a: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symbolic execution 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특화 정보가 부족</a:t>
            </a:r>
          </a:p>
          <a:p>
            <a:pPr lvl="1">
              <a:spcAft>
                <a:spcPts val="200"/>
              </a:spcAft>
            </a:pPr>
            <a:r>
              <a:rPr lang="en-US" altLang="ko-KR" sz="1600" dirty="0" err="1">
                <a:solidFill>
                  <a:srgbClr val="191919"/>
                </a:solidFill>
                <a:latin typeface="Noto Sans CJK KR"/>
              </a:rPr>
              <a:t>ParaSuit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는 </a:t>
            </a:r>
            <a:r>
              <a:rPr lang="en-US" altLang="ko-KR" sz="1600" dirty="0">
                <a:solidFill>
                  <a:srgbClr val="191919"/>
                </a:solidFill>
                <a:latin typeface="Noto Sans CJK KR"/>
              </a:rPr>
              <a:t>branch feedback</a:t>
            </a:r>
            <a:r>
              <a:rPr lang="ko-KR" altLang="en-US" sz="1600" dirty="0">
                <a:solidFill>
                  <a:srgbClr val="191919"/>
                </a:solidFill>
                <a:latin typeface="Noto Sans CJK KR"/>
              </a:rPr>
              <a:t>을 이용해 프로그램별 설정을 학습</a:t>
            </a:r>
          </a:p>
          <a:p>
            <a:endParaRPr lang="en-US" altLang="ko-KR" sz="20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262058F7-816B-CE5D-C03C-24D37BCFBEEC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1B3DF6-2EE5-F91A-B610-EA23E35D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67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579A0-8282-CF8F-10D3-3758A8A3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73375-840C-EC13-747C-81768D7D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D1F6C5F-DD3C-CA03-A9C8-61E0A7B96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29343"/>
                <a:ext cx="10515600" cy="5347620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Promising parameter</a:t>
                </a:r>
              </a:p>
              <a:p>
                <a:pPr lvl="1"/>
                <a:r>
                  <a:rPr lang="en-US" altLang="ko-KR" sz="1600" dirty="0"/>
                  <a:t>Reach many branches</a:t>
                </a:r>
              </a:p>
              <a:p>
                <a:pPr lvl="1"/>
                <a:r>
                  <a:rPr lang="en-US" altLang="ko-KR" sz="1600" dirty="0"/>
                  <a:t>Cover infrequently reached branches</a:t>
                </a:r>
              </a:p>
              <a:p>
                <a:pPr lvl="1"/>
                <a:r>
                  <a:rPr lang="en-US" altLang="ko-KR" sz="1600" dirty="0"/>
                  <a:t>Produce synergy when combined with other parameters</a:t>
                </a:r>
              </a:p>
              <a:p>
                <a:pPr lvl="1"/>
                <a:endParaRPr lang="en-US" altLang="ko-KR" sz="1600" dirty="0"/>
              </a:p>
              <a:p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</a:t>
                </a:r>
              </a:p>
              <a:p>
                <a:pPr lvl="1"/>
                <a:r>
                  <a:rPr lang="en-US" altLang="ko-KR" sz="1600" dirty="0"/>
                  <a:t>The number of branches covered when adjusting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sz="1600" dirty="0"/>
              </a:p>
              <a:p>
                <a:pPr lvl="1"/>
                <a:r>
                  <a:rPr lang="en-US" altLang="ko-KR" sz="1600" dirty="0"/>
                  <a:t>Its ability to reach branches that are rarely covered by other parameters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D1F6C5F-DD3C-CA03-A9C8-61E0A7B96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29343"/>
                <a:ext cx="10515600" cy="5347620"/>
              </a:xfrm>
              <a:blipFill>
                <a:blip r:embed="rId2"/>
                <a:stretch>
                  <a:fillRect l="-603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26139DAB-DF83-1AE4-5626-19F529CDF92C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0AE2207-CD03-BBD5-536A-F70AD59A3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149" y="3503153"/>
            <a:ext cx="5959813" cy="324903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983EC9-EA46-5E18-AABB-FFF23479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362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D5F7E-4376-4F21-83DE-0FF41FFA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5C3FA-E0E7-DEAA-980A-5ED9D4D4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PARASUIT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B8635-0E73-2690-571C-5AA08D385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Extraction</a:t>
            </a:r>
          </a:p>
          <a:p>
            <a:pPr lvl="1"/>
            <a:r>
              <a:rPr lang="ko-KR" altLang="en-US" sz="1600" dirty="0" err="1"/>
              <a:t>심볼릭</a:t>
            </a:r>
            <a:r>
              <a:rPr lang="ko-KR" altLang="en-US" sz="1600" dirty="0"/>
              <a:t> 실행 도구의 소스코드 </a:t>
            </a:r>
            <a:r>
              <a:rPr lang="en-US" altLang="ko-KR" sz="1600" dirty="0"/>
              <a:t>AST </a:t>
            </a:r>
            <a:r>
              <a:rPr lang="ko-KR" altLang="en-US" sz="1600" dirty="0"/>
              <a:t>및 도움말을 분석하여 모든 가능한 파라미터를 자동 식별</a:t>
            </a:r>
            <a:endParaRPr lang="en-US" altLang="ko-KR" sz="1600" dirty="0"/>
          </a:p>
          <a:p>
            <a:r>
              <a:rPr lang="en-US" altLang="ko-KR" sz="2000" b="1" dirty="0"/>
              <a:t>Selection</a:t>
            </a:r>
          </a:p>
          <a:p>
            <a:pPr lvl="1"/>
            <a:r>
              <a:rPr lang="ko-KR" altLang="en-US" sz="1600" dirty="0"/>
              <a:t>도달하기 어려운 희귀 </a:t>
            </a:r>
            <a:r>
              <a:rPr lang="ko-KR" altLang="en-US" sz="1600" dirty="0" err="1"/>
              <a:t>브랜치</a:t>
            </a:r>
            <a:r>
              <a:rPr lang="ko-KR" altLang="en-US" sz="1600" dirty="0"/>
              <a:t> 커버 여부와 파라미터 간의 시너지를 기준으로 점수를 부여</a:t>
            </a:r>
            <a:endParaRPr lang="en-US" altLang="ko-KR" sz="1600" dirty="0"/>
          </a:p>
          <a:p>
            <a:r>
              <a:rPr lang="en-US" altLang="ko-KR" sz="2000" b="1" dirty="0"/>
              <a:t>Sampling</a:t>
            </a:r>
          </a:p>
          <a:p>
            <a:pPr lvl="1"/>
            <a:r>
              <a:rPr lang="ko-KR" altLang="en-US" sz="1600" dirty="0"/>
              <a:t>프로그램 특성에 맞춰 탐색</a:t>
            </a:r>
            <a:r>
              <a:rPr lang="en-US" altLang="ko-KR" sz="1600" dirty="0"/>
              <a:t>(Explore) </a:t>
            </a:r>
            <a:r>
              <a:rPr lang="ko-KR" altLang="en-US" sz="1600" dirty="0"/>
              <a:t>및 활용</a:t>
            </a:r>
            <a:r>
              <a:rPr lang="en-US" altLang="ko-KR" sz="1600" dirty="0"/>
              <a:t>(Exploit) </a:t>
            </a:r>
            <a:r>
              <a:rPr lang="ko-KR" altLang="en-US" sz="1600" dirty="0"/>
              <a:t>과정을 반복하며 최적 값 도출</a:t>
            </a:r>
            <a:endParaRPr lang="en-US" altLang="ko-KR" sz="16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76AF2E4A-9D59-B488-AE38-FE10C0F46615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516210A-6FFC-E775-0867-1F8A6F0CC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974" y="3503153"/>
            <a:ext cx="6514051" cy="253775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32048-0A80-DF1F-BFEE-AE1703D1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6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F8DF-1F20-418B-D79B-ACDB400B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478D0-AC23-C13D-DE9F-A8C42A2F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8B2DF-38F6-5572-AB17-31F378F97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최초의 완전 자율 튜닝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(Self-configuring)</a:t>
            </a:r>
          </a:p>
          <a:p>
            <a:pPr lvl="1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개입 없이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scratch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 프로그램 특성에 맞춰 기호 실행 파라미터 최적화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맞춤형 탐색 알고리즘 개발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 지식 없이 유효 파라미터를 자동 식별</a:t>
            </a:r>
          </a:p>
          <a:p>
            <a:pPr lvl="1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 피드백 기반의 반복적 개선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(iterative refinement)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최적값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도출</a:t>
            </a: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55740A93-F057-CE69-107F-B17D1CEFDEA4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B08E9-B7CC-AEB1-368F-2A9746D9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12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84651-293B-7CFE-F41F-F179DEBB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3A7BCE-C790-7EC0-C454-200D90C6C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0C889-8E58-B9C6-7106-F5E5124B9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ko-KR" altLang="en-US" sz="16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8A586FB2-5515-801A-B074-F68593A32D40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3B3F0AC-C42B-7441-1CF5-B436DEED5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2B07B29-8C5A-D3D0-CBF7-BDDA8C95DE2A}"/>
              </a:ext>
            </a:extLst>
          </p:cNvPr>
          <p:cNvSpPr/>
          <p:nvPr/>
        </p:nvSpPr>
        <p:spPr>
          <a:xfrm>
            <a:off x="6921910" y="1443793"/>
            <a:ext cx="2469834" cy="21630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1E8ED17-B167-D68B-08FA-338A6E412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24472"/>
              </p:ext>
            </p:extLst>
          </p:nvPr>
        </p:nvGraphicFramePr>
        <p:xfrm>
          <a:off x="322449" y="2692071"/>
          <a:ext cx="6197002" cy="266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5739">
                  <a:extLst>
                    <a:ext uri="{9D8B030D-6E8A-4147-A177-3AD203B41FA5}">
                      <a16:colId xmlns:a16="http://schemas.microsoft.com/office/drawing/2014/main" val="1935487044"/>
                    </a:ext>
                  </a:extLst>
                </a:gridCol>
                <a:gridCol w="1325739">
                  <a:extLst>
                    <a:ext uri="{9D8B030D-6E8A-4147-A177-3AD203B41FA5}">
                      <a16:colId xmlns:a16="http://schemas.microsoft.com/office/drawing/2014/main" val="3580295164"/>
                    </a:ext>
                  </a:extLst>
                </a:gridCol>
                <a:gridCol w="3545524">
                  <a:extLst>
                    <a:ext uri="{9D8B030D-6E8A-4147-A177-3AD203B41FA5}">
                      <a16:colId xmlns:a16="http://schemas.microsoft.com/office/drawing/2014/main" val="1308771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46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반복 단계에서 축적되는 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0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BaseD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Extraction stage </a:t>
                      </a:r>
                      <a:r>
                        <a:rPr lang="ko-KR" altLang="en-US" dirty="0"/>
                        <a:t>에서 만든 </a:t>
                      </a:r>
                      <a:r>
                        <a:rPr lang="en-US" altLang="ko-KR" dirty="0"/>
                        <a:t>baseline </a:t>
                      </a:r>
                      <a:r>
                        <a:rPr lang="ko-KR" altLang="en-US" dirty="0"/>
                        <a:t>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09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TotalB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지금까지 여러 실행에서 나온 </a:t>
                      </a:r>
                      <a:r>
                        <a:rPr lang="en-US" altLang="ko-KR" dirty="0"/>
                        <a:t>branch coverage </a:t>
                      </a:r>
                      <a:r>
                        <a:rPr lang="ko-KR" altLang="en-US" dirty="0"/>
                        <a:t>결과들의 모음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6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times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l-GR" altLang="ko-KR" dirty="0"/>
                        <a:t>η</a:t>
                      </a:r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Symbolic execution </a:t>
                      </a:r>
                      <a:r>
                        <a:rPr lang="ko-KR" altLang="en-US" dirty="0"/>
                        <a:t>한 번에 주는 작은 시간 예산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64935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A4503-D986-186F-2EEF-1FC29FFA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41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6AEE-7C26-4DFC-1731-67629A44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2C767-C782-3E34-95CF-12ECEF30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B598A-B22D-4BE2-AC4E-9EB4CBF8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b="1" dirty="0"/>
              <a:t>Extraction Stage</a:t>
            </a:r>
          </a:p>
          <a:p>
            <a:pPr lvl="1"/>
            <a:r>
              <a:rPr lang="ko-KR" altLang="en-US" sz="1600" dirty="0"/>
              <a:t>전체 파라미터 후보 추출</a:t>
            </a:r>
            <a:endParaRPr lang="en-US" altLang="ko-KR" sz="1600" dirty="0"/>
          </a:p>
          <a:p>
            <a:pPr lvl="1"/>
            <a:r>
              <a:rPr lang="en-US" altLang="ko-KR" sz="1600" dirty="0"/>
              <a:t>--help</a:t>
            </a:r>
            <a:r>
              <a:rPr lang="ko-KR" altLang="en-US" sz="1600" dirty="0"/>
              <a:t>로 </a:t>
            </a:r>
            <a:r>
              <a:rPr lang="en-US" altLang="ko-KR" sz="1600" dirty="0"/>
              <a:t>parameter </a:t>
            </a:r>
            <a:r>
              <a:rPr lang="ko-KR" altLang="en-US" sz="1600" dirty="0"/>
              <a:t>이름 추출</a:t>
            </a: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5252E3D0-F2AA-7B54-FE67-847B996FB199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C4035197-EEE8-EA6F-C7D4-0B9A9ED76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99B9558-5BAA-93DF-61F4-11BDE02014AB}"/>
              </a:ext>
            </a:extLst>
          </p:cNvPr>
          <p:cNvSpPr/>
          <p:nvPr/>
        </p:nvSpPr>
        <p:spPr>
          <a:xfrm>
            <a:off x="6921910" y="1761293"/>
            <a:ext cx="1612490" cy="19450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FCD841-0E5D-F528-87A9-515CBC54B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15665"/>
              </p:ext>
            </p:extLst>
          </p:nvPr>
        </p:nvGraphicFramePr>
        <p:xfrm>
          <a:off x="1337749" y="2535407"/>
          <a:ext cx="487126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625">
                  <a:extLst>
                    <a:ext uri="{9D8B030D-6E8A-4147-A177-3AD203B41FA5}">
                      <a16:colId xmlns:a16="http://schemas.microsoft.com/office/drawing/2014/main" val="1935487044"/>
                    </a:ext>
                  </a:extLst>
                </a:gridCol>
                <a:gridCol w="4203638">
                  <a:extLst>
                    <a:ext uri="{9D8B030D-6E8A-4147-A177-3AD203B41FA5}">
                      <a16:colId xmlns:a16="http://schemas.microsoft.com/office/drawing/2014/main" val="1308771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파라미터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0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vd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파라미터의 </a:t>
                      </a:r>
                      <a:r>
                        <a:rPr lang="en-US" altLang="ko-KR" dirty="0"/>
                        <a:t>default 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09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V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실험해볼 수 있는 </a:t>
                      </a:r>
                      <a:r>
                        <a:rPr lang="en-US" altLang="ko-KR" dirty="0"/>
                        <a:t>possible values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65579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B7059-6D34-A08A-A77B-E18059F7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19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257E-4DFF-AE09-472D-A84900A6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42B64-72CD-9DEE-447D-2ECB66A3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6547E2-4295-12B0-40D2-A62E2F39F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pPr lvl="1"/>
            <a:r>
              <a:rPr lang="ko-KR" altLang="en-US" sz="1600" dirty="0"/>
              <a:t>전체 파라미터 후보 추출</a:t>
            </a:r>
            <a:endParaRPr lang="en-US" altLang="ko-KR" sz="1600" dirty="0"/>
          </a:p>
          <a:p>
            <a:pPr lvl="1"/>
            <a:r>
              <a:rPr lang="en-US" altLang="ko-KR" sz="1600" dirty="0"/>
              <a:t>P: </a:t>
            </a:r>
            <a:r>
              <a:rPr lang="ko-KR" altLang="en-US" sz="1600" dirty="0"/>
              <a:t>파라미터 이름</a:t>
            </a:r>
          </a:p>
          <a:p>
            <a:pPr lvl="1"/>
            <a:r>
              <a:rPr lang="en-US" altLang="ko-KR" sz="1600" dirty="0" err="1"/>
              <a:t>vd</a:t>
            </a:r>
            <a:r>
              <a:rPr lang="en-US" altLang="ko-KR" sz="1600" dirty="0"/>
              <a:t>	:</a:t>
            </a:r>
            <a:r>
              <a:rPr lang="ko-KR" altLang="en-US" sz="1600" dirty="0"/>
              <a:t> 그 파라미터의 </a:t>
            </a:r>
            <a:r>
              <a:rPr lang="en-US" altLang="ko-KR" sz="1600" dirty="0"/>
              <a:t>default value</a:t>
            </a:r>
          </a:p>
          <a:p>
            <a:pPr lvl="1"/>
            <a:r>
              <a:rPr lang="en-US" altLang="ko-KR" sz="1600" dirty="0"/>
              <a:t>V:</a:t>
            </a:r>
            <a:r>
              <a:rPr lang="ko-KR" altLang="en-US" sz="1600" dirty="0"/>
              <a:t> 실험해볼 수 있는 </a:t>
            </a:r>
            <a:r>
              <a:rPr lang="en-US" altLang="ko-KR" sz="1600" dirty="0"/>
              <a:t>possible values</a:t>
            </a:r>
          </a:p>
          <a:p>
            <a:pPr lvl="1"/>
            <a:r>
              <a:rPr lang="en-US" altLang="ko-KR" sz="1600" b="1" dirty="0"/>
              <a:t>Boolean/string </a:t>
            </a:r>
            <a:r>
              <a:rPr lang="ko-KR" altLang="en-US" sz="1600" b="1" dirty="0"/>
              <a:t>파라미터</a:t>
            </a:r>
            <a:endParaRPr lang="en-US" altLang="ko-KR" sz="1600" b="1" dirty="0"/>
          </a:p>
          <a:p>
            <a:pPr lvl="2"/>
            <a:r>
              <a:rPr lang="en-US" altLang="ko-KR" sz="1200" dirty="0" err="1"/>
              <a:t>ParaSuit</a:t>
            </a:r>
            <a:r>
              <a:rPr lang="ko-KR" altLang="en-US" sz="1200" dirty="0"/>
              <a:t>는 </a:t>
            </a:r>
            <a:r>
              <a:rPr lang="en-US" altLang="ko-KR" sz="1200" dirty="0"/>
              <a:t>source code</a:t>
            </a:r>
            <a:r>
              <a:rPr lang="ko-KR" altLang="en-US" sz="1200" dirty="0"/>
              <a:t>의 </a:t>
            </a:r>
            <a:r>
              <a:rPr lang="en-US" altLang="ko-KR" sz="1200" dirty="0"/>
              <a:t>parameter definition block</a:t>
            </a:r>
            <a:r>
              <a:rPr lang="ko-KR" altLang="en-US" sz="1200" dirty="0"/>
              <a:t>에서 가능한 후보 값을 직접 뽑는다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sz="1600" b="1" dirty="0"/>
              <a:t>Integer/float </a:t>
            </a:r>
            <a:r>
              <a:rPr lang="ko-KR" altLang="en-US" sz="1600" b="1" dirty="0"/>
              <a:t>파라미터</a:t>
            </a:r>
            <a:endParaRPr lang="en-US" altLang="ko-KR" sz="1600" b="1" dirty="0"/>
          </a:p>
          <a:p>
            <a:pPr lvl="2"/>
            <a:r>
              <a:rPr lang="en-US" altLang="ko-KR" sz="1200" dirty="0"/>
              <a:t>default value</a:t>
            </a:r>
            <a:r>
              <a:rPr lang="ko-KR" altLang="en-US" sz="1200" dirty="0"/>
              <a:t>의 </a:t>
            </a:r>
            <a:r>
              <a:rPr lang="en-US" altLang="ko-KR" sz="1200" dirty="0"/>
              <a:t>0.5</a:t>
            </a:r>
            <a:r>
              <a:rPr lang="ko-KR" altLang="en-US" sz="1200" dirty="0"/>
              <a:t>배에서 </a:t>
            </a:r>
            <a:r>
              <a:rPr lang="en-US" altLang="ko-KR" sz="1200" dirty="0"/>
              <a:t>1.5</a:t>
            </a:r>
            <a:r>
              <a:rPr lang="ko-KR" altLang="en-US" sz="1200" dirty="0"/>
              <a:t>배 사이 값을 후보로 잡는다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7D5754C1-7F9F-7780-9661-4429CBB4B36C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DBA397EF-9B67-2A7C-1EED-4412A07F2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C906A46-5AA1-A426-AA8D-542DCE2987AC}"/>
              </a:ext>
            </a:extLst>
          </p:cNvPr>
          <p:cNvSpPr/>
          <p:nvPr/>
        </p:nvSpPr>
        <p:spPr>
          <a:xfrm>
            <a:off x="6921910" y="1761293"/>
            <a:ext cx="1612490" cy="19450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F1E6D-666A-10B2-06C3-DB21F41F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38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17519-EA9E-64DB-736E-4714AE22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DD8CA-F52B-0668-7735-29733FFC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E90E7-72BA-2F79-303E-7B57B0319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pPr lvl="1"/>
            <a:r>
              <a:rPr lang="ko-KR" altLang="en-US" sz="1600" dirty="0"/>
              <a:t>전체 파라미터 후보 추출</a:t>
            </a:r>
            <a:endParaRPr lang="en-US" altLang="ko-KR" sz="1600" dirty="0"/>
          </a:p>
          <a:p>
            <a:pPr lvl="1"/>
            <a:r>
              <a:rPr lang="en-US" altLang="ko-KR" sz="1600" dirty="0"/>
              <a:t>P: </a:t>
            </a:r>
            <a:r>
              <a:rPr lang="ko-KR" altLang="en-US" sz="1600" dirty="0"/>
              <a:t>파라미터 이름</a:t>
            </a:r>
          </a:p>
          <a:p>
            <a:pPr lvl="1"/>
            <a:r>
              <a:rPr lang="en-US" altLang="ko-KR" sz="1600" dirty="0" err="1"/>
              <a:t>vd</a:t>
            </a:r>
            <a:r>
              <a:rPr lang="en-US" altLang="ko-KR" sz="1600" dirty="0"/>
              <a:t>	:</a:t>
            </a:r>
            <a:r>
              <a:rPr lang="ko-KR" altLang="en-US" sz="1600" dirty="0"/>
              <a:t> 그 파라미터의 </a:t>
            </a:r>
            <a:r>
              <a:rPr lang="en-US" altLang="ko-KR" sz="1600" dirty="0"/>
              <a:t>default value</a:t>
            </a:r>
          </a:p>
          <a:p>
            <a:pPr lvl="1"/>
            <a:r>
              <a:rPr lang="en-US" altLang="ko-KR" sz="1600" dirty="0"/>
              <a:t>V:</a:t>
            </a:r>
            <a:r>
              <a:rPr lang="ko-KR" altLang="en-US" sz="1600" dirty="0"/>
              <a:t> 실험해볼 수 있는 </a:t>
            </a:r>
            <a:r>
              <a:rPr lang="en-US" altLang="ko-KR" sz="1600" dirty="0"/>
              <a:t>possible values</a:t>
            </a:r>
          </a:p>
          <a:p>
            <a:pPr lvl="1"/>
            <a:r>
              <a:rPr lang="en-US" altLang="ko-KR" sz="1600" dirty="0"/>
              <a:t>Boolean/string </a:t>
            </a:r>
            <a:r>
              <a:rPr lang="ko-KR" altLang="en-US" sz="1600" dirty="0"/>
              <a:t>파라미터</a:t>
            </a:r>
            <a:endParaRPr lang="en-US" altLang="ko-KR" sz="1600" dirty="0"/>
          </a:p>
          <a:p>
            <a:pPr lvl="1"/>
            <a:r>
              <a:rPr lang="en-US" altLang="ko-KR" sz="1600" dirty="0"/>
              <a:t>Integer/float </a:t>
            </a:r>
            <a:r>
              <a:rPr lang="ko-KR" altLang="en-US" sz="1600" dirty="0"/>
              <a:t>파라미터</a:t>
            </a:r>
            <a:endParaRPr lang="en-US" altLang="ko-KR" sz="1600" dirty="0"/>
          </a:p>
          <a:p>
            <a:pPr lvl="1"/>
            <a:r>
              <a:rPr lang="ko-KR" altLang="en-US" sz="1600" b="1" dirty="0"/>
              <a:t>불필요한 </a:t>
            </a:r>
            <a:r>
              <a:rPr lang="en-US" altLang="ko-KR" sz="1600" b="1" dirty="0"/>
              <a:t>parameter filtering	</a:t>
            </a:r>
          </a:p>
          <a:p>
            <a:pPr lvl="2"/>
            <a:r>
              <a:rPr lang="en-US" altLang="ko-KR" sz="1200" dirty="0"/>
              <a:t>log, version </a:t>
            </a:r>
            <a:r>
              <a:rPr lang="ko-KR" altLang="en-US" sz="1200" dirty="0"/>
              <a:t>과 같은 파라미터 제외</a:t>
            </a:r>
            <a:endParaRPr lang="en-US" altLang="ko-KR" sz="12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CF1DB534-F924-B335-F7D3-6D6A315A9947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AA8A404C-61D3-2E8F-13EE-552C4599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B78A978-C839-11F4-34F4-B07A97978040}"/>
              </a:ext>
            </a:extLst>
          </p:cNvPr>
          <p:cNvSpPr/>
          <p:nvPr/>
        </p:nvSpPr>
        <p:spPr>
          <a:xfrm>
            <a:off x="6921910" y="1761293"/>
            <a:ext cx="1612490" cy="19450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7988DD-6578-9F91-8FD6-E5949C41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721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20B7-7B7B-6005-E8B6-53FFCA1C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D4FEC-D4F2-9FD8-C306-BD2F9BFC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E451E4-08F1-01DF-2530-B70837514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pPr lvl="1"/>
            <a:r>
              <a:rPr lang="ko-KR" altLang="en-US" sz="1600" dirty="0"/>
              <a:t>전체 파라미터 후보 추출</a:t>
            </a:r>
            <a:endParaRPr lang="en-US" altLang="ko-KR" sz="1600" dirty="0"/>
          </a:p>
          <a:p>
            <a:pPr lvl="1"/>
            <a:r>
              <a:rPr lang="en-US" altLang="ko-KR" sz="1600" dirty="0"/>
              <a:t>P: </a:t>
            </a:r>
            <a:r>
              <a:rPr lang="ko-KR" altLang="en-US" sz="1600" dirty="0"/>
              <a:t>파라미터 이름</a:t>
            </a:r>
          </a:p>
          <a:p>
            <a:pPr lvl="1"/>
            <a:r>
              <a:rPr lang="en-US" altLang="ko-KR" sz="1600" dirty="0" err="1"/>
              <a:t>vd</a:t>
            </a:r>
            <a:r>
              <a:rPr lang="en-US" altLang="ko-KR" sz="1600" dirty="0"/>
              <a:t>	:</a:t>
            </a:r>
            <a:r>
              <a:rPr lang="ko-KR" altLang="en-US" sz="1600" dirty="0"/>
              <a:t> 그 파라미터의 </a:t>
            </a:r>
            <a:r>
              <a:rPr lang="en-US" altLang="ko-KR" sz="1600" dirty="0"/>
              <a:t>default value</a:t>
            </a:r>
          </a:p>
          <a:p>
            <a:pPr lvl="1"/>
            <a:r>
              <a:rPr lang="en-US" altLang="ko-KR" sz="1600" dirty="0"/>
              <a:t>V:</a:t>
            </a:r>
            <a:r>
              <a:rPr lang="ko-KR" altLang="en-US" sz="1600" dirty="0"/>
              <a:t> 실험해볼 수 있는 </a:t>
            </a:r>
            <a:r>
              <a:rPr lang="en-US" altLang="ko-KR" sz="1600" dirty="0"/>
              <a:t>possible values</a:t>
            </a:r>
          </a:p>
          <a:p>
            <a:pPr lvl="1"/>
            <a:r>
              <a:rPr lang="en-US" altLang="ko-KR" sz="1600" dirty="0"/>
              <a:t>Boolean/string </a:t>
            </a:r>
            <a:r>
              <a:rPr lang="ko-KR" altLang="en-US" sz="1600" dirty="0"/>
              <a:t>파라미터</a:t>
            </a:r>
            <a:endParaRPr lang="en-US" altLang="ko-KR" sz="1600" dirty="0"/>
          </a:p>
          <a:p>
            <a:pPr lvl="1"/>
            <a:r>
              <a:rPr lang="en-US" altLang="ko-KR" sz="1600" dirty="0"/>
              <a:t>Integer/float </a:t>
            </a:r>
            <a:r>
              <a:rPr lang="ko-KR" altLang="en-US" sz="1600" dirty="0"/>
              <a:t>파라미터</a:t>
            </a:r>
            <a:endParaRPr lang="en-US" altLang="ko-KR" sz="1600" dirty="0"/>
          </a:p>
          <a:p>
            <a:pPr lvl="1"/>
            <a:r>
              <a:rPr lang="ko-KR" altLang="en-US" sz="1600" dirty="0"/>
              <a:t>불필요한 </a:t>
            </a:r>
            <a:r>
              <a:rPr lang="en-US" altLang="ko-KR" sz="1600" dirty="0"/>
              <a:t>parameter filtering</a:t>
            </a:r>
          </a:p>
          <a:p>
            <a:pPr lvl="1"/>
            <a:r>
              <a:rPr lang="ko-KR" altLang="en-US" sz="1600" b="1" dirty="0"/>
              <a:t>파라미터의 단독 영향 평가</a:t>
            </a:r>
            <a:endParaRPr lang="en-US" altLang="ko-KR" sz="1600" b="1" dirty="0"/>
          </a:p>
          <a:p>
            <a:pPr lvl="2"/>
            <a:r>
              <a:rPr lang="ko-KR" altLang="ko-KR" sz="1200" dirty="0"/>
              <a:t>한 번에 하나의 파라미터만 </a:t>
            </a:r>
            <a:r>
              <a:rPr lang="ko-KR" altLang="ko-KR" sz="1200" dirty="0" err="1"/>
              <a:t>default가</a:t>
            </a:r>
            <a:r>
              <a:rPr lang="ko-KR" altLang="ko-KR" sz="1200" dirty="0"/>
              <a:t> 아닌 값으로 바꾸고, 나머지는 모두 </a:t>
            </a:r>
            <a:r>
              <a:rPr lang="ko-KR" altLang="ko-KR" sz="1200" dirty="0" err="1"/>
              <a:t>default로</a:t>
            </a:r>
            <a:r>
              <a:rPr lang="ko-KR" altLang="ko-KR" sz="1200" dirty="0"/>
              <a:t> 둔 뒤 실행</a:t>
            </a:r>
            <a:r>
              <a:rPr lang="en-US" altLang="ko-KR" sz="1200" dirty="0"/>
              <a:t>.</a:t>
            </a:r>
            <a:endParaRPr kumimoji="1" lang="ko-KR" altLang="en-US" sz="12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2D8E1061-37A3-F6C9-687F-3AE977BAB5AB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485C739E-AEAC-517A-17EB-ACD52E41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E02CA33-2EF5-4D33-DBB6-538A15C8A9C3}"/>
              </a:ext>
            </a:extLst>
          </p:cNvPr>
          <p:cNvSpPr/>
          <p:nvPr/>
        </p:nvSpPr>
        <p:spPr>
          <a:xfrm>
            <a:off x="6909210" y="2066093"/>
            <a:ext cx="2780890" cy="108350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E14A6-4E51-5836-3D68-AE61074B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585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2AAF-E048-E151-66A4-A0B53583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6E2DA-F592-0325-5A12-E6ACBDDC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0CECD3-931B-EE52-9CFE-96809F00D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r>
              <a:rPr lang="en-US" altLang="ko-KR" sz="2000" b="1" dirty="0"/>
              <a:t>Selection Stage</a:t>
            </a:r>
          </a:p>
          <a:p>
            <a:pPr lvl="1"/>
            <a:r>
              <a:rPr lang="ko-KR" altLang="en-US" sz="1600" dirty="0"/>
              <a:t>어떤 파라미터를 이번 실행에서 튜닝할지 고르는 단계</a:t>
            </a:r>
            <a:endParaRPr lang="en-US" altLang="ko-KR" sz="16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D494D5D8-9FD1-3A53-4556-CD33FACCB298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4024A57F-7629-E959-FB7D-575C59B2F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7BD7766-32B4-3FC8-0A1A-BF44E710545E}"/>
              </a:ext>
            </a:extLst>
          </p:cNvPr>
          <p:cNvSpPr/>
          <p:nvPr/>
        </p:nvSpPr>
        <p:spPr>
          <a:xfrm>
            <a:off x="7061610" y="3429001"/>
            <a:ext cx="2107790" cy="2032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6B26BC-6B8B-ED20-BAD7-14C732D79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71405"/>
            <a:ext cx="5863559" cy="657595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1048B0-3A23-139B-3458-15205482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871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A341-0AB5-0405-9177-8645927A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C04AB-A42C-DB40-4A90-C7B513E8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2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F04585-0EB9-B0F1-37BE-ECF72440A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r>
              <a:rPr lang="en-US" altLang="ko-KR" sz="2000" dirty="0"/>
              <a:t>Selection Stage</a:t>
            </a:r>
          </a:p>
          <a:p>
            <a:r>
              <a:rPr lang="en-US" altLang="ko-KR" sz="2000" b="1" dirty="0"/>
              <a:t>Sampling Stage</a:t>
            </a:r>
          </a:p>
          <a:p>
            <a:pPr lvl="1"/>
            <a:r>
              <a:rPr lang="en-US" altLang="ko-KR" sz="1600" b="1" dirty="0"/>
              <a:t>Explore</a:t>
            </a:r>
            <a:r>
              <a:rPr lang="en-US" altLang="ko-KR" sz="1600" dirty="0"/>
              <a:t>: </a:t>
            </a:r>
            <a:r>
              <a:rPr lang="ko-KR" altLang="en-US" sz="1600" dirty="0"/>
              <a:t>데이터가 부족하거나 </a:t>
            </a:r>
            <a:r>
              <a:rPr lang="en-US" altLang="ko-KR" sz="1600" dirty="0"/>
              <a:t>cluster</a:t>
            </a:r>
            <a:r>
              <a:rPr lang="ko-KR" altLang="en-US" sz="1600" dirty="0"/>
              <a:t>가 불안정할 때 다양한 값을 시도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Exploit</a:t>
            </a:r>
            <a:r>
              <a:rPr lang="en-US" altLang="ko-KR" sz="1600" dirty="0"/>
              <a:t>: score</a:t>
            </a:r>
            <a:r>
              <a:rPr lang="ko-KR" altLang="en-US" sz="1600" dirty="0"/>
              <a:t>가 좋은 </a:t>
            </a:r>
            <a:r>
              <a:rPr lang="en-US" altLang="ko-KR" sz="1600" dirty="0"/>
              <a:t>cluster</a:t>
            </a:r>
            <a:r>
              <a:rPr lang="ko-KR" altLang="en-US" sz="1600" dirty="0"/>
              <a:t>를 중심으로 값을 샘플링</a:t>
            </a:r>
            <a:endParaRPr lang="en-US" altLang="ko-KR" sz="1600" dirty="0"/>
          </a:p>
          <a:p>
            <a:pPr lvl="1"/>
            <a:r>
              <a:rPr lang="en-US" altLang="ko-KR" sz="1600" dirty="0"/>
              <a:t>mean shift clustering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pPr lvl="1"/>
            <a:r>
              <a:rPr lang="ko-KR" altLang="en-US" sz="1600" dirty="0"/>
              <a:t>선택된 파라미터 </a:t>
            </a:r>
            <a:r>
              <a:rPr lang="en-US" altLang="ko-KR" sz="1600" dirty="0" err="1"/>
              <a:t>SelectP</a:t>
            </a:r>
            <a:r>
              <a:rPr lang="ko-KR" altLang="en-US" sz="1600" dirty="0"/>
              <a:t>에 대해 실제 값을 샘플링</a:t>
            </a:r>
            <a:endParaRPr lang="en-US" altLang="ko-KR" sz="1600" dirty="0"/>
          </a:p>
          <a:p>
            <a:pPr lvl="1"/>
            <a:endParaRPr lang="en-US" altLang="ko-KR" sz="16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88E7C93A-99B8-2A77-5441-3C662E0C9218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A495F5B3-05FE-9A0E-C1B5-427EF94BA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513" y="770680"/>
            <a:ext cx="5041287" cy="245859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DE2C6-12E2-7A89-18C7-B4CFD557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508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F31A4-3FCF-4B56-E8D5-C973126E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9B230-04FC-6E84-126C-7C3C428E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6C5DB-0219-4F61-C17C-D1CC4BE55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r>
              <a:rPr lang="en-US" altLang="ko-KR" sz="2000" dirty="0"/>
              <a:t>Selection Stage</a:t>
            </a:r>
          </a:p>
          <a:p>
            <a:r>
              <a:rPr lang="en-US" altLang="ko-KR" sz="2000" dirty="0"/>
              <a:t>Sampling Stage</a:t>
            </a:r>
          </a:p>
          <a:p>
            <a:r>
              <a:rPr lang="en-US" altLang="ko-KR" sz="2000" b="1" dirty="0"/>
              <a:t>Symbolic execution </a:t>
            </a:r>
            <a:r>
              <a:rPr lang="ko-KR" altLang="en-US" sz="2000" b="1" dirty="0"/>
              <a:t>실행</a:t>
            </a:r>
            <a:endParaRPr lang="en-US" altLang="ko-KR" sz="2000" b="1" dirty="0"/>
          </a:p>
          <a:p>
            <a:pPr lvl="1"/>
            <a:r>
              <a:rPr lang="en-US" altLang="ko-KR" sz="1600" dirty="0" err="1"/>
              <a:t>ParaSuit</a:t>
            </a:r>
            <a:r>
              <a:rPr lang="ko-KR" altLang="en-US" sz="1600" dirty="0"/>
              <a:t>는 새로 샘플링한 </a:t>
            </a:r>
            <a:r>
              <a:rPr lang="en-US" altLang="ko-KR" sz="1600" dirty="0"/>
              <a:t>PV</a:t>
            </a:r>
            <a:r>
              <a:rPr lang="ko-KR" altLang="en-US" sz="1600" dirty="0"/>
              <a:t>로 </a:t>
            </a:r>
            <a:r>
              <a:rPr lang="en-US" altLang="ko-KR" sz="1600" dirty="0"/>
              <a:t>symbolic execution</a:t>
            </a:r>
            <a:r>
              <a:rPr lang="ko-KR" altLang="en-US" sz="1600" dirty="0"/>
              <a:t>을 실행</a:t>
            </a:r>
            <a:endParaRPr lang="en-US" altLang="ko-KR" sz="16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7D44C10B-BDE6-1380-1DDB-6631C4BB1BFC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328E390-D9DC-A150-2283-F92670455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B12E1AE-DBBD-5A2B-00A0-F430856B3AF4}"/>
              </a:ext>
            </a:extLst>
          </p:cNvPr>
          <p:cNvSpPr/>
          <p:nvPr/>
        </p:nvSpPr>
        <p:spPr>
          <a:xfrm>
            <a:off x="7137810" y="4457700"/>
            <a:ext cx="1777590" cy="21589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EFD785-B763-2383-AB6F-1A79EF11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641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595D-AA69-7EA0-C9C9-80D8EA1B3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57757-7F5F-7029-DFC4-B6D73E51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2CEC3-BCB8-B63F-22AC-09E1CBD4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r>
              <a:rPr lang="en-US" altLang="ko-KR" sz="2000" dirty="0"/>
              <a:t>Selection Stage</a:t>
            </a:r>
          </a:p>
          <a:p>
            <a:r>
              <a:rPr lang="en-US" altLang="ko-KR" sz="2000" dirty="0"/>
              <a:t>Sampling Stage</a:t>
            </a:r>
          </a:p>
          <a:p>
            <a:r>
              <a:rPr lang="en-US" altLang="ko-KR" sz="2000" dirty="0"/>
              <a:t>Symbolic execution </a:t>
            </a:r>
            <a:r>
              <a:rPr lang="ko-KR" altLang="en-US" sz="2000" dirty="0"/>
              <a:t>실행</a:t>
            </a:r>
            <a:endParaRPr lang="en-US" altLang="ko-KR" sz="2000" dirty="0"/>
          </a:p>
          <a:p>
            <a:r>
              <a:rPr lang="ko-KR" altLang="en-US" sz="2000" b="1" dirty="0"/>
              <a:t>데이터 갱신</a:t>
            </a:r>
            <a:endParaRPr lang="en-US" altLang="ko-KR" sz="2000" b="1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B04D3573-BF94-F0A0-43D5-5FB0048B03B7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6A90D269-0A5A-597B-4D7F-8ED360B39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9889C20-8645-273A-23C4-0D104F969545}"/>
              </a:ext>
            </a:extLst>
          </p:cNvPr>
          <p:cNvSpPr/>
          <p:nvPr/>
        </p:nvSpPr>
        <p:spPr>
          <a:xfrm>
            <a:off x="7099710" y="4648200"/>
            <a:ext cx="2018890" cy="3048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DF2FAA-FF87-4A0D-62D6-7DF432D2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007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3E720-FDDD-73B0-4F83-AFA5A0D1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98043-A63F-0E91-E186-D4E5AB34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26A61C-2F6F-1339-8C9A-8A086E5E9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5637107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Initialize</a:t>
            </a:r>
          </a:p>
          <a:p>
            <a:pPr lvl="1"/>
            <a:r>
              <a:rPr lang="en-US" altLang="ko-KR" sz="1600" dirty="0"/>
              <a:t>D, </a:t>
            </a:r>
            <a:r>
              <a:rPr lang="en-US" altLang="ko-KR" sz="1600" dirty="0" err="1"/>
              <a:t>BaseD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TotalB</a:t>
            </a:r>
            <a:r>
              <a:rPr lang="en-US" altLang="ko-KR" sz="1600" dirty="0"/>
              <a:t>, times</a:t>
            </a:r>
            <a:endParaRPr lang="ko-KR" altLang="en-US" sz="1600" dirty="0"/>
          </a:p>
          <a:p>
            <a:r>
              <a:rPr lang="en-US" altLang="ko-KR" sz="2000" dirty="0"/>
              <a:t>Extraction Stage</a:t>
            </a:r>
          </a:p>
          <a:p>
            <a:r>
              <a:rPr lang="en-US" altLang="ko-KR" sz="2000" dirty="0"/>
              <a:t>Selection Stage</a:t>
            </a:r>
          </a:p>
          <a:p>
            <a:r>
              <a:rPr lang="en-US" altLang="ko-KR" sz="2000" dirty="0"/>
              <a:t>Sampling Stage</a:t>
            </a:r>
          </a:p>
          <a:p>
            <a:r>
              <a:rPr lang="en-US" altLang="ko-KR" sz="2000" dirty="0"/>
              <a:t>Symbolic execution </a:t>
            </a:r>
            <a:r>
              <a:rPr lang="ko-KR" altLang="en-US" sz="2000" dirty="0"/>
              <a:t>실행</a:t>
            </a:r>
            <a:endParaRPr lang="en-US" altLang="ko-KR" sz="2000" dirty="0"/>
          </a:p>
          <a:p>
            <a:r>
              <a:rPr lang="ko-KR" altLang="en-US" sz="2000" dirty="0"/>
              <a:t>데이터 갱신</a:t>
            </a:r>
            <a:endParaRPr lang="en-US" altLang="ko-KR" sz="2000" dirty="0"/>
          </a:p>
          <a:p>
            <a:r>
              <a:rPr lang="en-US" altLang="ko-KR" sz="2000" b="1" dirty="0" err="1"/>
              <a:t>UnionB</a:t>
            </a:r>
            <a:r>
              <a:rPr lang="ko-KR" altLang="en-US" sz="2000" b="1" dirty="0"/>
              <a:t> 반환</a:t>
            </a:r>
            <a:endParaRPr lang="en-US" altLang="ko-KR" sz="2000" b="1" dirty="0"/>
          </a:p>
          <a:p>
            <a:pPr lvl="1"/>
            <a:r>
              <a:rPr lang="ko-KR" altLang="en-US" sz="1600" dirty="0"/>
              <a:t>모든 짧은 </a:t>
            </a:r>
            <a:r>
              <a:rPr lang="en-US" altLang="ko-KR" sz="1600" dirty="0"/>
              <a:t>symbolic execution </a:t>
            </a:r>
            <a:r>
              <a:rPr lang="ko-KR" altLang="en-US" sz="1600" dirty="0"/>
              <a:t>실행에서 커버된 </a:t>
            </a:r>
            <a:r>
              <a:rPr lang="en-US" altLang="ko-KR" sz="1600" dirty="0"/>
              <a:t>branch</a:t>
            </a:r>
            <a:r>
              <a:rPr lang="ko-KR" altLang="en-US" sz="1600" dirty="0"/>
              <a:t>들을 합친 최종 </a:t>
            </a:r>
            <a:r>
              <a:rPr lang="en-US" altLang="ko-KR" sz="1600" dirty="0"/>
              <a:t>branch coverage</a:t>
            </a: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35450B7F-872A-0B50-4739-7A652E1B5660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1A03D620-C2C9-F9AA-E981-49DA3C290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59" y="829343"/>
            <a:ext cx="4652041" cy="45246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0843868-0E76-533A-7A1E-ADAD1882E490}"/>
              </a:ext>
            </a:extLst>
          </p:cNvPr>
          <p:cNvSpPr/>
          <p:nvPr/>
        </p:nvSpPr>
        <p:spPr>
          <a:xfrm>
            <a:off x="6896510" y="5074591"/>
            <a:ext cx="1002890" cy="19590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EDE522-601E-AF26-097C-E315EFAC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560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411F-7EB8-500A-7755-B1D81235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E9FED-2902-5F39-5A97-8536F3C1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3680"/>
            <a:ext cx="10515600" cy="1484027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95F56558-CA1F-1144-A6D0-558C0E7E6305}"/>
              </a:ext>
            </a:extLst>
          </p:cNvPr>
          <p:cNvCxnSpPr/>
          <p:nvPr/>
        </p:nvCxnSpPr>
        <p:spPr>
          <a:xfrm>
            <a:off x="838200" y="5527708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C9F0D5D-A26B-5F1A-8414-F1D09D24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641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596C2-A51F-FF8A-DBA7-76C90B3F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0012B-EE88-7E4B-B8FD-1688B9C7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A78F928-9AAA-B507-45AA-BE77320CCC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29343"/>
                <a:ext cx="10515600" cy="5347620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000" dirty="0"/>
                  <a:t>Settings: 4 baselines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𝐾𝐿𝐸</m:t>
                    </m:r>
                    <m:sSub>
                      <m:sSub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𝑓𝑖𝑥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𝑆𝑦𝑚𝑡𝑢𝑛𝑒𝑟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𝑆𝑦𝑚𝑡𝑢𝑛𝑒</m:t>
                    </m:r>
                    <m:sSub>
                      <m:sSub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𝐴𝐼𝐼𝑃</m:t>
                        </m:r>
                      </m:sub>
                    </m:sSub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𝑅𝑎𝑛𝑑𝑠𝑢𝑖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1600" dirty="0"/>
                  <a:t> </a:t>
                </a:r>
              </a:p>
              <a:p>
                <a:r>
                  <a:rPr lang="en-US" altLang="ko-KR" sz="2000" dirty="0"/>
                  <a:t>Benchmark</a:t>
                </a:r>
              </a:p>
              <a:p>
                <a:r>
                  <a:rPr lang="en-US" altLang="ko-KR" sz="2000" dirty="0"/>
                  <a:t>Tool: KLEE-2.1 </a:t>
                </a:r>
              </a:p>
              <a:p>
                <a:r>
                  <a:rPr lang="en-US" altLang="ko-KR" sz="2000" dirty="0"/>
                  <a:t>Benchmarks: 12 GNU C programs </a:t>
                </a:r>
              </a:p>
              <a:p>
                <a:r>
                  <a:rPr lang="en-US" altLang="ko-KR" sz="2000" dirty="0"/>
                  <a:t>Budget: 24 hours </a:t>
                </a:r>
              </a:p>
              <a:p>
                <a:r>
                  <a:rPr lang="en-US" altLang="ko-KR" sz="2000" dirty="0"/>
                  <a:t>Repetitions: 5 trials </a:t>
                </a:r>
              </a:p>
              <a:p>
                <a:r>
                  <a:rPr lang="en-US" altLang="ko-KR" sz="2000" dirty="0"/>
                  <a:t>Metric: branch coverage, unique bugs </a:t>
                </a:r>
              </a:p>
              <a:p>
                <a:r>
                  <a:rPr lang="en-US" altLang="ko-KR" sz="2000" dirty="0"/>
                  <a:t>Coverage measurement: </a:t>
                </a:r>
                <a:r>
                  <a:rPr lang="en-US" altLang="ko-KR" sz="2000" dirty="0" err="1"/>
                  <a:t>gcov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A78F928-9AAA-B507-45AA-BE77320CCC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29343"/>
                <a:ext cx="10515600" cy="5347620"/>
              </a:xfrm>
              <a:blipFill>
                <a:blip r:embed="rId3"/>
                <a:stretch>
                  <a:fillRect l="-522" t="-11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8A53846D-5C54-9999-D8CA-53A4901B9A7B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1036B88-9DDD-850E-A0E4-29DCF71A9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616112"/>
              </p:ext>
            </p:extLst>
          </p:nvPr>
        </p:nvGraphicFramePr>
        <p:xfrm>
          <a:off x="7948158" y="1141191"/>
          <a:ext cx="3356405" cy="43441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8485">
                  <a:extLst>
                    <a:ext uri="{9D8B030D-6E8A-4147-A177-3AD203B41FA5}">
                      <a16:colId xmlns:a16="http://schemas.microsoft.com/office/drawing/2014/main" val="2231507608"/>
                    </a:ext>
                  </a:extLst>
                </a:gridCol>
                <a:gridCol w="697585">
                  <a:extLst>
                    <a:ext uri="{9D8B030D-6E8A-4147-A177-3AD203B41FA5}">
                      <a16:colId xmlns:a16="http://schemas.microsoft.com/office/drawing/2014/main" val="1822184832"/>
                    </a:ext>
                  </a:extLst>
                </a:gridCol>
                <a:gridCol w="1110335">
                  <a:extLst>
                    <a:ext uri="{9D8B030D-6E8A-4147-A177-3AD203B41FA5}">
                      <a16:colId xmlns:a16="http://schemas.microsoft.com/office/drawing/2014/main" val="3472837304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 err="1"/>
                        <a:t>Program</a:t>
                      </a:r>
                      <a:endParaRPr lang="ko-KR" sz="1600" b="1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 err="1"/>
                        <a:t>LoC</a:t>
                      </a:r>
                      <a:endParaRPr lang="ko-KR" sz="1600" b="1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 err="1"/>
                        <a:t>Branches</a:t>
                      </a:r>
                      <a:endParaRPr lang="ko-KR" sz="1600" b="1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09238766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xorriso-1.5.2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161K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49,162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4646147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gcal-4.1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89K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15,799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84655860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grep-3.4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82K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8,225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8409024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gawk-5.1.0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77K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10,720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34946892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sed-4.8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66K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6,798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9336080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nano-4.9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54K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10,436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7215190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enscript-1.6.6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49K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3,796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5807448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combine-0.4.0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32K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2,357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505122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trueprint-5.4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12K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2,518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31182243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diff-3.7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9K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7,612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6251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du-8.32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8K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/>
                        <a:t>6,653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4268004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/>
                        <a:t>ls-8.32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5K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/>
                        <a:t>3,776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847403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EAF427-DB46-0386-FA29-FD6318D31E32}"/>
              </a:ext>
            </a:extLst>
          </p:cNvPr>
          <p:cNvSpPr txBox="1"/>
          <p:nvPr/>
        </p:nvSpPr>
        <p:spPr>
          <a:xfrm>
            <a:off x="8895202" y="5646479"/>
            <a:ext cx="1462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Benchmark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6F078-7952-7DC4-7066-02E99AE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175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1940-38CD-F978-F95C-2E2F1217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C6FD7-C31B-BEA7-FC7A-D2FC7F84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Coverage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26A7437-1E18-D738-6EC5-3767C96ADE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29343"/>
                <a:ext cx="10515600" cy="534762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𝐾𝐿𝐸</m:t>
                    </m:r>
                    <m:sSub>
                      <m:sSub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𝑓𝑖𝑥</m:t>
                        </m:r>
                      </m:sub>
                    </m:sSub>
                  </m:oMath>
                </a14:m>
                <a:r>
                  <a:rPr lang="en-US" altLang="ko-KR" sz="2000" i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2000" dirty="0"/>
                  <a:t>보다 </a:t>
                </a:r>
                <a:r>
                  <a:rPr lang="en-US" altLang="ko-KR" sz="2000" dirty="0"/>
                  <a:t>97.4%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𝑆𝑦𝑚𝑡𝑢𝑛𝑒𝑟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/>
                  <a:t>보다 </a:t>
                </a:r>
                <a:r>
                  <a:rPr lang="en-US" altLang="ko-KR" sz="2000" dirty="0"/>
                  <a:t>25.8%</a:t>
                </a:r>
                <a:endParaRPr lang="en-US" altLang="ko-KR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𝑆𝑦𝑚𝑡𝑢𝑛𝑒</m:t>
                    </m:r>
                    <m:sSub>
                      <m:sSub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𝐴𝐼𝐼𝑃</m:t>
                        </m:r>
                      </m:sub>
                    </m:sSub>
                  </m:oMath>
                </a14:m>
                <a:r>
                  <a:rPr lang="en-US" altLang="ko-KR" sz="2000" i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2000" dirty="0"/>
                  <a:t>보다 </a:t>
                </a:r>
                <a:r>
                  <a:rPr lang="en-US" altLang="ko-KR" sz="2000" dirty="0"/>
                  <a:t>95.6%</a:t>
                </a:r>
                <a:endParaRPr lang="en-US" altLang="ko-KR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𝑅𝑎𝑛𝑑𝑠𝑢𝑖</m:t>
                    </m:r>
                    <m:r>
                      <a:rPr lang="en-US" altLang="ko-KR" sz="2000" i="1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보다 </a:t>
                </a:r>
                <a:r>
                  <a:rPr lang="en-US" altLang="ko-KR" sz="2000" dirty="0"/>
                  <a:t>46.8%</a:t>
                </a:r>
                <a:endParaRPr lang="ko-KR" altLang="en-US" sz="2000" dirty="0"/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26A7437-1E18-D738-6EC5-3767C96ADE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29343"/>
                <a:ext cx="10515600" cy="5347620"/>
              </a:xfrm>
              <a:blipFill>
                <a:blip r:embed="rId3"/>
                <a:stretch>
                  <a:fillRect l="-522" t="-11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BFDBFDBE-9C70-FB2A-E13D-3C5473D8C670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990971CE-87CB-A7F3-06FD-F3D72EDEF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382" y="2822895"/>
            <a:ext cx="4919444" cy="321724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A8A84A2-DD92-6943-61FA-5D6B7DF04A11}"/>
              </a:ext>
            </a:extLst>
          </p:cNvPr>
          <p:cNvSpPr/>
          <p:nvPr/>
        </p:nvSpPr>
        <p:spPr>
          <a:xfrm>
            <a:off x="7294228" y="5743432"/>
            <a:ext cx="3783435" cy="180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C9E3C1C-642C-9D93-A3A6-9FD5B55ED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316" y="2822894"/>
            <a:ext cx="4073284" cy="321724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1586E5-20DB-B771-3320-25D95F85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953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2E12-7A03-53B0-2E62-6FF991BC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7CEFA-E4F0-1D2C-8635-3E9889083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Bug-finding ability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7FDAA-D8E8-C225-035E-BA774DE9A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A bug-triggering test-case was considered unique if its error location reported by KLEE differed from others</a:t>
            </a:r>
          </a:p>
          <a:p>
            <a:r>
              <a:rPr lang="en-US" altLang="ko-KR" sz="2000" dirty="0" err="1"/>
              <a:t>Parasuit</a:t>
            </a:r>
            <a:r>
              <a:rPr lang="en-US" altLang="ko-KR" sz="2000" dirty="0"/>
              <a:t> succeeded in detecting 11 unique bugs across three of the 12 programs: </a:t>
            </a:r>
            <a:r>
              <a:rPr lang="en-US" altLang="ko-KR" sz="2000" dirty="0" err="1"/>
              <a:t>gcal</a:t>
            </a:r>
            <a:r>
              <a:rPr lang="en-US" altLang="ko-KR" sz="2000" dirty="0"/>
              <a:t>, gawk, and combine. (SYMTUNER </a:t>
            </a:r>
            <a:r>
              <a:rPr lang="ko-KR" altLang="en-US" sz="2000" dirty="0"/>
              <a:t>보다 더 좋은 성능</a:t>
            </a:r>
            <a:r>
              <a:rPr lang="en-US" altLang="ko-KR" sz="2000" dirty="0"/>
              <a:t>.)</a:t>
            </a:r>
            <a:endParaRPr lang="ko-KR" altLang="en-US" sz="20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C7FA665-8715-47C6-929A-9EAEFA18BBCF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80727B78-6BD0-7693-B99F-B1523115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95" y="5204673"/>
            <a:ext cx="4524105" cy="126005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8CD997-ACAC-C1FD-00D7-EA4CD5A6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316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8491-1F11-34C1-42C2-36436007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EC7C7-E116-6F97-2431-47DD5A03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Efficacy of two stages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5438F7-05C5-068D-EB99-D2CB6E77A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Parameter selection stage</a:t>
            </a:r>
          </a:p>
          <a:p>
            <a:pPr marL="457200" lvl="1" indent="0">
              <a:buNone/>
            </a:pPr>
            <a:r>
              <a:rPr lang="en-US" altLang="ko-KR" sz="1600" dirty="0"/>
              <a:t>(</a:t>
            </a:r>
            <a:r>
              <a:rPr lang="en-US" altLang="ko-KR" sz="1600" dirty="0" err="1"/>
              <a:t>xorriso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gcal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grep) with (</a:t>
            </a:r>
            <a:r>
              <a:rPr lang="en-US" altLang="ko-KR" sz="1600" dirty="0" err="1"/>
              <a:t>gcal</a:t>
            </a:r>
            <a:r>
              <a:rPr lang="en-US" altLang="ko-KR" sz="1600" dirty="0"/>
              <a:t>, gawk, combine)</a:t>
            </a:r>
          </a:p>
          <a:p>
            <a:pPr marL="457200" lvl="1" indent="0">
              <a:buNone/>
            </a:pPr>
            <a:r>
              <a:rPr lang="ko-KR" altLang="ko-KR" sz="1600" dirty="0" err="1"/>
              <a:t>RandP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AllP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SymP보다</a:t>
            </a:r>
            <a:r>
              <a:rPr lang="ko-KR" altLang="ko-KR" sz="1600" dirty="0"/>
              <a:t> 각각 60.2%, 89.9%, 34.2%</a:t>
            </a:r>
            <a:r>
              <a:rPr lang="en-US" altLang="ko-KR" sz="1600" dirty="0"/>
              <a:t> </a:t>
            </a:r>
            <a:r>
              <a:rPr lang="ko-KR" altLang="ko-KR" sz="1600" dirty="0"/>
              <a:t>더 높은 </a:t>
            </a:r>
            <a:r>
              <a:rPr lang="ko-KR" altLang="ko-KR" sz="1600" dirty="0" err="1"/>
              <a:t>coverage</a:t>
            </a:r>
            <a:endParaRPr lang="en-US" altLang="ko-KR" sz="1600" dirty="0"/>
          </a:p>
          <a:p>
            <a:r>
              <a:rPr lang="en-US" altLang="ko-KR" sz="2000" dirty="0"/>
              <a:t>Value sampling algorithm</a:t>
            </a:r>
          </a:p>
          <a:p>
            <a:pPr lvl="1"/>
            <a:r>
              <a:rPr lang="ko-KR" altLang="ko-KR" sz="1600" dirty="0"/>
              <a:t>CMA-</a:t>
            </a:r>
            <a:r>
              <a:rPr lang="ko-KR" altLang="ko-KR" sz="1600" dirty="0" err="1"/>
              <a:t>ES보다</a:t>
            </a:r>
            <a:r>
              <a:rPr lang="ko-KR" altLang="ko-KR" sz="1600" dirty="0"/>
              <a:t> </a:t>
            </a:r>
            <a:r>
              <a:rPr lang="ko-KR" altLang="ko-KR" sz="1600" b="1" dirty="0"/>
              <a:t>11.0%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RandV보다</a:t>
            </a:r>
            <a:r>
              <a:rPr lang="ko-KR" altLang="ko-KR" sz="1600" dirty="0"/>
              <a:t> </a:t>
            </a:r>
            <a:r>
              <a:rPr lang="ko-KR" altLang="ko-KR" sz="1600" b="1" dirty="0"/>
              <a:t>21.5%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SymV보다</a:t>
            </a:r>
            <a:r>
              <a:rPr lang="ko-KR" altLang="ko-KR" sz="1600" dirty="0"/>
              <a:t> 49.0%</a:t>
            </a:r>
            <a:r>
              <a:rPr lang="en-US" altLang="ko-KR" sz="1600" dirty="0"/>
              <a:t> </a:t>
            </a:r>
            <a:r>
              <a:rPr lang="ko-KR" altLang="ko-KR" sz="1600" dirty="0"/>
              <a:t>더 높은 </a:t>
            </a:r>
            <a:r>
              <a:rPr lang="ko-KR" altLang="ko-KR" sz="1600" dirty="0" err="1"/>
              <a:t>coverage</a:t>
            </a:r>
            <a:endParaRPr kumimoji="1" lang="ko-KR" altLang="en-US" sz="160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8D332BBA-C88A-4EC7-FE64-CA27F5A4F158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63082F4B-3787-1C59-DA15-200152E5E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07" y="4442385"/>
            <a:ext cx="4912909" cy="20619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3950677-2EDA-A13C-9BA5-23B5F8761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191" y="4483861"/>
            <a:ext cx="4944616" cy="189044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8AA2E6B-FE9D-6D59-4381-F80F62EA5A2E}"/>
              </a:ext>
            </a:extLst>
          </p:cNvPr>
          <p:cNvSpPr/>
          <p:nvPr/>
        </p:nvSpPr>
        <p:spPr>
          <a:xfrm>
            <a:off x="1762882" y="6112076"/>
            <a:ext cx="3269558" cy="180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5421C8-F0D2-90C7-F3E6-22A05D5263EC}"/>
              </a:ext>
            </a:extLst>
          </p:cNvPr>
          <p:cNvSpPr/>
          <p:nvPr/>
        </p:nvSpPr>
        <p:spPr>
          <a:xfrm>
            <a:off x="6675480" y="6134965"/>
            <a:ext cx="4618787" cy="1554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75DAAC-661C-6C3E-9F7A-1C5AF3684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480" y="2740873"/>
            <a:ext cx="4944616" cy="51589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C16436-778A-D2E1-3BE9-CBF47FA6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528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AFC0-B500-13FE-8F23-A8E3137A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A3EDB-187C-901F-E407-137888CA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self-configuration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B79D40-8439-92B0-280F-B4B188E42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Impact of Selected Parameters</a:t>
            </a:r>
          </a:p>
          <a:p>
            <a:r>
              <a:rPr lang="en-US" altLang="ko-KR" sz="2000" dirty="0"/>
              <a:t>Tendency of Selections and Sampled Values</a:t>
            </a:r>
          </a:p>
          <a:p>
            <a:r>
              <a:rPr lang="en-US" altLang="ko-KR" sz="2000" dirty="0"/>
              <a:t>Efficiency of Self-configured Parameter Sets</a:t>
            </a:r>
            <a:endParaRPr lang="ko-KR" altLang="en-US" sz="20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58B1C9FB-BB84-1854-5C99-2F715712654B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6AD34074-9BB4-B431-6F5C-E5C283CE4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041" y="4146407"/>
            <a:ext cx="3957759" cy="21820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A5B29A-1A20-FB7C-A995-0E7F973E2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260" y="1289655"/>
            <a:ext cx="3911540" cy="228788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81F81-842E-6B1F-B01E-FD3FBEBD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475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5034-C47D-4627-CCE6-7F7E9A41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23F38-06DE-63BA-6A24-D5DC033F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Generality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C580A-3CD3-B9E9-7037-0131101CF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다른 </a:t>
            </a:r>
            <a:r>
              <a:rPr lang="en-US" altLang="ko-KR" sz="2000" dirty="0"/>
              <a:t>symbolic/concolic testing </a:t>
            </a:r>
            <a:r>
              <a:rPr lang="ko-KR" altLang="en-US" sz="2000" dirty="0"/>
              <a:t>도구에도 적용 가능한지</a:t>
            </a:r>
            <a:endParaRPr lang="en-US" altLang="ko-KR" sz="2000" dirty="0"/>
          </a:p>
          <a:p>
            <a:r>
              <a:rPr lang="ko-KR" altLang="ko-KR" sz="2000" dirty="0" err="1"/>
              <a:t>ParaSuit</a:t>
            </a:r>
            <a:r>
              <a:rPr lang="ko-KR" altLang="ko-KR" sz="2000" dirty="0"/>
              <a:t> + </a:t>
            </a:r>
            <a:r>
              <a:rPr lang="ko-KR" altLang="ko-KR" sz="2000" dirty="0" err="1"/>
              <a:t>Chameleon은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Chameleon</a:t>
            </a:r>
            <a:r>
              <a:rPr lang="ko-KR" altLang="ko-KR" sz="2000" dirty="0"/>
              <a:t> 단독보다 평균 3.5배 더 많은 </a:t>
            </a:r>
            <a:r>
              <a:rPr lang="ko-KR" altLang="ko-KR" sz="2000" dirty="0" err="1"/>
              <a:t>unique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branches를</a:t>
            </a:r>
            <a:r>
              <a:rPr lang="ko-KR" altLang="ko-KR" sz="2000" dirty="0"/>
              <a:t> 커버</a:t>
            </a:r>
            <a:endParaRPr lang="en-US" altLang="ko-KR" sz="2000" dirty="0"/>
          </a:p>
          <a:p>
            <a:r>
              <a:rPr lang="ko-KR" altLang="ko-KR" sz="2000" dirty="0"/>
              <a:t>총 6개 </a:t>
            </a:r>
            <a:r>
              <a:rPr lang="ko-KR" altLang="ko-KR" sz="2000" dirty="0" err="1"/>
              <a:t>distinct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bugs</a:t>
            </a:r>
            <a:r>
              <a:rPr lang="ko-KR" altLang="ko-KR" sz="2000" dirty="0"/>
              <a:t> 발견</a:t>
            </a:r>
            <a:endParaRPr lang="en-US" altLang="ko-KR" sz="2000" dirty="0"/>
          </a:p>
          <a:p>
            <a:r>
              <a:rPr lang="ko-KR" altLang="ko-KR" sz="2000" dirty="0" err="1"/>
              <a:t>vim과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sed에서</a:t>
            </a:r>
            <a:r>
              <a:rPr lang="ko-KR" altLang="ko-KR" sz="2000" dirty="0"/>
              <a:t> 추가 </a:t>
            </a:r>
            <a:r>
              <a:rPr lang="ko-KR" altLang="ko-KR" sz="2000" dirty="0" err="1"/>
              <a:t>bug</a:t>
            </a:r>
            <a:r>
              <a:rPr lang="ko-KR" altLang="ko-KR" sz="2000" dirty="0"/>
              <a:t> 발견</a:t>
            </a:r>
            <a:endParaRPr lang="ko-KR" altLang="en-US" sz="20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FE3D9EE7-D44D-B669-9306-9B750A979CF7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A7E64172-1B39-F5E3-0D92-34C59036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0" r="745"/>
          <a:stretch>
            <a:fillRect/>
          </a:stretch>
        </p:blipFill>
        <p:spPr>
          <a:xfrm>
            <a:off x="5359400" y="2562758"/>
            <a:ext cx="5994400" cy="361420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51F33-078D-2E02-3736-5D3B2709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070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DECFE-66A3-D62F-D665-25FC46E5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BE77A-7245-F021-52B9-44BC93F0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to Validity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0A2163-A5AB-BEA8-2A4D-B2742652F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ParaSuit</a:t>
            </a:r>
            <a:r>
              <a:rPr lang="ko-KR" altLang="en-US" sz="2000" dirty="0"/>
              <a:t>는 두 개의 </a:t>
            </a:r>
            <a:r>
              <a:rPr lang="en-US" altLang="ko-KR" sz="2000" dirty="0"/>
              <a:t>hyper-parameter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사용</a:t>
            </a:r>
            <a:endParaRPr lang="en-US" altLang="ko-KR" sz="2000" dirty="0"/>
          </a:p>
          <a:p>
            <a:r>
              <a:rPr lang="en-US" altLang="ko-KR" sz="2000" dirty="0"/>
              <a:t>benchmark</a:t>
            </a:r>
            <a:r>
              <a:rPr lang="ko-KR" altLang="en-US" sz="2000" dirty="0"/>
              <a:t>가 </a:t>
            </a:r>
            <a:r>
              <a:rPr lang="en-US" altLang="ko-KR" sz="2000" dirty="0"/>
              <a:t>12</a:t>
            </a:r>
            <a:r>
              <a:rPr lang="ko-KR" altLang="en-US" sz="2000" dirty="0"/>
              <a:t>개 </a:t>
            </a:r>
            <a:r>
              <a:rPr lang="en-US" altLang="ko-KR" sz="2000" dirty="0"/>
              <a:t>C </a:t>
            </a:r>
            <a:r>
              <a:rPr lang="ko-KR" altLang="en-US" sz="2000" dirty="0"/>
              <a:t>프로그램으로 제한</a:t>
            </a: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B50981F2-17CF-00D1-5F9B-EF4CF593D238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4981F-15A0-C86D-0631-C3025BC8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342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03AF-52B5-580B-2FAB-1416DBCC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770AC-CAC8-E4C8-9C10-E54F3DDB4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439"/>
            <a:ext cx="10515600" cy="517376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ko-KR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C2886A-C766-840A-F52F-8304BA37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3"/>
            <a:ext cx="10515600" cy="5347620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사용자 개입 없이 </a:t>
            </a:r>
            <a:r>
              <a:rPr lang="en-US" altLang="ko-KR" sz="2000" dirty="0"/>
              <a:t>symbolic execution</a:t>
            </a:r>
            <a:r>
              <a:rPr lang="ko-KR" altLang="en-US" sz="2000" dirty="0"/>
              <a:t> 파라미터를 처음부터 최적화하는 최초의 </a:t>
            </a:r>
            <a:r>
              <a:rPr lang="en-US" altLang="ko-KR" sz="2000" dirty="0"/>
              <a:t>Self-configuring </a:t>
            </a:r>
            <a:r>
              <a:rPr lang="ko-KR" altLang="en-US" sz="2000" dirty="0"/>
              <a:t>기술 제안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타겟 프로그램에 대한 </a:t>
            </a:r>
            <a:r>
              <a:rPr lang="en-US" altLang="ko-KR" sz="2000" dirty="0"/>
              <a:t>symbolic execution feedback</a:t>
            </a:r>
            <a:r>
              <a:rPr lang="ko-KR" altLang="en-US" sz="2000" dirty="0"/>
              <a:t>을 기반으로 파라미터를 자동 선택</a:t>
            </a:r>
            <a:r>
              <a:rPr lang="en-US" altLang="ko-KR" sz="2000" dirty="0"/>
              <a:t>·</a:t>
            </a:r>
            <a:r>
              <a:rPr lang="ko-KR" altLang="en-US" sz="2000" dirty="0"/>
              <a:t>샘플링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다양한 벤치마크에서 </a:t>
            </a:r>
            <a:r>
              <a:rPr lang="en-US" altLang="ko-KR" sz="2000" dirty="0"/>
              <a:t>branch coverage</a:t>
            </a:r>
            <a:r>
              <a:rPr lang="ko-KR" altLang="en-US" sz="2000" dirty="0"/>
              <a:t> 대폭 향상 및 기존에 놓쳤던 고유 버그들을 발견</a:t>
            </a:r>
            <a:r>
              <a:rPr lang="en-US" altLang="ko-KR" sz="2000" dirty="0"/>
              <a:t>.</a:t>
            </a:r>
          </a:p>
          <a:p>
            <a:endParaRPr lang="ko-KR" altLang="en-US" sz="20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E8C8E932-6F88-B643-0FF7-C06D6E96F592}"/>
              </a:ext>
            </a:extLst>
          </p:cNvPr>
          <p:cNvCxnSpPr/>
          <p:nvPr/>
        </p:nvCxnSpPr>
        <p:spPr>
          <a:xfrm>
            <a:off x="838200" y="623815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C6132-B8E9-7377-B894-10FF4C6F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444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7D84-16FD-688C-F28B-291B18F4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188FC-F0CE-1FE1-CFFF-FD39A5BF2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3680"/>
            <a:ext cx="10515600" cy="1484027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3C2E9AEC-2D07-0A26-78AF-90569A778C74}"/>
              </a:ext>
            </a:extLst>
          </p:cNvPr>
          <p:cNvCxnSpPr/>
          <p:nvPr/>
        </p:nvCxnSpPr>
        <p:spPr>
          <a:xfrm>
            <a:off x="838200" y="5527708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C146E1A-EA99-19EC-7FF9-B5E36189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E92E-FC6E-4A88-9F96-FE3893F9F10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8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1196</Words>
  <Application>Microsoft Office PowerPoint</Application>
  <PresentationFormat>와이드스크린</PresentationFormat>
  <Paragraphs>315</Paragraphs>
  <Slides>28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Noto Sans CJK KR</vt:lpstr>
      <vt:lpstr>맑은 고딕</vt:lpstr>
      <vt:lpstr>Arial</vt:lpstr>
      <vt:lpstr>Cambria Math</vt:lpstr>
      <vt:lpstr>Times New Roman</vt:lpstr>
      <vt:lpstr>Office 테마</vt:lpstr>
      <vt:lpstr>Enhancing Symbolic Execution with Self-Configuring Parameters</vt:lpstr>
      <vt:lpstr>Parameters in Symbolic Execution</vt:lpstr>
      <vt:lpstr>Parasuit</vt:lpstr>
      <vt:lpstr>Existing Parameter Tuning Approaches</vt:lpstr>
      <vt:lpstr>Related Work</vt:lpstr>
      <vt:lpstr>Design</vt:lpstr>
      <vt:lpstr>PARASUIT</vt:lpstr>
      <vt:lpstr>Contributions</vt:lpstr>
      <vt:lpstr>Algorithm 1</vt:lpstr>
      <vt:lpstr>Algorithm 1</vt:lpstr>
      <vt:lpstr>Algorithm 1</vt:lpstr>
      <vt:lpstr>Algorithm 1</vt:lpstr>
      <vt:lpstr>Algorithm 1</vt:lpstr>
      <vt:lpstr>Algorithm 1</vt:lpstr>
      <vt:lpstr>Algorithm 2</vt:lpstr>
      <vt:lpstr>Algorithm 1</vt:lpstr>
      <vt:lpstr>Algorithm 1</vt:lpstr>
      <vt:lpstr>Algorithm 1</vt:lpstr>
      <vt:lpstr>Experiments</vt:lpstr>
      <vt:lpstr>Experiments</vt:lpstr>
      <vt:lpstr>Branch Coverage</vt:lpstr>
      <vt:lpstr>Bug-finding ability</vt:lpstr>
      <vt:lpstr>Efficacy of two stages</vt:lpstr>
      <vt:lpstr>Analysis of self-configuration</vt:lpstr>
      <vt:lpstr>Generality</vt:lpstr>
      <vt:lpstr>Threats to Validity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백가현</dc:creator>
  <cp:lastModifiedBy>백가현</cp:lastModifiedBy>
  <cp:revision>127</cp:revision>
  <dcterms:created xsi:type="dcterms:W3CDTF">2026-04-07T05:23:48Z</dcterms:created>
  <dcterms:modified xsi:type="dcterms:W3CDTF">2026-05-27T04:54:01Z</dcterms:modified>
</cp:coreProperties>
</file>