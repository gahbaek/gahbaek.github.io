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3" r:id="rId15"/>
    <p:sldId id="274" r:id="rId16"/>
    <p:sldId id="271" r:id="rId17"/>
    <p:sldId id="272" r:id="rId18"/>
    <p:sldId id="275" r:id="rId19"/>
    <p:sldId id="276" r:id="rId20"/>
    <p:sldId id="26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11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90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F6E5AF-4715-488A-A64A-F0DA65AA85C1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D78D1-67BC-42F3-A0F2-14EDAA1AF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76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D78D1-67BC-42F3-A0F2-14EDAA1AF07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436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23D818-7C66-BE2E-86FA-256E0F3EA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9D0093-ECE1-B273-3463-0A955EE47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5CBEDD-91DB-9DDD-726D-536671FF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047984-8FC6-EB3B-2DEE-7ADABCB5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E7F2C8-D139-B1D0-9E61-639AA1A7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085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11B7C-14F7-26A1-02DB-086E0462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87E2F3-9FF9-D253-0A00-F84EA38D1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563A54-91EC-BB21-A086-D2B3F77A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D94001-4053-3CB0-7AFF-1D8549A3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A5A527-D056-7EAC-8274-69513C00A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5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1DCD1-1097-B02C-A084-4397E9B0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5A03E7-BF8F-4521-741F-B6B9B699F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A8F11-0833-446B-E273-546655AD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D3C28-A4D4-1761-6495-3C7E0F22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DE1894-668D-4F94-2755-364A3076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15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A13AF-2B8D-5B60-8966-697C084A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D9485C-C679-94FE-8B06-CFFF76C22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21BFA7-5523-BD82-6FB4-7BDEDCE6E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DFD48F-307A-D17A-7B3C-CB343B5C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113F8D-6883-DF85-1F07-2A130E60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5D0894-23A2-36E6-DB45-66215C5C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78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288B2-220D-F021-8323-19E77B55C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5A1C14-203A-A97C-F019-A53519E15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6A19AA-8497-C7B2-AF47-83DEC3936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6B44BE-211E-7C78-80C6-F828715FB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3C955C-875D-DBA3-9DDE-09DC60A3D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18BC4E-3545-93CC-3A39-5009CBCC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D70879-38B8-4BFB-1A10-84A7579F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92A668-EDA7-237C-1AA1-74AF5593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85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3D07E-B309-EB79-9B29-C1817235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8FDFCD-75F9-B25C-4ECE-E04EB5F1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9EFDB3-4CB1-0EC6-6BFD-B77B7ED02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C1C53D-DDFA-7ADD-30CF-855535B8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38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1B2293-2F0F-F9C3-7DF0-D3E9F3E6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3A117B-E32A-54DE-8B88-2A06B633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2B560D-5BC4-0A9D-4A4A-3843CFAE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56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5B96C-0575-4326-95EE-026B2F502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13844-7C08-6185-6EB8-ABC19E258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B29DE9-CCDF-7524-C118-6B0D6969D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E3480E-6EE6-EE7C-2283-C2020714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C55B09-2A54-A0E0-8F93-4AF2650D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5BC4BA-871B-2B48-A127-FEA1DFB1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35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949A6-35D0-2DF2-ECE0-5DE05095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EFD369-0790-99F7-6A26-91A4CF35D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9A8B00-8805-54D0-A404-05B048092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5B8195-4360-EF70-14BF-7DB5CBD3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D668FE-7808-AD0C-ED6F-E40B4AA60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E797D3-5363-0A7A-2DBE-1F668514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92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4A40E-1A1B-6962-E926-A6C6EB52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7482EA-13B9-CB23-225A-02B9C3A79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DF79E-0485-0FFB-7AEB-5E494005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154C3B-E14F-152B-8A53-6057BB16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F5B9C-7202-9BE1-9C06-3C0EBC04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1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514C1F-3890-5BF1-38E1-69B6A0636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9B577D-5ED1-4668-BE03-2C6966826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856906-CFBB-C206-89CD-07F49A9F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63C45-69AE-F908-7949-EECE95E88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DB0DB-5C9B-2A1A-B7F1-852CB889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249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A3C892-238C-0480-E2DC-909DC2DE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5FEBAA-6513-0736-4835-C23B81769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2EAC2-3E17-E87F-EB26-71922EE15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B2995-E685-45FA-A75F-172B11F9C13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FE3A29-B85A-E903-8B68-EB6E2DF51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D4E12D-9A9E-FC4F-A32B-73BD1C323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D9115-1B3D-49BB-9A47-BF29B80CAF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82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926D1-418A-BC82-E56F-71771B3F1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9857"/>
            <a:ext cx="9144000" cy="2387600"/>
          </a:xfrm>
        </p:spPr>
        <p:txBody>
          <a:bodyPr>
            <a:noAutofit/>
          </a:bodyPr>
          <a:lstStyle/>
          <a:p>
            <a:r>
              <a:rPr lang="en-US" altLang="ko-KR" sz="28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Trust Me, I Know This Function: </a:t>
            </a:r>
            <a:br>
              <a:rPr lang="en-US" altLang="ko-KR" sz="28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altLang="ko-KR" sz="28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Hijacking LLM Static Analysis using Bias</a:t>
            </a:r>
            <a:endParaRPr lang="ko-KR" altLang="en-US" sz="2800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A84116-2CD1-96B9-FEA9-B39392B50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0401"/>
            <a:ext cx="9144000" cy="1655762"/>
          </a:xfrm>
        </p:spPr>
        <p:txBody>
          <a:bodyPr/>
          <a:lstStyle/>
          <a:p>
            <a:r>
              <a:rPr lang="en-US" altLang="ko-KR" dirty="0"/>
              <a:t> NDSS 2026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613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3E0D0-BD5B-2C53-ACB6-DF92516B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E2CB3-DB86-F695-B850-3DBA5A81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Fira Code" panose="020B0809050000020004" pitchFamily="49" charset="0"/>
                <a:cs typeface="Fira Code" panose="020B0809050000020004" pitchFamily="49" charset="0"/>
              </a:rPr>
              <a:t>general phenomenon</a:t>
            </a:r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6B4C5F-AB8A-082F-3005-4D0D4F1B6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34910"/>
            <a:ext cx="10515600" cy="788179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altLang="ko-KR" sz="4000" b="1" i="1" dirty="0"/>
              <a:t>“LLMs often rely on familiar patterns rather than true semantic analysis.”</a:t>
            </a:r>
            <a:endParaRPr lang="ko-KR" altLang="en-US" sz="4000" b="1" i="1" dirty="0"/>
          </a:p>
        </p:txBody>
      </p:sp>
    </p:spTree>
    <p:extLst>
      <p:ext uri="{BB962C8B-B14F-4D97-AF65-F5344CB8AC3E}">
        <p14:creationId xmlns:p14="http://schemas.microsoft.com/office/powerpoint/2010/main" val="2827070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ADA30-78B9-C9B4-F23F-7DBB53FC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FPA</a:t>
            </a:r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EA1304-5CF5-111B-605A-1D761C870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/>
              <a:t>LLMs tend to overgeneralize from familiar code patterns.</a:t>
            </a:r>
          </a:p>
          <a:p>
            <a:endParaRPr lang="en-US" altLang="ko-KR" sz="2400" dirty="0"/>
          </a:p>
          <a:p>
            <a:r>
              <a:rPr lang="en-US" altLang="ko-KR" sz="2400" dirty="0"/>
              <a:t>Small perturbations are introduced to a familiar pattern so that</a:t>
            </a:r>
            <a:br>
              <a:rPr lang="en-US" altLang="ko-KR" sz="2400" dirty="0"/>
            </a:br>
            <a:r>
              <a:rPr lang="en-US" altLang="ko-KR" sz="2400" dirty="0"/>
              <a:t>the program’s behavior changes, while the LLM still interprets it as the original pattern.</a:t>
            </a:r>
            <a:endParaRPr lang="ko-KR" altLang="en-US" sz="2400" dirty="0">
              <a:cs typeface="Fira Code Light" panose="020B08090500000200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0FD5A6-6381-264A-33CF-AA1DF02A4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169" y="3605441"/>
            <a:ext cx="5680631" cy="296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84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43C50-5FCB-F3F9-9FCF-43F27D9A3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contributions</a:t>
            </a:r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A380E6-A0F6-641A-0749-1B3342080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Abstraction Bias as a Vulnerability</a:t>
            </a:r>
          </a:p>
          <a:p>
            <a:r>
              <a:rPr lang="en-US" altLang="ko-KR" dirty="0"/>
              <a:t>Familiar Pattern Attacks</a:t>
            </a:r>
          </a:p>
          <a:p>
            <a:r>
              <a:rPr lang="en-US" altLang="ko-KR" dirty="0"/>
              <a:t>Transferability and Universality</a:t>
            </a:r>
          </a:p>
          <a:p>
            <a:r>
              <a:rPr lang="en-US" altLang="ko-KR" dirty="0"/>
              <a:t>Automated Attack Generation Algorithm</a:t>
            </a:r>
          </a:p>
          <a:p>
            <a:r>
              <a:rPr lang="en-US" altLang="ko-KR" dirty="0"/>
              <a:t>Evaluation of Attack Efficacy and Defensive Use Cases</a:t>
            </a:r>
          </a:p>
        </p:txBody>
      </p:sp>
    </p:spTree>
    <p:extLst>
      <p:ext uri="{BB962C8B-B14F-4D97-AF65-F5344CB8AC3E}">
        <p14:creationId xmlns:p14="http://schemas.microsoft.com/office/powerpoint/2010/main" val="373511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CA670-4852-5D93-8B1D-7C8B7E7C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Threat Model &amp; Attack Objective</a:t>
            </a:r>
            <a:endParaRPr lang="ko-KR" altLang="en-US" sz="4000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2FB968-5492-9030-6B23-D15602312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Two actors: an adversary or defender</a:t>
            </a:r>
          </a:p>
          <a:p>
            <a:r>
              <a:rPr lang="en-US" altLang="ko-KR" dirty="0"/>
              <a:t>A: can modify a program x.</a:t>
            </a:r>
          </a:p>
          <a:p>
            <a:r>
              <a:rPr lang="en-US" altLang="ko-KR" dirty="0"/>
              <a:t>B(a downstream consumer): applies an LLM to analyze the program.</a:t>
            </a:r>
          </a:p>
          <a:p>
            <a:endParaRPr lang="en-US" altLang="ko-KR" dirty="0"/>
          </a:p>
          <a:p>
            <a:r>
              <a:rPr lang="en-US" altLang="ko-KR" dirty="0"/>
              <a:t>The goal of A is to induce a consistent misinterpretation by the LLM applied by B.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757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E8D99-AB43-A369-1B78-ACA43F3C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8625E0B-D10F-DE2A-A489-AB6D3E8A85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854596"/>
              </p:ext>
            </p:extLst>
          </p:nvPr>
        </p:nvGraphicFramePr>
        <p:xfrm>
          <a:off x="624840" y="180340"/>
          <a:ext cx="10942319" cy="649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250">
                  <a:extLst>
                    <a:ext uri="{9D8B030D-6E8A-4147-A177-3AD203B41FA5}">
                      <a16:colId xmlns:a16="http://schemas.microsoft.com/office/drawing/2014/main" val="2154647267"/>
                    </a:ext>
                  </a:extLst>
                </a:gridCol>
                <a:gridCol w="2164676">
                  <a:extLst>
                    <a:ext uri="{9D8B030D-6E8A-4147-A177-3AD203B41FA5}">
                      <a16:colId xmlns:a16="http://schemas.microsoft.com/office/drawing/2014/main" val="1717993686"/>
                    </a:ext>
                  </a:extLst>
                </a:gridCol>
                <a:gridCol w="1944514">
                  <a:extLst>
                    <a:ext uri="{9D8B030D-6E8A-4147-A177-3AD203B41FA5}">
                      <a16:colId xmlns:a16="http://schemas.microsoft.com/office/drawing/2014/main" val="2274922114"/>
                    </a:ext>
                  </a:extLst>
                </a:gridCol>
                <a:gridCol w="4295780">
                  <a:extLst>
                    <a:ext uri="{9D8B030D-6E8A-4147-A177-3AD203B41FA5}">
                      <a16:colId xmlns:a16="http://schemas.microsoft.com/office/drawing/2014/main" val="2169020248"/>
                    </a:ext>
                  </a:extLst>
                </a:gridCol>
                <a:gridCol w="1221099">
                  <a:extLst>
                    <a:ext uri="{9D8B030D-6E8A-4147-A177-3AD203B41FA5}">
                      <a16:colId xmlns:a16="http://schemas.microsoft.com/office/drawing/2014/main" val="3946956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Actor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Use Case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Strategy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661660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Offensive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Vulnerability Scanner Evasion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Evade detection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Hide vulnerabilities inside trusted code patterns to evade LLM-based static analysis tools.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Both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252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Code Review &amp; Audit Bypass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Bypass enforcement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Slip backdoors or policy violations into code that appears benign to automated reviewers. 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Both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066937"/>
                  </a:ext>
                </a:extLst>
              </a:tr>
              <a:tr h="46037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Denial-of-Service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Exhaust model reasoning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Force LLMs into unnecessary computation via loops or chains that confuse or stall analysis.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Inject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43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Training-Data Poisoning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Corrupt future models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Insert deceptive code into public corpora to poison future LLM pretraining pipelines.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Both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4915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Misinformation Summaries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Mislead downstream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Corrupt LLM summaries of sites and code by altering model perception of control flow or intent.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Inject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330435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Defensive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Web Scraping Resistance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Obfuscate scraped code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Hiding logic from </a:t>
                      </a:r>
                      <a:r>
                        <a:rPr lang="en-US" altLang="ko-KR" sz="1400" dirty="0" err="1"/>
                        <a:t>LLMbased</a:t>
                      </a:r>
                      <a:r>
                        <a:rPr lang="en-US" altLang="ko-KR" sz="1400" dirty="0"/>
                        <a:t> scrapers by corrupting their interpretation of open-source code. 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Hide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5566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Anti-Code Plagiarism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Prevent rewording theft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Inject subtle bugs that confuse LLMs attempting to clone or rewrite a codebase. 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Both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9814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LLM Watermarking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Detect scraping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Inject content that will be scraped by LLMs to prove unauthorized scraping in Publication results. 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Inject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4033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Reverse-Engineering Deterrence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Confuse interpreters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Hide proprietary logic so LLM reverse-engineering tools produce vague or misleading explanations. 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Hide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4840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Automated Exploit Thwarting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Waste attacker effort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Distract LLM exploit generators with decoy bugs hidden in trusted patterns.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Inject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3834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Pen-Test Traps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Confuse LLM attack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Inject patterns that mislead LLM pen-test tools scanning internal repositories or codebases. 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Inject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45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44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D687-944C-E502-A9A6-A21E25613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348F2-98C9-6373-D56D-DC926DBA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7A11F0-0BE7-610B-6947-72EA4EBC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Offensive</a:t>
            </a:r>
            <a:r>
              <a:rPr lang="en-US" altLang="ko-KR" dirty="0"/>
              <a:t> actors may use FPAs to conceal backdoors, poison training data, or manipulate LLM-based audit tools.</a:t>
            </a:r>
          </a:p>
          <a:p>
            <a:r>
              <a:rPr lang="en-US" altLang="ko-KR" b="1" dirty="0"/>
              <a:t>Defenders</a:t>
            </a:r>
            <a:r>
              <a:rPr lang="en-US" altLang="ko-KR" dirty="0"/>
              <a:t> can apply the same mechanism to obscure proprietary code from web scrapers, break LLM-based plagiarism tools, or detect unauthorized scraping through invisible triggers.</a:t>
            </a:r>
          </a:p>
          <a:p>
            <a:endParaRPr lang="en-US" altLang="ko-KR" dirty="0"/>
          </a:p>
          <a:p>
            <a:r>
              <a:rPr lang="en-US" altLang="ko-KR" dirty="0"/>
              <a:t>All use cases share a common mechanism: exploiting the model’s abstraction bias to control what is perceives, without altering what the code actually does.</a:t>
            </a:r>
          </a:p>
        </p:txBody>
      </p:sp>
    </p:spTree>
    <p:extLst>
      <p:ext uri="{BB962C8B-B14F-4D97-AF65-F5344CB8AC3E}">
        <p14:creationId xmlns:p14="http://schemas.microsoft.com/office/powerpoint/2010/main" val="408386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A28BA-0FD1-E872-06CB-E6BA6EE48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2CEB2-1EC8-3FC8-5313-BC039A470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33561"/>
            <a:ext cx="10515600" cy="1325563"/>
          </a:xfrm>
        </p:spPr>
        <p:txBody>
          <a:bodyPr/>
          <a:lstStyle/>
          <a:p>
            <a:r>
              <a:rPr lang="en-US" altLang="ko-KR">
                <a:latin typeface="Fira Code" panose="020B0809050000020004" pitchFamily="49" charset="0"/>
                <a:cs typeface="Fira Code" panose="020B0809050000020004" pitchFamily="49" charset="0"/>
              </a:rPr>
              <a:t>The familiar Pattern Attack</a:t>
            </a:r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490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E865-054D-7802-9BAF-8C600B13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51FE7-2E80-E459-785A-B5B1690E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Fira Code" panose="020B0809050000020004" pitchFamily="49" charset="0"/>
                <a:cs typeface="Fira Code" panose="020B0809050000020004" pitchFamily="49" charset="0"/>
              </a:rPr>
              <a:t>Abstraction Bias</a:t>
            </a:r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A5062-E402-A39C-6D53-C5271F799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an LLM sees code that resembles a well-known pattern it often behaves as though it has already inferred the meaning.</a:t>
            </a:r>
          </a:p>
          <a:p>
            <a:r>
              <a:rPr lang="en-US" altLang="ko-KR" dirty="0"/>
              <a:t>Instead of analyzing the specific implementation, it retrieves a memorized behavioral signature and completes the task accordingly.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468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A115E-5810-56A1-872E-FF5AA9AE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75590-19F3-74D8-795A-B294E8A2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Fira Code" panose="020B0809050000020004" pitchFamily="49" charset="0"/>
                <a:cs typeface="Fira Code" panose="020B0809050000020004" pitchFamily="49" charset="0"/>
              </a:rPr>
              <a:t>Weaponization of Abstraction Bias</a:t>
            </a:r>
            <a:endParaRPr lang="ko-KR" altLang="en-US" sz="4000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1A2750-6D76-84CD-868F-3422C84FD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2050" cy="4351338"/>
          </a:xfrm>
        </p:spPr>
        <p:txBody>
          <a:bodyPr/>
          <a:lstStyle/>
          <a:p>
            <a:r>
              <a:rPr lang="en-US" altLang="ko-KR" b="1" dirty="0"/>
              <a:t>Adversary</a:t>
            </a:r>
          </a:p>
          <a:p>
            <a:pPr marL="914400" lvl="1" indent="-457200">
              <a:buAutoNum type="arabicParenBoth"/>
            </a:pPr>
            <a:r>
              <a:rPr lang="en-US" altLang="ko-KR" dirty="0"/>
              <a:t>Finds a familiar code pattern</a:t>
            </a:r>
          </a:p>
          <a:p>
            <a:pPr marL="914400" lvl="1" indent="-457200">
              <a:buAutoNum type="arabicParenBoth"/>
            </a:pPr>
            <a:endParaRPr lang="en-US" altLang="ko-KR" dirty="0"/>
          </a:p>
          <a:p>
            <a:pPr marL="914400" lvl="1" indent="-457200">
              <a:buAutoNum type="arabicParenBoth"/>
            </a:pPr>
            <a:r>
              <a:rPr lang="en-US" altLang="ko-KR" dirty="0"/>
              <a:t>Introduces a tiny perturbation (flipping a comparison operator or modifying a constant)</a:t>
            </a:r>
          </a:p>
          <a:p>
            <a:pPr marL="914400" lvl="1" indent="-457200">
              <a:buAutoNum type="arabicParenBoth"/>
            </a:pPr>
            <a:endParaRPr lang="en-US" altLang="ko-KR" dirty="0"/>
          </a:p>
          <a:p>
            <a:pPr marL="914400" lvl="1" indent="-457200">
              <a:buAutoNum type="arabicParenBoth"/>
            </a:pPr>
            <a:r>
              <a:rPr lang="en-US" altLang="ko-KR" dirty="0"/>
              <a:t>Places a condition whose outcome depends on the result of the buggy code.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71A6D5-A528-CBC1-6EFF-99D0BBDC4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133" y="1825625"/>
            <a:ext cx="4398667" cy="416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1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5910-5026-D2AB-39A8-80242F2AC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CB9189-6B47-5274-CCEA-70288DFE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6D02CCD-C240-542F-1EE6-8BC7B6817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4014"/>
            <a:ext cx="48742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07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7ED-062C-CC39-C136-B2055B4D6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B7DC7-BC98-2E33-7031-34CDE05D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Fira Code" panose="020B0809050000020004" pitchFamily="49" charset="0"/>
                <a:cs typeface="Fira Code" panose="020B0809050000020004" pitchFamily="49" charset="0"/>
              </a:rPr>
              <a:t>Adversarial</a:t>
            </a:r>
            <a:r>
              <a:rPr lang="ko-KR" altLang="en-US" dirty="0">
                <a:latin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altLang="ko-KR" dirty="0">
                <a:latin typeface="Fira Code" panose="020B0809050000020004" pitchFamily="49" charset="0"/>
                <a:cs typeface="Fira Code" panose="020B0809050000020004" pitchFamily="49" charset="0"/>
              </a:rPr>
              <a:t>Objective</a:t>
            </a:r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934832-66C0-B7EF-AA04-B47C3C08B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generate a modified version of a program </a:t>
            </a:r>
            <a:r>
              <a:rPr lang="en-US" altLang="ko-KR" b="1" dirty="0"/>
              <a:t>x</a:t>
            </a:r>
            <a:r>
              <a:rPr lang="en-US" altLang="ko-KR" dirty="0"/>
              <a:t> by injecting a Deception Pattern (FPA)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3586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AEEA-585D-5B5E-10C8-DBF8B9CA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5193E-83A4-00FD-9A4D-29444710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Fira Code" panose="020B0809050000020004" pitchFamily="49" charset="0"/>
                <a:cs typeface="Fira Code" panose="020B0809050000020004" pitchFamily="49" charset="0"/>
              </a:rPr>
              <a:t>Example code</a:t>
            </a:r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0E816A-1C30-5A97-2BB6-67B931EDB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38" y="2864398"/>
            <a:ext cx="4591691" cy="25340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D1E26CB-0AB0-8A5A-45E7-AC46D0E1A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5" y="2864398"/>
            <a:ext cx="4448796" cy="25721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931FB0-95E1-7E2C-687B-C4F5F04BF086}"/>
              </a:ext>
            </a:extLst>
          </p:cNvPr>
          <p:cNvSpPr txBox="1"/>
          <p:nvPr/>
        </p:nvSpPr>
        <p:spPr>
          <a:xfrm>
            <a:off x="910554" y="2213332"/>
            <a:ext cx="4909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P</a:t>
            </a:r>
          </a:p>
          <a:p>
            <a:pPr algn="ctr"/>
            <a:r>
              <a:rPr lang="en-US" altLang="ko-KR" sz="1200" dirty="0"/>
              <a:t>[P  : Familiar pattern understood by the LLM]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E69B7F-0AFD-0921-D11B-2A8C4B9E6498}"/>
              </a:ext>
            </a:extLst>
          </p:cNvPr>
          <p:cNvSpPr txBox="1"/>
          <p:nvPr/>
        </p:nvSpPr>
        <p:spPr>
          <a:xfrm>
            <a:off x="6956571" y="2244109"/>
            <a:ext cx="40504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P’</a:t>
            </a:r>
          </a:p>
          <a:p>
            <a:pPr algn="ctr"/>
            <a:r>
              <a:rPr lang="en-US" altLang="ko-KR" sz="1200" dirty="0"/>
              <a:t>[P' : Slightly modified pattern with different semantics]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94829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DF7EB-6D32-A156-F189-5508CD994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C77D8-F6A9-D309-09F5-EE4D5256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Fira Code" panose="020B0809050000020004" pitchFamily="49" charset="0"/>
                <a:cs typeface="Fira Code" panose="020B0809050000020004" pitchFamily="49" charset="0"/>
              </a:rPr>
              <a:t>Familiar Pattern Generator Algorithm</a:t>
            </a:r>
            <a:endParaRPr lang="ko-KR" altLang="en-US" sz="3600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522F9731-B8B4-2C13-0046-1A0855B66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8356EB5-AA21-22A0-F726-24555CD53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705" y="2034447"/>
            <a:ext cx="6906589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33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EB3CA-49E0-F91C-C715-45A08C609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3D2FB-AAE4-4579-EFD1-ACFAE1D4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EE27AB-6A0A-F63D-9B58-AE8F0D505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DEBB79F-2D6B-5DF3-2B0B-381A4DED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46" y="2022024"/>
            <a:ext cx="4682374" cy="30826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7A454B3-C557-3872-0A51-BA9B7D3B7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591" y="2832478"/>
            <a:ext cx="5648870" cy="146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51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150B7-DEF2-400C-8F25-B45F993B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CF40-C21E-3088-73AD-B6570DC5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9FDAE5-34B9-B50C-A885-D555A18C0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69750C-63D9-1B50-4CC4-8B8C8C2AD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580628"/>
            <a:ext cx="4955319" cy="25880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2FEB955-8D68-1014-8C23-9E518AE7F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76" y="3303583"/>
            <a:ext cx="5029200" cy="10002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D1C700-159D-C973-2440-59ED60663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76" y="4549927"/>
            <a:ext cx="5363325" cy="18957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12A245F-415C-4151-C5BB-8FAC885AB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525" y="2280591"/>
            <a:ext cx="5108250" cy="18957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CE77D96-FC2F-8A7E-F092-AC58A0A5B1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1525" y="4360860"/>
            <a:ext cx="5819218" cy="22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1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CC3C-F421-3708-2123-E5CD3FC59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34E37-5C12-C2E7-8AB8-8DB05AAC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BCE7DF-9871-BAA0-A73C-169B35559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6C890C-0D1B-9A03-C028-C7584F1D8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877" y="2668805"/>
            <a:ext cx="4770881" cy="243127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88A7F0F-E722-F597-5845-A70C600A2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499" y="2535492"/>
            <a:ext cx="3384862" cy="269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77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84DB-27C5-D745-F905-6946F91F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928DA-B386-C012-8CC8-3A35354F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Fira Code" panose="020B0809050000020004" pitchFamily="49" charset="0"/>
                <a:cs typeface="Fira Code" panose="020B0809050000020004" pitchFamily="49" charset="0"/>
              </a:rPr>
              <a:t>Limitation &amp; Personal thoughts</a:t>
            </a:r>
            <a:endParaRPr lang="ko-KR" altLang="en-US" sz="4000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9EACB7-4A5A-D2A4-A26A-B60D23BC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Deduplication issue</a:t>
            </a:r>
          </a:p>
          <a:p>
            <a:r>
              <a:rPr lang="en-US" altLang="ko-KR" dirty="0"/>
              <a:t>Why conventional Analysis fails to prevent FPAs</a:t>
            </a:r>
          </a:p>
          <a:p>
            <a:r>
              <a:rPr lang="en-US" altLang="ko-KR" dirty="0"/>
              <a:t>FPA vs traditional Obfuscation </a:t>
            </a:r>
          </a:p>
          <a:p>
            <a:r>
              <a:rPr lang="en-US" altLang="ko-KR" dirty="0"/>
              <a:t>FPA</a:t>
            </a:r>
            <a:r>
              <a:rPr lang="ko-KR" altLang="en-US" dirty="0"/>
              <a:t> </a:t>
            </a:r>
            <a:r>
              <a:rPr lang="en-US" altLang="ko-KR" dirty="0"/>
              <a:t>Overhead</a:t>
            </a:r>
          </a:p>
          <a:p>
            <a:r>
              <a:rPr lang="en-US" altLang="ko-KR" dirty="0"/>
              <a:t>Semantic Anchoring and Pattern Selectivity</a:t>
            </a:r>
          </a:p>
          <a:p>
            <a:r>
              <a:rPr lang="en-US" altLang="ko-KR" dirty="0"/>
              <a:t>Broader Implications for Code LLMs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8725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5D5AD-6280-0144-92D0-5EB4DF0E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66E26-65EB-A930-BE7B-5751EC82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Fira Code" panose="020B0809050000020004" pitchFamily="49" charset="0"/>
                <a:cs typeface="Fira Code" panose="020B0809050000020004" pitchFamily="49" charset="0"/>
              </a:rPr>
              <a:t>table</a:t>
            </a:r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1264E2-0B4D-28E5-F76A-9B06AD410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 problem</a:t>
            </a:r>
          </a:p>
          <a:p>
            <a:r>
              <a:rPr lang="en-US" altLang="ko-KR" dirty="0"/>
              <a:t>2 abstraction bias</a:t>
            </a:r>
          </a:p>
          <a:p>
            <a:r>
              <a:rPr lang="en-US" altLang="ko-KR" dirty="0"/>
              <a:t>3 FPA idea</a:t>
            </a:r>
          </a:p>
          <a:p>
            <a:r>
              <a:rPr lang="en-US" altLang="ko-KR" dirty="0"/>
              <a:t>4 algorithm</a:t>
            </a:r>
          </a:p>
          <a:p>
            <a:r>
              <a:rPr lang="en-US" altLang="ko-KR" dirty="0"/>
              <a:t>5 evaluation</a:t>
            </a:r>
          </a:p>
          <a:p>
            <a:r>
              <a:rPr lang="en-US" altLang="ko-KR" dirty="0"/>
              <a:t>6 implications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5238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F0F38-2A4D-DAEB-F925-3FC75C93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18033-20D1-7752-3430-0D772C495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latin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036" name="Picture 12" descr="ChatGPT Logo and symbol, meaning, history, PNG, brand">
            <a:extLst>
              <a:ext uri="{FF2B5EF4-FFF2-40B4-BE49-F238E27FC236}">
                <a16:creationId xmlns:a16="http://schemas.microsoft.com/office/drawing/2014/main" id="{B9855E69-D7A4-8669-B349-3282872E2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7285" y="2241641"/>
            <a:ext cx="2362107" cy="132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Gemini (Google) 무료 SVG, PNG, 벡터 다운로드 · LobeHub">
            <a:extLst>
              <a:ext uri="{FF2B5EF4-FFF2-40B4-BE49-F238E27FC236}">
                <a16:creationId xmlns:a16="http://schemas.microsoft.com/office/drawing/2014/main" id="{8E646184-5409-25AD-60EC-6FAF9BF2B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12521" y="2309320"/>
            <a:ext cx="1261006" cy="126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laude 무료 SVG, PNG, 벡터 다운로드 · LobeHub">
            <a:extLst>
              <a:ext uri="{FF2B5EF4-FFF2-40B4-BE49-F238E27FC236}">
                <a16:creationId xmlns:a16="http://schemas.microsoft.com/office/drawing/2014/main" id="{82CD09BC-AE38-87A4-6E3B-C43E83CE9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15255" y="2309320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3EF43F-A5E7-1ADC-0223-2CC7E989EA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762" y="3570326"/>
            <a:ext cx="2767261" cy="276726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94D239F-B3A3-A2E1-80A1-3CA4856F2B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657" y="3493698"/>
            <a:ext cx="2843889" cy="28438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6F43B9-4D6C-ABB2-E378-9724ECC06A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588" y="4010151"/>
            <a:ext cx="2232857" cy="223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53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624</Words>
  <Application>Microsoft Office PowerPoint</Application>
  <PresentationFormat>와이드스크린</PresentationFormat>
  <Paragraphs>109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Fira Code</vt:lpstr>
      <vt:lpstr>Fira Code Light</vt:lpstr>
      <vt:lpstr>Office 테마</vt:lpstr>
      <vt:lpstr>Trust Me, I Know This Function:  Hijacking LLM Static Analysis using Bias</vt:lpstr>
      <vt:lpstr>general phenomenon</vt:lpstr>
      <vt:lpstr>FPA</vt:lpstr>
      <vt:lpstr>contributions</vt:lpstr>
      <vt:lpstr>Threat Model &amp; Attack Objective</vt:lpstr>
      <vt:lpstr>PowerPoint 프레젠테이션</vt:lpstr>
      <vt:lpstr>PowerPoint 프레젠테이션</vt:lpstr>
      <vt:lpstr>The familiar Pattern Attack</vt:lpstr>
      <vt:lpstr>Abstraction Bias</vt:lpstr>
      <vt:lpstr>Weaponization of Abstraction Bias</vt:lpstr>
      <vt:lpstr>PowerPoint 프레젠테이션</vt:lpstr>
      <vt:lpstr>Adversarial Objective</vt:lpstr>
      <vt:lpstr>Example code</vt:lpstr>
      <vt:lpstr>Familiar Pattern Generator Algorithm</vt:lpstr>
      <vt:lpstr>PowerPoint 프레젠테이션</vt:lpstr>
      <vt:lpstr>PowerPoint 프레젠테이션</vt:lpstr>
      <vt:lpstr>PowerPoint 프레젠테이션</vt:lpstr>
      <vt:lpstr>Limitation &amp; Personal thoughts</vt:lpstr>
      <vt:lpstr>table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백가현</dc:creator>
  <cp:lastModifiedBy>백가현</cp:lastModifiedBy>
  <cp:revision>17</cp:revision>
  <dcterms:created xsi:type="dcterms:W3CDTF">2026-03-10T04:26:56Z</dcterms:created>
  <dcterms:modified xsi:type="dcterms:W3CDTF">2026-03-13T04:09:03Z</dcterms:modified>
</cp:coreProperties>
</file>