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70" r:id="rId3"/>
    <p:sldId id="258" r:id="rId4"/>
    <p:sldId id="259" r:id="rId5"/>
    <p:sldId id="263" r:id="rId6"/>
    <p:sldId id="260" r:id="rId7"/>
    <p:sldId id="279" r:id="rId8"/>
    <p:sldId id="277" r:id="rId9"/>
    <p:sldId id="278" r:id="rId10"/>
    <p:sldId id="280" r:id="rId11"/>
    <p:sldId id="283" r:id="rId12"/>
    <p:sldId id="281" r:id="rId13"/>
    <p:sldId id="282" r:id="rId14"/>
    <p:sldId id="286" r:id="rId15"/>
    <p:sldId id="285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67" autoAdjust="0"/>
    <p:restoredTop sz="96337" autoAdjust="0"/>
  </p:normalViewPr>
  <p:slideViewPr>
    <p:cSldViewPr snapToGrid="0">
      <p:cViewPr>
        <p:scale>
          <a:sx n="141" d="100"/>
          <a:sy n="141" d="100"/>
        </p:scale>
        <p:origin x="106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F6E5AF-4715-488A-A64A-F0DA65AA85C1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BD78D1-67BC-42F3-A0F2-14EDAA1AF0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769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instead of carefully checking the local details.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D78D1-67BC-42F3-A0F2-14EDAA1AF07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3924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Reasoning model</a:t>
            </a:r>
            <a:r>
              <a:rPr lang="en-US" altLang="ko-KR" dirty="0"/>
              <a:t>: better for complex, multi-step problem solving</a:t>
            </a:r>
          </a:p>
          <a:p>
            <a:r>
              <a:rPr lang="en-US" altLang="ko-KR" b="1" dirty="0"/>
              <a:t>Basic model</a:t>
            </a:r>
            <a:r>
              <a:rPr lang="en-US" altLang="ko-KR" dirty="0"/>
              <a:t>: better for fast, direct responses to simpler tasks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D78D1-67BC-42F3-A0F2-14EDAA1AF07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36997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 also gives a fully automated, black-box generation pipeline.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D78D1-67BC-42F3-A0F2-14EDAA1AF07E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553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dirty="0"/>
              <a:t>Top-3: 3 of the most powerful attack pattern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D78D1-67BC-42F3-A0F2-14EDAA1AF07E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8644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D78D1-67BC-42F3-A0F2-14EDAA1AF07E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017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Reasoning model</a:t>
            </a:r>
            <a:r>
              <a:rPr lang="en-US" altLang="ko-KR" dirty="0"/>
              <a:t>: better for complex, multi-step problem solving</a:t>
            </a:r>
          </a:p>
          <a:p>
            <a:r>
              <a:rPr lang="en-US" altLang="ko-KR" b="1" dirty="0"/>
              <a:t>Basic model</a:t>
            </a:r>
            <a:r>
              <a:rPr lang="en-US" altLang="ko-KR" dirty="0"/>
              <a:t>: better for fast, direct responses to simpler tasks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D78D1-67BC-42F3-A0F2-14EDAA1AF07E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9391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6DDD0-7FD2-7FA3-F5F2-5CD9721B8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E6B7F43-4AC2-F4C7-3D82-E5F81B8D4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DDEC8D9-B7AB-9893-53D9-40819EE97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FCC764-1A6A-004D-F588-5871311DB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D78D1-67BC-42F3-A0F2-14EDAA1AF07E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8314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23D818-7C66-BE2E-86FA-256E0F3EA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9D0093-ECE1-B273-3463-0A955EE470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5CBEDD-91DB-9DDD-726D-536671FFB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047984-8FC6-EB3B-2DEE-7ADABCB57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E7F2C8-D139-B1D0-9E61-639AA1A73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0853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B11B7C-14F7-26A1-02DB-086E04627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87E2F3-9FF9-D253-0A00-F84EA38D1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563A54-91EC-BB21-A086-D2B3F77A0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D94001-4053-3CB0-7AFF-1D8549A36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A5A527-D056-7EAC-8274-69513C00A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5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E1DCD1-1097-B02C-A084-4397E9B08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5A03E7-BF8F-4521-741F-B6B9B699F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BA8F11-0833-446B-E273-546655ADF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AD3C28-A4D4-1761-6495-3C7E0F225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DE1894-668D-4F94-2755-364A30767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6151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A13AF-2B8D-5B60-8966-697C084A7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9485C-C679-94FE-8B06-CFFF76C22A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F21BFA7-5523-BD82-6FB4-7BDEDCE6E1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DFD48F-307A-D17A-7B3C-CB343B5C5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113F8D-6883-DF85-1F07-2A130E60A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5D0894-23A2-36E6-DB45-66215C5CD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78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C288B2-220D-F021-8323-19E77B55C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5A1C14-203A-A97C-F019-A53519E15D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6A19AA-8497-C7B2-AF47-83DEC39369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6B44BE-211E-7C78-80C6-F828715FB1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F3C955C-875D-DBA3-9DDE-09DC60A3DE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18BC4E-3545-93CC-3A39-5009CBCC2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3D70879-38B8-4BFB-1A10-84A7579FF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F92A668-EDA7-237C-1AA1-74AF55932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8855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3D07E-B309-EB79-9B29-C1817235D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8FDFCD-75F9-B25C-4ECE-E04EB5F1E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9EFDB3-4CB1-0EC6-6BFD-B77B7ED02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C1C53D-DDFA-7ADD-30CF-855535B8D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1381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1B2293-2F0F-F9C3-7DF0-D3E9F3E65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63A117B-E32A-54DE-8B88-2A06B6337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2B560D-5BC4-0A9D-4A4A-3843CFAEC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562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85B96C-0575-4326-95EE-026B2F502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A13844-7C08-6185-6EB8-ABC19E258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B29DE9-CCDF-7524-C118-6B0D6969D1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E3480E-6EE6-EE7C-2283-C20207148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C55B09-2A54-A0E0-8F93-4AF2650D0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5BC4BA-871B-2B48-A127-FEA1DFB15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0358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949A6-35D0-2DF2-ECE0-5DE050957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EFD369-0790-99F7-6A26-91A4CF35D0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9A8B00-8805-54D0-A404-05B048092B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D5B8195-4360-EF70-14BF-7DB5CBD3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D668FE-7808-AD0C-ED6F-E40B4AA60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0E797D3-5363-0A7A-2DBE-1F6685149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7392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14A40E-1A1B-6962-E926-A6C6EB521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C7482EA-13B9-CB23-225A-02B9C3A796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5DF79E-0485-0FFB-7AEB-5E4940058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154C3B-E14F-152B-8A53-6057BB166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2F5B9C-7202-9BE1-9C06-3C0EBC04D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71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5514C1F-3890-5BF1-38E1-69B6A06363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9B577D-5ED1-4668-BE03-2C6966826C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856906-CFBB-C206-89CD-07F49A9FC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F63C45-69AE-F908-7949-EECE95E88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BDB0DB-5C9B-2A1A-B7F1-852CB8891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249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DA3C892-238C-0480-E2DC-909DC2DE8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5FEBAA-6513-0736-4835-C23B81769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52EAC2-3E17-E87F-EB26-71922EE158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DB2995-E685-45FA-A75F-172B11F9C138}" type="datetimeFigureOut">
              <a:rPr lang="ko-KR" altLang="en-US" smtClean="0"/>
              <a:t>2026. 3. 16.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FE3A29-B85A-E903-8B68-EB6E2DF515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D4E12D-9A9E-FC4F-A32B-73BD1C3238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1D9115-1B3D-49BB-9A47-BF29B80CAF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182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926D1-418A-BC82-E56F-71771B3F1E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9857"/>
            <a:ext cx="9144000" cy="2387600"/>
          </a:xfrm>
        </p:spPr>
        <p:txBody>
          <a:bodyPr>
            <a:noAutofit/>
          </a:bodyPr>
          <a:lstStyle/>
          <a:p>
            <a:r>
              <a:rPr lang="en-US" altLang="ko-KR" sz="28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Trust Me, I Know This Function: </a:t>
            </a:r>
            <a:br>
              <a:rPr lang="en-US" altLang="ko-KR" sz="28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</a:br>
            <a:r>
              <a:rPr lang="en-US" altLang="ko-KR" sz="28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Hijacking LLM Static Analysis using Bias</a:t>
            </a:r>
            <a:endParaRPr lang="ko-KR" altLang="en-US" sz="2800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0A84116-2CD1-96B9-FEA9-B39392B50C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70401"/>
            <a:ext cx="9144000" cy="1655762"/>
          </a:xfrm>
        </p:spPr>
        <p:txBody>
          <a:bodyPr/>
          <a:lstStyle/>
          <a:p>
            <a:r>
              <a:rPr lang="en-US" altLang="ko-KR" dirty="0"/>
              <a:t> NDSS 2026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6138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E0D0-BD5B-2C53-ACB6-DF92516B0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9E2CB3-DB86-F695-B850-3DBA5A812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Fira Code" panose="020B0809050000020004" pitchFamily="49" charset="0"/>
                <a:cs typeface="Fira Code" panose="020B0809050000020004" pitchFamily="49" charset="0"/>
              </a:rPr>
              <a:t>Motivation</a:t>
            </a:r>
            <a:endParaRPr lang="ko-KR" altLang="en-US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6B4C5F-AB8A-082F-3005-4D0D4F1B6C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9348"/>
            <a:ext cx="10515600" cy="4783528"/>
          </a:xfrm>
        </p:spPr>
        <p:txBody>
          <a:bodyPr>
            <a:normAutofit/>
          </a:bodyPr>
          <a:lstStyle/>
          <a:p>
            <a:r>
              <a:rPr lang="en" altLang="ko-KR" sz="2400" dirty="0"/>
              <a:t>LLMs are increasingly used for:</a:t>
            </a:r>
          </a:p>
          <a:p>
            <a:pPr lvl="1"/>
            <a:r>
              <a:rPr lang="en" altLang="ko-KR" sz="2000" dirty="0"/>
              <a:t>code review</a:t>
            </a:r>
          </a:p>
          <a:p>
            <a:pPr lvl="1"/>
            <a:r>
              <a:rPr lang="en" altLang="ko-KR" sz="2000" dirty="0"/>
              <a:t>vulnerability analysis</a:t>
            </a:r>
          </a:p>
          <a:p>
            <a:pPr lvl="1"/>
            <a:r>
              <a:rPr lang="en" altLang="ko-KR" sz="2000" dirty="0"/>
              <a:t>program understanding</a:t>
            </a:r>
          </a:p>
          <a:p>
            <a:endParaRPr lang="en" altLang="ko-KR" sz="2400" dirty="0"/>
          </a:p>
          <a:p>
            <a:r>
              <a:rPr lang="en" altLang="ko-KR" sz="2400" dirty="0"/>
              <a:t>But all of these depends on a strong assumption:</a:t>
            </a:r>
          </a:p>
          <a:p>
            <a:pPr marL="0" indent="0">
              <a:buNone/>
            </a:pPr>
            <a:r>
              <a:rPr lang="en-US" altLang="ko-KR" sz="2400" b="1" dirty="0"/>
              <a:t>-&gt; T</a:t>
            </a:r>
            <a:r>
              <a:rPr lang="en" altLang="ko-KR" sz="2400" b="1" dirty="0"/>
              <a:t>he model’s interpretation of code is actually accurate and robust ?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827070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0ADA30-78B9-C9B4-F23F-7DBB53FCD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Key Observation</a:t>
            </a:r>
            <a:endParaRPr lang="ko-KR" altLang="en-US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EA1304-5CF5-111B-605A-1D761C870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05451" cy="4351338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When an LLM sees a familiar code pattern, LLMs tend to </a:t>
            </a:r>
            <a:r>
              <a:rPr lang="en-US" altLang="ko-KR" sz="2400" b="1" dirty="0"/>
              <a:t>overgeneralize</a:t>
            </a:r>
            <a:r>
              <a:rPr lang="en-US" altLang="ko-KR" sz="2400" dirty="0"/>
              <a:t> from familiar code patterns.</a:t>
            </a:r>
          </a:p>
          <a:p>
            <a:endParaRPr lang="en-US" altLang="ko-KR" sz="2400" dirty="0"/>
          </a:p>
          <a:p>
            <a:r>
              <a:rPr lang="en-US" altLang="ko-KR" sz="2400" dirty="0"/>
              <a:t>a small perturbation can change the real behavior of the code while the model still interprets it as the original pattern.</a:t>
            </a:r>
            <a:endParaRPr lang="ko-KR" altLang="en-US" sz="2400" b="1" dirty="0">
              <a:cs typeface="Fira Code Light" panose="020B0809050000020004" pitchFamily="49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0FD5A6-6381-264A-33CF-AA1DF02A4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2815" y="2215894"/>
            <a:ext cx="5091546" cy="2656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842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843C50-5FCB-F3F9-9FCF-43F27D9A3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Abstraction Bias</a:t>
            </a:r>
            <a:endParaRPr lang="ko-KR" altLang="en-US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A380E6-A0F6-641A-0749-1B3342080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When code resembles a known pattern, LLMs may infer behavior </a:t>
            </a:r>
            <a:r>
              <a:rPr lang="en-US" altLang="ko-KR" sz="2400" b="1" dirty="0"/>
              <a:t>prematurely</a:t>
            </a:r>
            <a:r>
              <a:rPr lang="en-US" altLang="ko-KR" sz="2400" dirty="0"/>
              <a:t>.</a:t>
            </a:r>
          </a:p>
          <a:p>
            <a:r>
              <a:rPr lang="en-US" altLang="ko-KR" sz="2400" dirty="0"/>
              <a:t>This leads to incorrect reasoning about modified patterns.</a:t>
            </a:r>
          </a:p>
        </p:txBody>
      </p:sp>
    </p:spTree>
    <p:extLst>
      <p:ext uri="{BB962C8B-B14F-4D97-AF65-F5344CB8AC3E}">
        <p14:creationId xmlns:p14="http://schemas.microsoft.com/office/powerpoint/2010/main" val="3735116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A28BA-0FD1-E872-06CB-E6BA6EE48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72CEB2-1EC8-3FC8-5313-BC039A470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33561"/>
            <a:ext cx="10515600" cy="1325563"/>
          </a:xfrm>
        </p:spPr>
        <p:txBody>
          <a:bodyPr/>
          <a:lstStyle/>
          <a:p>
            <a:r>
              <a:rPr lang="en-US" altLang="ko-KR" dirty="0">
                <a:latin typeface="Fira Code" panose="020B0809050000020004" pitchFamily="49" charset="0"/>
                <a:cs typeface="Fira Code" panose="020B0809050000020004" pitchFamily="49" charset="0"/>
              </a:rPr>
              <a:t>Familiar Pattern Attack</a:t>
            </a:r>
            <a:endParaRPr lang="ko-KR" altLang="en-US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1435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ECA670-4852-5D93-8B1D-7C8B7E7C7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4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Familiar Pattern Attack: </a:t>
            </a:r>
            <a:br>
              <a:rPr lang="en-US" altLang="ko-KR" sz="4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</a:br>
            <a:r>
              <a:rPr lang="en-US" altLang="ko-KR" sz="32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Deception Pattern</a:t>
            </a:r>
            <a:endParaRPr lang="ko-KR" altLang="en-US" sz="4000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2FB968-5492-9030-6B23-D15602312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" altLang="ko-KR" sz="2400" dirty="0"/>
              <a:t>Attack idea:</a:t>
            </a:r>
          </a:p>
          <a:p>
            <a:pPr marL="0" indent="0">
              <a:buNone/>
            </a:pPr>
            <a:r>
              <a:rPr lang="en" altLang="ko-KR" sz="2400" dirty="0"/>
              <a:t>1. Start from a familiar code pattern (P)</a:t>
            </a:r>
          </a:p>
          <a:p>
            <a:pPr marL="0" indent="0">
              <a:buNone/>
            </a:pPr>
            <a:r>
              <a:rPr lang="en" altLang="ko-KR" sz="2400" dirty="0"/>
              <a:t>2. Apply small perturbation (</a:t>
            </a:r>
            <a:r>
              <a:rPr lang="el-GR" altLang="ko-KR" sz="2400" dirty="0"/>
              <a:t>Δ)</a:t>
            </a:r>
          </a:p>
          <a:p>
            <a:pPr marL="0" indent="0">
              <a:buNone/>
            </a:pPr>
            <a:r>
              <a:rPr lang="el-GR" altLang="ko-KR" sz="2400" dirty="0"/>
              <a:t>3. </a:t>
            </a:r>
            <a:r>
              <a:rPr lang="en" altLang="ko-KR" sz="2400" dirty="0"/>
              <a:t>Create modified pattern P' = P + </a:t>
            </a:r>
            <a:r>
              <a:rPr lang="el-GR" altLang="ko-KR" sz="2400" dirty="0"/>
              <a:t>Δ</a:t>
            </a:r>
          </a:p>
          <a:p>
            <a:pPr marL="0" indent="0">
              <a:buNone/>
            </a:pPr>
            <a:endParaRPr lang="en" altLang="ko-KR" sz="2400" b="1" dirty="0"/>
          </a:p>
          <a:p>
            <a:pPr marL="0" indent="0" algn="ctr">
              <a:buNone/>
            </a:pPr>
            <a:r>
              <a:rPr lang="en" altLang="ko-KR" sz="2400" b="1" dirty="0"/>
              <a:t>LLM still interprets P’ as P.</a:t>
            </a:r>
          </a:p>
        </p:txBody>
      </p:sp>
    </p:spTree>
    <p:extLst>
      <p:ext uri="{BB962C8B-B14F-4D97-AF65-F5344CB8AC3E}">
        <p14:creationId xmlns:p14="http://schemas.microsoft.com/office/powerpoint/2010/main" val="1938757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4AFF8-5517-5384-5636-05EA65AAF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8AD6AF-5BBE-B4E3-A3DE-66F82255F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4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Deception Pattern Example</a:t>
            </a:r>
            <a:endParaRPr lang="ko-KR" altLang="en-US" sz="4000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A077ED-8453-7307-3214-027D53FD0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" altLang="ko-KR" sz="2400" dirty="0"/>
              <a:t>P: normal pattern (e.g., list sum)</a:t>
            </a:r>
          </a:p>
          <a:p>
            <a:r>
              <a:rPr lang="en" altLang="ko-KR" sz="2400" dirty="0"/>
              <a:t>P': slightly modified version</a:t>
            </a:r>
          </a:p>
          <a:p>
            <a:r>
              <a:rPr lang="en" altLang="ko-KR" sz="2400" dirty="0"/>
              <a:t>Program output changes</a:t>
            </a:r>
          </a:p>
          <a:p>
            <a:r>
              <a:rPr lang="en-US" altLang="ko-KR" sz="2400" dirty="0"/>
              <a:t>the change is tiny, but the model may still read it as the original pattern.</a:t>
            </a:r>
            <a:endParaRPr lang="en" altLang="ko-KR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124DADD-CEBB-1161-2EDD-1E4CF49CF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184" y="4230473"/>
            <a:ext cx="4591691" cy="253400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6FB3926-321F-2A23-0FF0-43D5398AE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061" y="4225738"/>
            <a:ext cx="4448796" cy="25721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F0B47E-FD19-C00A-C359-C4E584B60D11}"/>
              </a:ext>
            </a:extLst>
          </p:cNvPr>
          <p:cNvSpPr txBox="1"/>
          <p:nvPr/>
        </p:nvSpPr>
        <p:spPr>
          <a:xfrm>
            <a:off x="838200" y="3764073"/>
            <a:ext cx="4909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/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74B4B1-219A-F78C-F69B-52EEC70382EC}"/>
              </a:ext>
            </a:extLst>
          </p:cNvPr>
          <p:cNvSpPr txBox="1"/>
          <p:nvPr/>
        </p:nvSpPr>
        <p:spPr>
          <a:xfrm>
            <a:off x="6884217" y="3764073"/>
            <a:ext cx="40504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/>
              <a:t>P’</a:t>
            </a:r>
          </a:p>
        </p:txBody>
      </p:sp>
    </p:spTree>
    <p:extLst>
      <p:ext uri="{BB962C8B-B14F-4D97-AF65-F5344CB8AC3E}">
        <p14:creationId xmlns:p14="http://schemas.microsoft.com/office/powerpoint/2010/main" val="20944110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2847D-0F86-68BD-7B3B-D6F274804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4100C-EE9F-D1A0-CF73-9F7B8F752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4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Attack Objective</a:t>
            </a:r>
            <a:endParaRPr lang="ko-KR" altLang="en-US" sz="4000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CDC12F-E4CF-D7C3-33A2-9DF175F4D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98" y="1825625"/>
            <a:ext cx="6530604" cy="4351338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Inject a </a:t>
            </a:r>
            <a:r>
              <a:rPr lang="en-US" altLang="ko-KR" sz="2400" b="1" i="1" dirty="0"/>
              <a:t>deception pattern </a:t>
            </a:r>
            <a:r>
              <a:rPr lang="en-US" altLang="ko-KR" sz="2400" dirty="0"/>
              <a:t>into program x.</a:t>
            </a:r>
          </a:p>
          <a:p>
            <a:r>
              <a:rPr lang="en-US" altLang="ko-KR" sz="2400" dirty="0"/>
              <a:t>The attacker wants to preserve the program’s real runtime behavior, while causing the LLM to </a:t>
            </a:r>
            <a:r>
              <a:rPr lang="en-US" altLang="ko-KR" sz="2400" dirty="0" err="1"/>
              <a:t>mispredict</a:t>
            </a:r>
            <a:r>
              <a:rPr lang="en-US" altLang="ko-KR" sz="2400" dirty="0"/>
              <a:t> the control flow or output. </a:t>
            </a:r>
          </a:p>
          <a:p>
            <a:r>
              <a:rPr lang="en" altLang="ko-KR" sz="2400" dirty="0"/>
              <a:t>So the attack changes the model’s interpretation.</a:t>
            </a:r>
          </a:p>
          <a:p>
            <a:endParaRPr lang="en" altLang="ko-KR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1D9D3B1-8776-325E-62FC-46C3E32AC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8752" y="1825625"/>
            <a:ext cx="460095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D9342D-CE98-910D-4479-9CDAE0E0CED5}"/>
              </a:ext>
            </a:extLst>
          </p:cNvPr>
          <p:cNvSpPr txBox="1"/>
          <p:nvPr/>
        </p:nvSpPr>
        <p:spPr>
          <a:xfrm>
            <a:off x="2617392" y="5060731"/>
            <a:ext cx="53452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The attacker then uses this mismatch in a condition statement.</a:t>
            </a:r>
            <a:endParaRPr lang="ko-KR" altLang="en-US" sz="1400" dirty="0"/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B02EC4C9-17FB-B078-0E4A-D57CE7A30CD5}"/>
              </a:ext>
            </a:extLst>
          </p:cNvPr>
          <p:cNvSpPr/>
          <p:nvPr/>
        </p:nvSpPr>
        <p:spPr>
          <a:xfrm>
            <a:off x="2617392" y="5003800"/>
            <a:ext cx="5753357" cy="421640"/>
          </a:xfrm>
          <a:prstGeom prst="righ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9938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55669-3174-B51A-4526-EAD8D2ED6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DEC24D-F4A3-9BAD-8FA9-E110912E5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36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Familiar Pattern Attack Generation</a:t>
            </a:r>
            <a:endParaRPr lang="ko-KR" altLang="en-US" sz="3600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814C05-2D57-3AC0-944A-FA46B705F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" altLang="ko-KR" sz="2400" dirty="0"/>
              <a:t>Algorithm steps:</a:t>
            </a:r>
          </a:p>
          <a:p>
            <a:pPr marL="0" indent="0">
              <a:buNone/>
            </a:pPr>
            <a:r>
              <a:rPr lang="en" altLang="ko-KR" sz="2000" dirty="0"/>
              <a:t>1. Generate familiar pattern </a:t>
            </a:r>
            <a:r>
              <a:rPr lang="en" altLang="ko-KR" sz="2000" b="1" dirty="0"/>
              <a:t>P</a:t>
            </a:r>
          </a:p>
          <a:p>
            <a:pPr marL="0" indent="0">
              <a:buNone/>
            </a:pPr>
            <a:r>
              <a:rPr lang="en" altLang="ko-KR" sz="2000" dirty="0"/>
              <a:t>2. Verify whether LLM understands </a:t>
            </a:r>
            <a:r>
              <a:rPr lang="en" altLang="ko-KR" sz="2000" b="1" dirty="0"/>
              <a:t>P</a:t>
            </a:r>
            <a:r>
              <a:rPr lang="en" altLang="ko-KR" sz="2000" dirty="0"/>
              <a:t> correctly</a:t>
            </a:r>
          </a:p>
          <a:p>
            <a:pPr marL="0" indent="0">
              <a:buNone/>
            </a:pPr>
            <a:r>
              <a:rPr lang="en" altLang="ko-KR" sz="2000" dirty="0"/>
              <a:t>3. Generate perturbation </a:t>
            </a:r>
            <a:r>
              <a:rPr lang="el-GR" altLang="ko-KR" sz="2000" b="1" dirty="0"/>
              <a:t>Δ</a:t>
            </a:r>
          </a:p>
          <a:p>
            <a:pPr marL="0" indent="0">
              <a:buNone/>
            </a:pPr>
            <a:r>
              <a:rPr lang="el-GR" altLang="ko-KR" sz="2000" dirty="0"/>
              <a:t>4. </a:t>
            </a:r>
            <a:r>
              <a:rPr lang="en" altLang="ko-KR" sz="2000" dirty="0"/>
              <a:t>Create </a:t>
            </a:r>
            <a:r>
              <a:rPr lang="en" altLang="ko-KR" sz="2000" b="1" dirty="0"/>
              <a:t>P'</a:t>
            </a:r>
          </a:p>
          <a:p>
            <a:pPr marL="0" indent="0">
              <a:buNone/>
            </a:pPr>
            <a:r>
              <a:rPr lang="en" altLang="ko-KR" sz="2000" dirty="0"/>
              <a:t>5. Validate LLM misinterpretation</a:t>
            </a:r>
          </a:p>
          <a:p>
            <a:pPr marL="0" indent="0">
              <a:buNone/>
            </a:pPr>
            <a:endParaRPr lang="en" altLang="ko-KR" sz="2400" dirty="0"/>
          </a:p>
          <a:p>
            <a:r>
              <a:rPr lang="en-US" altLang="ko-KR" sz="2400" dirty="0"/>
              <a:t>The whole attack can be generated without internal model access. </a:t>
            </a:r>
            <a:endParaRPr lang="ko-KR" altLang="ko-KR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A95B7FA-B43B-A239-BC54-870BEA0FAF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060" y="2054479"/>
            <a:ext cx="4401703" cy="2294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542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5E81F-2FBC-99DB-8121-3016449C6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FB2C06-EC39-E810-9E8B-36E1B4866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4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Transferability</a:t>
            </a:r>
            <a:endParaRPr lang="ko-KR" altLang="en-US" sz="4000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ADAFDD-BE77-E9D7-F0B3-55C644FB2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" altLang="ko-KR" sz="2400" dirty="0"/>
              <a:t>FPA generated with one model can fool other models.</a:t>
            </a:r>
          </a:p>
          <a:p>
            <a:r>
              <a:rPr lang="en" altLang="ko-KR" sz="2400" dirty="0"/>
              <a:t>Example: GPT‑4o generated attacks =&gt; also fooled Claude and Gemini.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15AC885-C093-4F25-64A5-5DB8D1D27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54" y="3328988"/>
            <a:ext cx="5866450" cy="30638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4AD7AE9-6925-3812-F376-2BF692354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7649" y="3328988"/>
            <a:ext cx="3873205" cy="308714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A2B2833-141C-F089-B70C-2F712D9664B9}"/>
              </a:ext>
            </a:extLst>
          </p:cNvPr>
          <p:cNvSpPr/>
          <p:nvPr/>
        </p:nvSpPr>
        <p:spPr>
          <a:xfrm>
            <a:off x="3308350" y="4546600"/>
            <a:ext cx="685800" cy="12509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0F9A447-4CFD-F4D3-55A3-A1AE1406E945}"/>
              </a:ext>
            </a:extLst>
          </p:cNvPr>
          <p:cNvSpPr/>
          <p:nvPr/>
        </p:nvSpPr>
        <p:spPr>
          <a:xfrm>
            <a:off x="4789932" y="4546600"/>
            <a:ext cx="886968" cy="12509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057EA6E-5A01-DFA2-13E5-965CE2F9392F}"/>
              </a:ext>
            </a:extLst>
          </p:cNvPr>
          <p:cNvSpPr/>
          <p:nvPr/>
        </p:nvSpPr>
        <p:spPr>
          <a:xfrm>
            <a:off x="5695950" y="5764212"/>
            <a:ext cx="685800" cy="41275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186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A2827-7C13-F3FE-11B8-BAC48D586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071BD1-CB20-9420-728A-E4B6487D0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" altLang="ko-KR" sz="4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Real-world impact</a:t>
            </a:r>
            <a:endParaRPr lang="ko-KR" altLang="en-US" sz="4000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9AA3C40-4EFE-165A-F24C-98F056FE7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2423" y="3883579"/>
            <a:ext cx="4372775" cy="1708673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C86B82B0-8E58-A5C6-CBA0-349B835CA5F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01798"/>
            <a:ext cx="10515600" cy="17086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Commercial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code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are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still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vulnerable</a:t>
            </a:r>
            <a:endParaRPr lang="en-US" altLang="ko-KR" sz="2000" b="1" dirty="0">
              <a:latin typeface="Arial" panose="020B0604020202020204" pitchFamily="34" charset="0"/>
            </a:endParaRPr>
          </a:p>
          <a:p>
            <a:pPr lv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Attack Success Rate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93%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Copilot-GPT5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97%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Cursor-GPT5.</a:t>
            </a:r>
          </a:p>
          <a:p>
            <a:pPr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Prompt-based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mitigation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ineffective</a:t>
            </a:r>
            <a:endParaRPr lang="en-US" altLang="ko-KR" sz="2000" b="1" dirty="0">
              <a:latin typeface="Arial" panose="020B0604020202020204" pitchFamily="34" charset="0"/>
            </a:endParaRPr>
          </a:p>
          <a:p>
            <a:pPr lv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deceptive-code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remains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16.7%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overall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even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robust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warning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prompt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85C2B6B-43F4-3C7F-7887-A791B661C333}"/>
              </a:ext>
            </a:extLst>
          </p:cNvPr>
          <p:cNvSpPr/>
          <p:nvPr/>
        </p:nvSpPr>
        <p:spPr>
          <a:xfrm>
            <a:off x="3886974" y="5301830"/>
            <a:ext cx="1303580" cy="210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6FCF3A-8EFA-395A-4883-B0DF7BC99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6804" y="3807900"/>
            <a:ext cx="3214082" cy="132556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352BD08-8230-21F5-5609-F5E51135D2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02" y="5089375"/>
            <a:ext cx="3226784" cy="696940"/>
          </a:xfrm>
          <a:prstGeom prst="rect">
            <a:avLst/>
          </a:prstGeom>
        </p:spPr>
      </p:pic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148AB289-75B0-12CC-A573-E6700FE86D60}"/>
              </a:ext>
            </a:extLst>
          </p:cNvPr>
          <p:cNvCxnSpPr>
            <a:cxnSpLocks/>
          </p:cNvCxnSpPr>
          <p:nvPr/>
        </p:nvCxnSpPr>
        <p:spPr>
          <a:xfrm>
            <a:off x="6577263" y="4363453"/>
            <a:ext cx="307206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CB0AAB54-DA80-1E72-5610-BB00905F73ED}"/>
              </a:ext>
            </a:extLst>
          </p:cNvPr>
          <p:cNvCxnSpPr>
            <a:cxnSpLocks/>
          </p:cNvCxnSpPr>
          <p:nvPr/>
        </p:nvCxnSpPr>
        <p:spPr>
          <a:xfrm>
            <a:off x="6569242" y="4531895"/>
            <a:ext cx="308008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4E8A6D3D-F753-023A-492D-93605DFD7B42}"/>
              </a:ext>
            </a:extLst>
          </p:cNvPr>
          <p:cNvCxnSpPr>
            <a:cxnSpLocks/>
          </p:cNvCxnSpPr>
          <p:nvPr/>
        </p:nvCxnSpPr>
        <p:spPr>
          <a:xfrm>
            <a:off x="6569242" y="4692316"/>
            <a:ext cx="163629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D78CDE1-6346-4AF6-9A0B-E54D20FA868A}"/>
              </a:ext>
            </a:extLst>
          </p:cNvPr>
          <p:cNvSpPr/>
          <p:nvPr/>
        </p:nvSpPr>
        <p:spPr>
          <a:xfrm>
            <a:off x="6569242" y="4876800"/>
            <a:ext cx="1203158" cy="196533"/>
          </a:xfrm>
          <a:prstGeom prst="rect">
            <a:avLst/>
          </a:prstGeom>
          <a:solidFill>
            <a:srgbClr val="FFFF00">
              <a:alpha val="29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503338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3C8D3-F04D-093E-594E-4E6441E0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D7C36B-6ECB-E98A-1166-95424E9C1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4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Security Implications</a:t>
            </a:r>
            <a:endParaRPr lang="ko-KR" altLang="en-US" sz="4000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5A86C1-1223-6AF7-3CFE-D7FB584E2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" altLang="ko-KR" sz="2400" b="1" dirty="0"/>
              <a:t>Attackers</a:t>
            </a:r>
            <a:r>
              <a:rPr lang="en" altLang="ko-KR" sz="2400" dirty="0"/>
              <a:t>:</a:t>
            </a:r>
          </a:p>
          <a:p>
            <a:pPr marL="0" indent="0">
              <a:buNone/>
            </a:pPr>
            <a:r>
              <a:rPr lang="en" altLang="ko-KR" sz="2400" dirty="0"/>
              <a:t> - Hide backdoors</a:t>
            </a:r>
          </a:p>
          <a:p>
            <a:pPr marL="0" indent="0">
              <a:buNone/>
            </a:pPr>
            <a:r>
              <a:rPr lang="en" altLang="ko-KR" sz="2400" dirty="0"/>
              <a:t> - Manipulate code audits</a:t>
            </a:r>
          </a:p>
          <a:p>
            <a:pPr marL="0" indent="0">
              <a:buNone/>
            </a:pPr>
            <a:r>
              <a:rPr lang="en" altLang="ko-KR" sz="2400" dirty="0"/>
              <a:t> - Poison datasets</a:t>
            </a:r>
          </a:p>
          <a:p>
            <a:r>
              <a:rPr lang="en" altLang="ko-KR" sz="2400" b="1" dirty="0"/>
              <a:t>Defenders</a:t>
            </a:r>
            <a:r>
              <a:rPr lang="en" altLang="ko-KR" sz="2400" dirty="0"/>
              <a:t>:</a:t>
            </a:r>
          </a:p>
          <a:p>
            <a:pPr marL="0" indent="0">
              <a:buNone/>
            </a:pPr>
            <a:r>
              <a:rPr lang="en" altLang="ko-KR" sz="2400" dirty="0"/>
              <a:t> - Detect scraping</a:t>
            </a:r>
          </a:p>
          <a:p>
            <a:pPr marL="0" indent="0">
              <a:buNone/>
            </a:pPr>
            <a:r>
              <a:rPr lang="en" altLang="ko-KR" sz="2400" dirty="0"/>
              <a:t> - Protect proprietary code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4B47005-EA57-B167-CFDB-3085651F9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550" y="4281223"/>
            <a:ext cx="5108250" cy="189574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6F667A4-A40C-8D81-40F2-BFDA52390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550" y="1946936"/>
            <a:ext cx="5363325" cy="189574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C537069-D793-21D3-31D1-6D03F5B7D177}"/>
              </a:ext>
            </a:extLst>
          </p:cNvPr>
          <p:cNvSpPr/>
          <p:nvPr/>
        </p:nvSpPr>
        <p:spPr>
          <a:xfrm>
            <a:off x="7579087" y="5903710"/>
            <a:ext cx="3516451" cy="2270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5294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E3A03-07B2-6750-C078-1277BD47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67AE43-94DA-A36B-F0FA-1B06F4EB7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4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Limitations &amp; Takeaway</a:t>
            </a:r>
            <a:endParaRPr lang="ko-KR" altLang="en-US" sz="4000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CEDA7-5C97-9783-B8D4-646F5E214D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" altLang="ko-KR" sz="2400" b="1" dirty="0"/>
              <a:t>Limitation</a:t>
            </a:r>
          </a:p>
          <a:p>
            <a:pPr lvl="1"/>
            <a:r>
              <a:rPr lang="en" altLang="ko-KR" sz="2000" dirty="0"/>
              <a:t>Requires pattern similarity</a:t>
            </a:r>
          </a:p>
          <a:p>
            <a:pPr lvl="1"/>
            <a:r>
              <a:rPr lang="en" altLang="ko-KR" sz="2000" dirty="0"/>
              <a:t>May fail if model performs deeper reasoning</a:t>
            </a:r>
          </a:p>
          <a:p>
            <a:pPr lvl="1"/>
            <a:r>
              <a:rPr lang="en" altLang="ko-KR" sz="2000" dirty="0"/>
              <a:t>Effect depends on LLM architecture</a:t>
            </a:r>
          </a:p>
          <a:p>
            <a:endParaRPr lang="en" altLang="ko-KR" sz="2400" dirty="0"/>
          </a:p>
          <a:p>
            <a:r>
              <a:rPr lang="en" altLang="ko-KR" sz="2400" b="1" dirty="0"/>
              <a:t>Takeaway</a:t>
            </a:r>
          </a:p>
          <a:p>
            <a:pPr lvl="1"/>
            <a:r>
              <a:rPr lang="en-US" altLang="ko-KR" sz="2000" dirty="0"/>
              <a:t>LLM-based static analysis can be manipulated using familiar patterns.</a:t>
            </a:r>
          </a:p>
          <a:p>
            <a:pPr lvl="1"/>
            <a:r>
              <a:rPr lang="en-US" altLang="ko-KR" sz="2000" dirty="0"/>
              <a:t>Abstraction bias creates a new attack surface for code intelligence systems.</a:t>
            </a:r>
            <a:endParaRPr lang="ko-KR" altLang="en-US" sz="2000" dirty="0"/>
          </a:p>
          <a:p>
            <a:endParaRPr lang="en" altLang="ko-KR" sz="2400" dirty="0"/>
          </a:p>
        </p:txBody>
      </p:sp>
    </p:spTree>
    <p:extLst>
      <p:ext uri="{BB962C8B-B14F-4D97-AF65-F5344CB8AC3E}">
        <p14:creationId xmlns:p14="http://schemas.microsoft.com/office/powerpoint/2010/main" val="25919425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24920-C137-CB2C-5FC2-F88F3FBE9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99DA9-C7D7-D8BD-EFE5-76C72EED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4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Personal thoughts</a:t>
            </a:r>
            <a:endParaRPr lang="ko-KR" altLang="en-US" sz="4000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1D3454-B591-D5D4-D81C-BF7DC71C7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T</a:t>
            </a:r>
            <a:r>
              <a:rPr lang="en" altLang="ko-KR" sz="2400" dirty="0"/>
              <a:t>hey didn’t determine which functions are </a:t>
            </a:r>
            <a:r>
              <a:rPr lang="en-US" altLang="ko-KR" sz="2400" dirty="0"/>
              <a:t>susceptible</a:t>
            </a:r>
            <a:r>
              <a:rPr lang="en" altLang="ko-KR" sz="2400" dirty="0"/>
              <a:t> to FPA.</a:t>
            </a:r>
          </a:p>
          <a:p>
            <a:r>
              <a:rPr lang="en-US" altLang="ko-KR" sz="2400" dirty="0"/>
              <a:t>B</a:t>
            </a:r>
            <a:r>
              <a:rPr lang="en" altLang="ko-KR" sz="2400" dirty="0"/>
              <a:t>ut, this is </a:t>
            </a:r>
            <a:r>
              <a:rPr lang="en-US" altLang="ko-KR" sz="2400" dirty="0"/>
              <a:t>the first work to introduce this attack</a:t>
            </a:r>
            <a:r>
              <a:rPr lang="en" altLang="ko-K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8520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EA132-A469-6F00-FA7A-A2BDFDFDD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918BF7-6D6D-713F-C808-5B65BC14B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4000" dirty="0">
                <a:latin typeface="Fira Code" panose="020B0809050000020004" pitchFamily="49" charset="0"/>
                <a:cs typeface="Fira Code" panose="020B0809050000020004" pitchFamily="49" charset="0"/>
              </a:rPr>
              <a:t>Thank you.</a:t>
            </a:r>
            <a:endParaRPr lang="ko-KR" altLang="en-US" sz="4000" dirty="0">
              <a:latin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E442B1-A719-2F46-8DE9-AAFEC7AD4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5515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1041</TotalTime>
  <Words>556</Words>
  <Application>Microsoft Macintosh PowerPoint</Application>
  <PresentationFormat>와이드스크린</PresentationFormat>
  <Paragraphs>89</Paragraphs>
  <Slides>15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맑은 고딕</vt:lpstr>
      <vt:lpstr>Arial</vt:lpstr>
      <vt:lpstr>Fira Code</vt:lpstr>
      <vt:lpstr>Fira Code Light</vt:lpstr>
      <vt:lpstr>Office 테마</vt:lpstr>
      <vt:lpstr>Trust Me, I Know This Function:  Hijacking LLM Static Analysis using Bias</vt:lpstr>
      <vt:lpstr>Motivation</vt:lpstr>
      <vt:lpstr>Key Observation</vt:lpstr>
      <vt:lpstr>Abstraction Bias</vt:lpstr>
      <vt:lpstr>Familiar Pattern Attack</vt:lpstr>
      <vt:lpstr>Familiar Pattern Attack:  Deception Pattern</vt:lpstr>
      <vt:lpstr>Deception Pattern Example</vt:lpstr>
      <vt:lpstr>Attack Objective</vt:lpstr>
      <vt:lpstr>Familiar Pattern Attack Generation</vt:lpstr>
      <vt:lpstr>Transferability</vt:lpstr>
      <vt:lpstr>Real-world impact</vt:lpstr>
      <vt:lpstr>Security Implications</vt:lpstr>
      <vt:lpstr>Limitations &amp; Takeaway</vt:lpstr>
      <vt:lpstr>Personal thoughts</vt:lpstr>
      <vt:lpstr>Thank you.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백가현</dc:creator>
  <cp:lastModifiedBy>백가현</cp:lastModifiedBy>
  <cp:revision>48</cp:revision>
  <dcterms:created xsi:type="dcterms:W3CDTF">2026-03-10T04:26:56Z</dcterms:created>
  <dcterms:modified xsi:type="dcterms:W3CDTF">2026-03-16T05:44:30Z</dcterms:modified>
</cp:coreProperties>
</file>