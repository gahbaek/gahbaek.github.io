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19" r:id="rId3"/>
    <p:sldId id="342" r:id="rId4"/>
    <p:sldId id="343" r:id="rId5"/>
    <p:sldId id="346" r:id="rId6"/>
    <p:sldId id="348" r:id="rId7"/>
    <p:sldId id="345" r:id="rId8"/>
    <p:sldId id="347" r:id="rId9"/>
    <p:sldId id="362" r:id="rId10"/>
    <p:sldId id="349" r:id="rId11"/>
    <p:sldId id="350" r:id="rId12"/>
    <p:sldId id="351" r:id="rId13"/>
    <p:sldId id="363" r:id="rId14"/>
    <p:sldId id="354" r:id="rId15"/>
    <p:sldId id="356" r:id="rId16"/>
    <p:sldId id="364" r:id="rId17"/>
    <p:sldId id="357" r:id="rId18"/>
    <p:sldId id="358" r:id="rId19"/>
    <p:sldId id="359" r:id="rId20"/>
    <p:sldId id="360" r:id="rId21"/>
    <p:sldId id="294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8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 autoAdjust="0"/>
    <p:restoredTop sz="60336"/>
  </p:normalViewPr>
  <p:slideViewPr>
    <p:cSldViewPr snapToGrid="0">
      <p:cViewPr varScale="1">
        <p:scale>
          <a:sx n="82" d="100"/>
          <a:sy n="82" d="100"/>
        </p:scale>
        <p:origin x="2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7511B-3C5A-43C6-8721-BBFC6ADB6065}" type="datetimeFigureOut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1D8C9-54C6-4F76-8049-0EE0F7CC6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11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0F9F-7A70-B120-2C19-F11DDA02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C83E0F-1E4F-4260-C81F-BB21FBFD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FD19D9-1976-3365-4307-8112E68CD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hot byte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중요한지부터 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퍼징에서는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입력 전체를 무작위로 바꾸는 것보다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조건이나 프로그램 동작에 영향을 주는 바이트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건드리는 게 훨씬 중요합니다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이유는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 byte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건드려야 새로운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뒤집고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더 많은 코드 커버리지나 버그 발견으로 이어질 가능성이 높기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hot byte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찾는 대표적 방법인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taint analysis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정확하긴 해도 오버헤드가 크고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대형 실제 프로그램에는 잘 확장되지 않는다는 단점이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나온 대안이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FTI, Fuzzing-Driven Taint Inference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이것도 결국 입력을 바꾸고 다시 실행하면서 차이를 봐야 해서 입력 길이에 비례하는 추가 실행 비용이 발생합니다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논문은 이 지점에서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실행 없이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FTI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할 수 있을까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질문을 던집니다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분기 조건 값이나 프로그램 행동이 달라지는 지 보고 그 바이트가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 byte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아닌지 추론합니다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논문에서 정리한 효과적인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FTI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위한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조건은 다음과 같습니다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입력과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입력의 차이가 작아야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차이가 너무 크면 아예 실행 경로가 크게 달라져서 비교가 무의미해질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입력의 거의 모든 바이트 위치를 충분히 건드려야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그래야 중요한 바이트를 놓치지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5EFCA-FA23-BF10-1DB5-1ED513155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423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FB06-C82C-1515-05BE-C8650EA3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BF059-6816-C758-7CA6-CE375B6E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94EDE-AA8F-AF75-2C4D-F1EF51595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저자들은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 mode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실제로 작은 변형도 만들 수 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위치도 입력 전반에 걸쳐 고르게 선택하는 성질이 있어서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별도의 추가 실행 없이도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inference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샘플로 쓸 수 있다고 주장합니다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3D3508-7336-DE0A-E258-5911D23B5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64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9395-2536-08C2-F13C-09B696AE5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5DF687-FBF5-D177-5D6F-A4D9981EE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19D6F6-EBC8-9719-E680-7178260AA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Undertaint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원래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tainted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되어야 할 입력 바이트나 데이터 흐름을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분석이 놓쳐서 추적하지 못하는 현상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바이트만 바꾸는 방식은 어떤 경우에는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undertaint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낳을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 너무 많은 바이트를 한꺼번에 건드리면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overtaint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문제도 생길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Overtaint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실제로는 관련 없는 값까지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도구가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tainted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과하게 표시하는 현상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입력을 잘라 붙여 새 입력을 만드는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Splicing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stage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operator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나뉘는 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stage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먼저 두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섞고 그 다음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fuzzing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진행하는 것이고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splice operator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여러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 하나로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두개를 섞는 연산을 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Stack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하나의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mutant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 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몇개의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연속으로 쌓을지 나타내는 수 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Operator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 입력 하나를 받아 작은 랜덤 변형 하나를 적용하는 기본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단위를 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F84665-1D2C-5E1D-658E-7BCDB696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34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5B29-80DF-5087-16A5-D2B5A6C7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D1EBEC-73F1-0C38-11EF-38D4C952B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C781AF-C477-9654-8C8F-C9CD350FF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mode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조건을 만족하는 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논문의 저자들은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mode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이미 엄청 많은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mutant testcase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생성하고 실행하고 있다는 점과 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과정에서 생성되는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mutant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 중 상당수가 원본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매우 적은 바이트 차이만 갖고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반복이 충분하면 거의 모든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 position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건드리게 된다고 설명합니다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다음 이미지를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한 번에 한 바이트씩 바꾸면서 전체 위치를 커버하는 방식이고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 한 번에 여러 바이트를 바꿀 수도 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반복하다 보면 비슷하게 모든 위치를 덮게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생성하는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mutant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그대로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 sample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사용할 수 있다는 점이 핵심입니다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C6DAA3-FA37-54C4-C16F-4412CC8A1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882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9CA5-F4C7-4A85-26F3-A65680E5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A69C4B-BAE8-F48D-E99F-A5C7D6694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E70637-0084-74ED-7ED7-B4398BABE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만든 모든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그대로 쓰면 노이즈가 많습니다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저자들은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adaptive threshold k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도입합니다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Hamming distance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너무 큰 경우는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inference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제외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겁니다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seed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길이와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수를 반영해 적응적으로 설정됩니다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하면 세 가지 장점이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너무 많이 바뀌는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줄여서 원본과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행동 비교가 더 안정적이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 생기는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overtaint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줄일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일부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operator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 생기는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 바이트가 더 자주 바뀌는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비정상 분포를 줄이고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영향받는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바이트 분포를 더 균등하게 만들 수 있다고 말하고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threshold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정확도와 분포를 동시에 보정하는 장치라고 해석할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6E0B9D-08D0-4E8C-F161-19988C112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2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74ED-88B0-0DF1-FCD9-16B185950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A64B40-B4BA-6A0F-99AC-46B10CBA5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3B4E6-902B-2850-215F-91D749CA4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두 번째 핵심 기법인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cumulative taint inference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결과만 보고 바이트를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tainted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판단하면 잡음이 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결국 입력 전역을 건드리기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없는 바이트도 반복적으로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결과에 섞일 수 있기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논문에서는 입력 길이와 같은 크기의 배열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taint count array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inference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나올 때마다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달라진 바이트 위치의 카운트를 누적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하면 진짜로 중요한 바이트는 반복적으로 높은 점수를 얻게 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우연히 섞인 바이트는 낮은 점수에 머물게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단발성 판단이 아니라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누적 빈도 기반으로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hot byte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근사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구조입니다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A68369-BE63-B3C5-66BC-D5A6C1641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078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1FF0-CB0F-EA4C-75D5-BF76BEFF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250FF2-BDCB-38D9-85FA-E9C5F4398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DB36C0-DE0B-140A-65D6-6A43F3ABC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알고리즘은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구성됩니다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sampling phase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기존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거의 그대로 돌리면서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zero-execution FTI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수행합니다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seed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결과와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결과를 비교하고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threshold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넘지 않는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중에서 프로그램 행동이 달라진 경우 그 차이 바이트들의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taint count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올립니다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다음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mutating phase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방금 얻은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taint count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기반으로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 위치를 더 똑똑하게 고릅니다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카운트가 높은 바이트일수록 다음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시작점으로 선택될 확률이 높아집니다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hot byte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추론하고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 그 정보를 다시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반영하는 구조입니다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71AFC-FFBA-B0DF-7DFC-52D072C4B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75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36AD-CCB4-A1CD-D7AC-D496113C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2CD537-CFFC-5084-F97B-3B0DAEA02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A587B2-6BC4-40AC-4D85-E30205348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전에 몇 가지를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넘어가겠습니다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 node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 일반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전체에서도 이미 도달한 실행 영역과 아직 도달하지 못한 실행 영역의 경계에 놓인 노드를 의미하는데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ZTaint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 branch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Frontier-branch </a:t>
            </a:r>
            <a:r>
              <a:rPr kumimoji="1"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그 중에서도 조건 분기와 직접 연결된 것만 더 좁혀 사용합니다</a:t>
            </a:r>
            <a:r>
              <a:rPr kumimoji="1"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987884-C20B-F483-008D-DC0EBADD4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973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7EF0-5261-CBA0-29F8-47D63D42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EDB2D5-FBC8-1CE8-55AB-8BD7E37F8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07E64-7B0E-417B-6771-FDADA5655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대해 설명을 드리자면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AFL++ 4.10c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위에서 이루어졌습니다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저자들은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LLVM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instrumentation pass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확장해서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CFG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정보를 추출하고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중에는 앞서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것과 같이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 branch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중심으로 조건 변화 여부를 추적합니다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점은 모든 분기에 무겁게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hook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거는 게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latinLnBrk="0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frontier branch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대해서만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adaptively hook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활성화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해서 오버헤드를 줄였다는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 실제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단계에서는 초반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 절반 정도의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mutation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sampling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쓰고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이후에는 누적된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taint array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기반으로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선택을 바꿉니다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E4C20C-8111-07D4-8A42-D58BC7B25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98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7B88D-95B5-0FE7-BAA7-78EB1C450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0C40AF-3FB0-C4F6-3F62-1D8C58200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698885-2FDD-572B-A4E8-37C6DC799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평가는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FuzzBench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타깃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UniBench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17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타깃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진행됐습니다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 question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은 총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가지로 여러 기준에 대해 진행되었습니다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464D4-75A5-BFC0-7787-121898E52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413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273C-3010-A9EA-410A-0A1A4A2D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8F65AE-20E4-C5D7-D043-B33FD77CD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83F0F8-42B8-1BC8-8A8D-634BE9749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 mode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 위치와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영향받는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바이트 분포를 분석합니다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결과적으로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mutation starting position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대체로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uniform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하게 나타났지만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왼쪽의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진행된 결과를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보면 실제로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영향받는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바이트 분포는 고르지 않고 특정 구간에 치우치는 경향이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오른쪽과 같이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적용한 뒤에는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influenced byte distribution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훨씬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균등해졌습니다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DD8A50-0F20-FC59-0A44-C94516F62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590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77F3-7D08-9F19-90BA-EB43170F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2A72F8-7DBE-E2C8-368D-FDBE22BAE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BDFB6-0012-9391-003B-F701C2250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 위치를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uniform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하게 고르는 게 정말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확인합니다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시작위치를 기존처럼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uniform distribution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선택한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vanilla AFL++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normal distribution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선택한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AFL++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비교했을 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anilla AFL++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uniform sampling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평균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4.69%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높은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coverage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 stack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perturbation distance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관계를 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 size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커질수록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L0, L1, L2 norm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edit distance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모두 증가했고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커질수록 원본과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mutant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차이도 커진다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점이 확인됐습니다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421E2-C587-1823-F5FE-C2CCB6123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783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3EE6-1E13-EB24-0071-6D6C8AA5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A4DCE8-A9B0-B8CB-0023-F5921E776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12C734-7252-5C69-6339-AF9B4D64A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RQ4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splicing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효과를 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결론은 간단합니다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stage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splicing operator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모두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normal stage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다른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operator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더 큰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perturbation distance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말은 곧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splicing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더 공격적인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exploration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수단이라는 뜻입니다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장점은 새로운 영역을 더 강하게 탐색할 수 있다는 점이고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단점은 원본과의 차이가 너무 커져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FTI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noise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늘 수 있다는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 논문에서는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splicing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포함하되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안정적인 기준점과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제어 장치가 중요하다고 말하고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957B1-80A1-7D96-12D5-B443FB90C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09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EC15-DBC2-A2A2-3201-F090B78E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C48014-401B-B274-F6AB-1C1ABBC64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E22F1-8F61-EB50-45D4-375D0325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성능 결과입니다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ZTaint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-Havoc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FuzzBench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2.97%,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UniBench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6.12%**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edge coverage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향상을 보였습니다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실행에서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ZTaint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월등하게 성능이 좋았던 건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일부 프로그램에서는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AFL++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약간 더 좋았고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논문은 그 이유로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nested condition, instrumentation overhead,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특수한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부재를 듭니다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그래도 전체 평균에서는 일관된 개선이 있었다는 점이 핵심입니다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85664-41EA-1A77-318E-6E799C781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759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66DA-4BF1-B118-43BF-0448D291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2B514A-A257-83EE-81E1-F27240284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1C2D9D-6DB6-6836-64AD-51E330B38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자체의 영향도 실험했습니다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값을 여러 개 두고 비교했을 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adaptive k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가장 많은 타깃에서 최고 성능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보였습니다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undertaint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 수 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overtaint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throughput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저하를 부를 수 있기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하나의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고정값보다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타깃 특성에 맞게 적응적으로 조정되는 방식이 더 낫다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결론입니다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34322-D8D8-5209-F059-C25AAA5DE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35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C077-83D8-8747-1D29-A40B836C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A04BF1-B0F3-368E-6531-EC927392C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23D600-E908-D47C-A96F-5E4C3030E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저자들은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overhead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측정했습니다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UniBench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3.84%,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FuzzBench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12.58%**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오버헤드를 보였다고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zero-execution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해서 비용이 완전히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것이 아닌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실행은 없지만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instrumentation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fuzzer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-side logic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 오버헤드는 존재합니다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저자들은 이 정도 비용이면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coverage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이득과 비교했을 때 실용적인 수준이라고 주장합니다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DEEA34-F7D0-1048-8F3C-55F591A69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10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7DA8-C48F-5B1E-BBD2-E401E70C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67D68A-B5B6-CAAD-1106-F8E5DF30D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B79F64-9A5F-1863-025B-B56AA21F4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CMPLOG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ZTaint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-Havoc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기법이 아니기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논문에서는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gradient-descent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solver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붙인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variant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CMPLOG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비교합니다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FuzzBench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3.06%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UniBench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13.54%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lcms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일부 타깃에서는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CMPLOG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더 좋았고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논문은 그 이유로 현재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단순 프로토타입 수준이라서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특수 케이스 대응이 부족하기 때문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설명합니다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29B23E-6AFE-C7DE-5F3F-462A25E98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66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1B97-C782-D0F3-9E22-B077DB66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CC7636-FB67-9F56-05B2-1E34A1E02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96B3E7-5C71-E6F7-7ECB-26CC8EF30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논문의 가장 큰 강점은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새로운 비싼 분석을 추가한 게 아니라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퍼저가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원래 하던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실행에서 정보를 끌어낸다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아이디어가 굉장히 경제적이고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AFL++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구현으로 이어졌다는 점도 좋지만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한계도 분명합니다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feedback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instrumentation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필요하므로 오버헤드는 남아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threshold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선택이 여전히 중요합니다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filtering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noise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줄이는 대신 샘플 수가 줄어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inference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효율이 떨어질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방법은 만능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해결책이라기보다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저비용으로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활용한다는 점에 의의가 있습니다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99A237-27C6-92F2-DC05-57B5D4C2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1480-A60E-9038-591C-531C206C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D2EB2A-79E7-D240-A0F9-A80854E8E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A71A04-D7F6-EAD1-A067-0E0AA7F5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논문은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havoc mode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계산 모델을 제시하고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위에서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zero-execution FTI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가능하게 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기법은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adaptive threshold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cumulative taint inference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sampling phase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mutating phase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결합한 형태로 구현됩니다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 결과도 꽤 의미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평균적으로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AFL++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더 높은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coverage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오버헤드도 완전히 없지는 않지만 실용 범위 안에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논문의 가장 큰 핵심은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실행 없이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havoc mutation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만으로도 유용한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taint inference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 수 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00C81-853B-1B71-1107-CED8B3CE5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699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AA69-EC61-F6BA-FFEC-8B29D452A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469E2-B57D-230C-01A5-D8848B38E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882C2-3C05-8915-F67F-0C8649F7B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60A54-6C7E-7192-DC23-CA4AE9D66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0672A-1CC2-4208-B090-F2EEC9A9690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44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1E57-65F1-CB62-AC76-6BFA59D4C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8AC937-6A48-D7E0-B3D0-9BE6BE811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810BDC-C3FB-644C-F37A-9ED39EE8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F8453-A35E-4E69-B705-D7FA843DEF08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3929E-F1D8-ABAB-F917-D05483BD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AE58D-989E-AB30-FC89-B10E6ED1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30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02947-A74E-5BB3-A5D5-A9523DD1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81ECC-4DE0-F9C5-121F-23C62476B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D56B5-804E-F77E-35E5-19CE8738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E2AF4-69C6-4A81-B18B-20D7B0B519E1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16A41-CEC6-8F2F-5129-67A6F4A1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93BB9-9914-56ED-E700-8424F897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5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D32E8-9C4B-0247-329F-281773CA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E783E-7CED-1F2B-9D39-E6010F513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B35CA-9C02-EFB7-87BE-9EB19CCF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E8FD1-7A50-4476-90CF-E7A9918BA343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E0238-264E-A7DE-BFE5-CC8BC0B6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F8E40A-76AC-3132-911C-5D23A982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97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72CC0-30C5-8F5A-E4E1-78C99F5C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ABE0EA-B839-B774-43E9-306F33277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D3047-017B-AA14-224E-407EDD5D3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A71DAC-766C-3549-5CDE-6C401949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8167B-601C-4480-8244-4003CE476E55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98FED8-1FF2-0BEA-D345-C88502AE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92A079-B33A-8BD9-759D-FB27F8E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16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BB324-27BA-E660-1C6C-4EC08E17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B93509-CA4C-7F4A-209C-BEEF9B91F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3C5052-22C6-657F-B92C-64DB5966D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9DCBFB-ED67-BD38-DB08-5A5FADFB8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6A31CE-5666-543B-F7BF-C90E78B08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E4129F-6B9F-68A9-5F38-680DD284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B075-50E3-4C80-9274-4419245A9B06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42053E-DF36-3E21-7EF4-3698CEB3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01EDE9-313C-1E8B-6836-DAC4AE5D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07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AB24E-7A31-7903-5DD5-13F48735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946A3A-2BF8-324D-AD96-4865F45C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B7BA-7177-46A7-9CAF-E50924C586DE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FB7B46-A175-0B5A-10F0-28AC91A62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679EF4-61CC-02FC-86F9-84DC8818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59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1035DC-20E0-E987-9E65-51B685D1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4CAB2-CE5E-46AD-983B-9155EB572279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90D958-15AB-1C95-B717-F473F54A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2D858F-85FE-A862-30DC-DB3696E1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6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D0F89-97F9-164D-6A24-2D0DCACF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CAE39-69D6-C3F3-7594-042F25D6B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515CE2-3903-3972-3D02-183F72026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B37EAB-E763-C2E1-26CB-120B5101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67F6-6D2D-4E7C-B620-947B5B47FEEE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B3A4AA-9316-5588-49A6-0A6E06C7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B143DB-9E03-F9C9-8017-9DD7A58F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331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3F253-E320-81FA-C84F-50873240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0D6A3B-1D9F-9CB1-F69E-07D75E224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FE8A8E-2F11-0EB6-1317-92F604C55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8B6D1-098E-5738-C5D9-D1C1313D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FB8D-522E-4687-BAB5-3B350309863E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025B26-9ADC-0EB7-B1F9-02600322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9DA729-7877-8F8F-BC2B-91835847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20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58AFD-B14E-E042-3EB6-513974E7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2C511-1CDB-DE3F-B0C3-51102530D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E9050-C4DD-245F-1BDF-215C4678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E42B-E7AF-49CF-967D-A8E1064919CC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CAAA1B-C3B1-7651-3E82-9BF75140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802987-9E9A-7207-E98B-75549B9B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58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EB6B57-D0CC-F3E2-C65A-B92A82C8C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DE7FF9-CDF1-F2F3-4C19-FEE7EADB0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12504-A27A-E356-5A80-631A1F89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8271-71A4-411A-9DD0-26278BE5DDC7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DE66B7-2AAD-C0BF-CD98-D9A228C5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E37AD-4EDF-0688-6CE0-E635AAD6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14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834666-F6BA-8FB2-010F-19C1C6F8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393D0D-3CD4-6837-D08F-8881E010C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82C7E-1923-5752-8A5B-636733F47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F7ACC-9EF9-44A8-942C-A43111A16A33}" type="datetime1">
              <a:rPr lang="ko-KR" altLang="en-US" smtClean="0"/>
              <a:t>2026. 4. 9.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30BE1D-9CBB-5937-2573-F9FBAC785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4871A-9C70-B7F9-E075-364E0A1AE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7C9B6-9940-4C05-9CC5-08095E4457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26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CFEB5-56AF-0DCE-B41D-E30B720CD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2285"/>
            <a:ext cx="9144000" cy="1410651"/>
          </a:xfrm>
        </p:spPr>
        <p:txBody>
          <a:bodyPr>
            <a:normAutofit/>
          </a:bodyPr>
          <a:lstStyle/>
          <a:p>
            <a:r>
              <a:rPr lang="en-US" altLang="ko-KR" sz="3600" b="1" dirty="0" err="1"/>
              <a:t>ZTaint</a:t>
            </a:r>
            <a:r>
              <a:rPr lang="en-US" altLang="ko-KR" sz="3600" b="1" dirty="0"/>
              <a:t>-Havoc</a:t>
            </a:r>
            <a:r>
              <a:rPr lang="en-US" altLang="ko-KR" sz="3600" dirty="0"/>
              <a:t>: From Havoc Mode to Zero-Execution Fuzzing-Driven Taint Inference</a:t>
            </a:r>
            <a:endParaRPr lang="ko-KR" altLang="en-US" sz="36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530F47-C9D9-0B5E-69FF-B6FD574DA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4431"/>
            <a:ext cx="9144000" cy="478764"/>
          </a:xfrm>
        </p:spPr>
        <p:txBody>
          <a:bodyPr/>
          <a:lstStyle/>
          <a:p>
            <a:r>
              <a:rPr lang="en" altLang="ko-KR" b="1" dirty="0"/>
              <a:t>ISSTA 2025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499F11-4489-687F-508C-C8C5F2B6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9C903-89DD-E08C-6433-9399E208A6C0}"/>
              </a:ext>
            </a:extLst>
          </p:cNvPr>
          <p:cNvSpPr txBox="1"/>
          <p:nvPr/>
        </p:nvSpPr>
        <p:spPr>
          <a:xfrm>
            <a:off x="2670038" y="2705776"/>
            <a:ext cx="6851924" cy="2585323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pPr algn="ctr"/>
            <a:r>
              <a:rPr lang="en-US" altLang="ko-KR" dirty="0"/>
              <a:t>YUCHONG XIE</a:t>
            </a:r>
          </a:p>
          <a:p>
            <a:pPr algn="ctr"/>
            <a:r>
              <a:rPr lang="en-US" altLang="ko-KR" sz="1400" dirty="0"/>
              <a:t>Hong Kong University of </a:t>
            </a:r>
          </a:p>
          <a:p>
            <a:pPr algn="ctr"/>
            <a:r>
              <a:rPr lang="en-US" altLang="ko-KR" sz="1400" dirty="0"/>
              <a:t>Science and Technology China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r>
              <a:rPr lang="en-US" altLang="ko-KR" dirty="0"/>
              <a:t>WENHUI ZHANG</a:t>
            </a:r>
          </a:p>
          <a:p>
            <a:pPr algn="ctr"/>
            <a:r>
              <a:rPr lang="en-US" altLang="ko-KR" sz="1400" dirty="0"/>
              <a:t>Hunan University, China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r>
              <a:rPr lang="en-US" altLang="ko-KR" dirty="0"/>
              <a:t>DONGDONG SHE</a:t>
            </a:r>
          </a:p>
          <a:p>
            <a:pPr algn="ctr"/>
            <a:r>
              <a:rPr lang="en-US" altLang="ko-KR" sz="1400" dirty="0"/>
              <a:t>Hong Kong University of Science and Technology, China</a:t>
            </a:r>
            <a:endParaRPr lang="ko-KR" altLang="en-US" sz="1400" dirty="0"/>
          </a:p>
          <a:p>
            <a:pPr algn="ctr"/>
            <a:endParaRPr lang="ko-KR" altLang="en-US" sz="1400" dirty="0"/>
          </a:p>
          <a:p>
            <a:pPr algn="ctr"/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42478-5718-3DFB-0DB2-D1FF711ECEE1}"/>
              </a:ext>
            </a:extLst>
          </p:cNvPr>
          <p:cNvSpPr txBox="1"/>
          <p:nvPr/>
        </p:nvSpPr>
        <p:spPr>
          <a:xfrm>
            <a:off x="5338421" y="4967934"/>
            <a:ext cx="1515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백가현</a:t>
            </a:r>
            <a:endParaRPr kumimoji="1" lang="en-US" altLang="ko-KR" b="1" dirty="0"/>
          </a:p>
          <a:p>
            <a:pPr algn="ctr"/>
            <a:r>
              <a:rPr kumimoji="1" lang="en-US" altLang="ko-KR" b="1" dirty="0"/>
              <a:t>2026711980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6210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8DD4-84B6-8123-CD5B-F3921BCD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4081121-B652-A89C-C6A8-F527D20F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834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 dirty="0"/>
              <a:t>Motivation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– Hot Bytes</a:t>
            </a:r>
            <a:endParaRPr lang="ko-KR" altLang="en-US" sz="3200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6A8B7B9-C4B0-9C86-E68F-B8964BF19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06635"/>
            <a:ext cx="5181600" cy="497032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Core challenge in Fuzzing: </a:t>
            </a:r>
            <a:r>
              <a:rPr lang="en-US" altLang="ko-KR" sz="2000" b="1" dirty="0"/>
              <a:t>Hot Bytes</a:t>
            </a:r>
          </a:p>
          <a:p>
            <a:pPr lvl="1"/>
            <a:r>
              <a:rPr lang="en-US" altLang="ko-KR" sz="1800" dirty="0"/>
              <a:t>Hot Byte - </a:t>
            </a:r>
            <a:r>
              <a:rPr lang="ko-KR" altLang="en-US" sz="1800" dirty="0"/>
              <a:t>분기 결정에 영향을 미치는 값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Previous work</a:t>
            </a:r>
          </a:p>
          <a:p>
            <a:pPr lvl="1"/>
            <a:r>
              <a:rPr lang="en-US" altLang="ko-KR" sz="1800" dirty="0"/>
              <a:t>Dynamic Taint Analysis (</a:t>
            </a:r>
            <a:r>
              <a:rPr lang="en-US" altLang="ko-KR" sz="1800" b="1" dirty="0"/>
              <a:t>DTA</a:t>
            </a:r>
            <a:r>
              <a:rPr lang="en-US" altLang="ko-KR" sz="1800" dirty="0"/>
              <a:t>)	</a:t>
            </a:r>
          </a:p>
          <a:p>
            <a:pPr lvl="2"/>
            <a:r>
              <a:rPr lang="ko-KR" altLang="en-US" sz="1200" dirty="0"/>
              <a:t>정확</a:t>
            </a:r>
          </a:p>
          <a:p>
            <a:pPr lvl="2"/>
            <a:r>
              <a:rPr lang="ko-KR" altLang="en-US" sz="1200" dirty="0"/>
              <a:t>오버헤드가 크고 대규모 프로그램에 부담</a:t>
            </a:r>
            <a:endParaRPr lang="en-US" altLang="ko-KR" sz="1200" dirty="0"/>
          </a:p>
          <a:p>
            <a:pPr lvl="1"/>
            <a:r>
              <a:rPr lang="en-US" altLang="ko-KR" sz="1800" dirty="0"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Fuzzing-Driven Taint Inference (</a:t>
            </a:r>
            <a:r>
              <a:rPr lang="en-US" altLang="ko-KR" sz="1800" b="1" dirty="0"/>
              <a:t>FTI</a:t>
            </a:r>
            <a:r>
              <a:rPr lang="en-US" altLang="ko-KR" sz="1800" dirty="0"/>
              <a:t>)</a:t>
            </a:r>
          </a:p>
          <a:p>
            <a:pPr lvl="2"/>
            <a:r>
              <a:rPr lang="en-US" altLang="ko-KR" sz="1200" dirty="0"/>
              <a:t>DTA </a:t>
            </a:r>
            <a:r>
              <a:rPr lang="ko-KR" altLang="en-US" sz="1200" dirty="0"/>
              <a:t>보다 가볍지만 보통 추가 실행이 많이 필요하다</a:t>
            </a:r>
            <a:r>
              <a:rPr lang="en-US" altLang="ko-KR" sz="1200" dirty="0"/>
              <a:t>.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4FDF9E-6B10-9C68-29BE-4B7A58C1F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6635"/>
            <a:ext cx="5181600" cy="4970328"/>
          </a:xfrm>
        </p:spPr>
        <p:txBody>
          <a:bodyPr/>
          <a:lstStyle/>
          <a:p>
            <a:r>
              <a:rPr lang="en-US" altLang="ko-KR" sz="2000" b="1" dirty="0"/>
              <a:t>FTI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pPr lvl="1"/>
            <a:r>
              <a:rPr lang="ko-KR" altLang="en-US" sz="1800" dirty="0"/>
              <a:t>원본 입력 </a:t>
            </a:r>
            <a:r>
              <a:rPr lang="en-US" altLang="ko-KR" sz="1800" dirty="0"/>
              <a:t>x, </a:t>
            </a:r>
            <a:r>
              <a:rPr lang="ko-KR" altLang="en-US" sz="1800" dirty="0"/>
              <a:t>변이 입력 </a:t>
            </a:r>
            <a:r>
              <a:rPr lang="en-US" altLang="ko-KR" sz="1800" dirty="0"/>
              <a:t>x’ </a:t>
            </a:r>
            <a:r>
              <a:rPr lang="ko-KR" altLang="en-US" sz="1800" dirty="0"/>
              <a:t>실행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Branch </a:t>
            </a:r>
            <a:r>
              <a:rPr lang="ko-KR" altLang="en-US" sz="1800" dirty="0"/>
              <a:t>의 </a:t>
            </a:r>
            <a:r>
              <a:rPr lang="en-US" altLang="ko-KR" sz="1800" dirty="0"/>
              <a:t>conditional variable value </a:t>
            </a:r>
            <a:r>
              <a:rPr lang="ko-KR" altLang="en-US" sz="1800" dirty="0"/>
              <a:t>또는 </a:t>
            </a:r>
            <a:r>
              <a:rPr lang="en-US" altLang="ko-KR" sz="1800" dirty="0"/>
              <a:t>branch behavior 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비교</a:t>
            </a:r>
            <a:endParaRPr lang="en-US" altLang="ko-KR" sz="1800" dirty="0"/>
          </a:p>
          <a:p>
            <a:pPr lvl="1"/>
            <a:r>
              <a:rPr lang="ko-KR" altLang="en-US" sz="1800" dirty="0"/>
              <a:t>문제</a:t>
            </a:r>
            <a:endParaRPr lang="en-US" altLang="ko-KR" sz="1800" dirty="0"/>
          </a:p>
          <a:p>
            <a:pPr lvl="2"/>
            <a:r>
              <a:rPr lang="ko-KR" altLang="en-US" sz="1400" dirty="0"/>
              <a:t>바이트 단위로 따로따로 실험 </a:t>
            </a:r>
            <a:r>
              <a:rPr lang="en-US" altLang="ko-KR" sz="1400" dirty="0"/>
              <a:t>-&gt;</a:t>
            </a:r>
            <a:r>
              <a:rPr lang="ko-KR" altLang="en-US" sz="1400" dirty="0"/>
              <a:t> 실행 비용이 커짐</a:t>
            </a:r>
            <a:endParaRPr lang="en-US" altLang="ko-KR" sz="1400" dirty="0"/>
          </a:p>
          <a:p>
            <a:r>
              <a:rPr lang="ko-KR" altLang="en-US" sz="2000" dirty="0"/>
              <a:t>효과적인 </a:t>
            </a:r>
            <a:r>
              <a:rPr lang="en-US" altLang="ko-KR" sz="2000" dirty="0"/>
              <a:t>FTI </a:t>
            </a:r>
            <a:r>
              <a:rPr lang="ko-KR" altLang="en-US" sz="2000" dirty="0"/>
              <a:t>의 </a:t>
            </a:r>
            <a:r>
              <a:rPr lang="en-US" altLang="ko-KR" sz="2000" dirty="0"/>
              <a:t>2</a:t>
            </a:r>
            <a:r>
              <a:rPr lang="ko-KR" altLang="en-US" sz="2000" dirty="0"/>
              <a:t> 가지 요구사항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1800" dirty="0"/>
              <a:t>Minimal Difference between program and mutant input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1800" dirty="0"/>
              <a:t>Thorough program input byte examination</a:t>
            </a:r>
          </a:p>
          <a:p>
            <a:pPr lvl="1"/>
            <a:endParaRPr lang="en-US" altLang="ko-KR" sz="1400" b="1" dirty="0"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994EF9-93FA-D562-2E44-F516E21C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2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2E12A4F-6933-FB54-B6D0-595AED685AEF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53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D38E-00E3-FAD7-4F04-80DEC00C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EDCFEE8-2674-AC7B-8F4D-3013B0FA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 dirty="0"/>
              <a:t>Motivation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– Hot Bytes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FEBEAC0-1858-68B9-99D6-77400F96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Havoc Mode</a:t>
            </a:r>
            <a:endParaRPr lang="en-US" altLang="ko-KR" sz="1600" b="1" dirty="0"/>
          </a:p>
          <a:p>
            <a:pPr lvl="1"/>
            <a:r>
              <a:rPr lang="en-US" altLang="ko-KR" sz="2000" dirty="0"/>
              <a:t>seed </a:t>
            </a:r>
            <a:r>
              <a:rPr lang="ko-KR" altLang="en-US" sz="2000" dirty="0"/>
              <a:t>에 여러 </a:t>
            </a:r>
            <a:r>
              <a:rPr lang="en-US" altLang="ko-KR" sz="2000" dirty="0"/>
              <a:t>unit mutation </a:t>
            </a:r>
            <a:r>
              <a:rPr lang="ko-KR" altLang="en-US" sz="2000" dirty="0"/>
              <a:t>을 적용해 새로운 </a:t>
            </a:r>
            <a:r>
              <a:rPr lang="en-US" altLang="ko-KR" sz="2000" dirty="0"/>
              <a:t>testcase</a:t>
            </a:r>
            <a:r>
              <a:rPr lang="ko-KR" altLang="en-US" sz="2000" dirty="0"/>
              <a:t> 를 생성하는 </a:t>
            </a:r>
            <a:r>
              <a:rPr lang="en-US" altLang="ko-KR" sz="2000" dirty="0"/>
              <a:t>AFL </a:t>
            </a:r>
            <a:r>
              <a:rPr lang="ko-KR" altLang="en-US" sz="2000" dirty="0"/>
              <a:t>계열의 핵심 </a:t>
            </a:r>
            <a:r>
              <a:rPr lang="en-US" altLang="ko-KR" sz="2000" dirty="0"/>
              <a:t>Mutation </a:t>
            </a:r>
            <a:r>
              <a:rPr lang="ko-KR" altLang="en-US" sz="2000" dirty="0"/>
              <a:t>단계</a:t>
            </a:r>
            <a:endParaRPr lang="en-US" altLang="ko-KR" sz="2000" dirty="0"/>
          </a:p>
          <a:p>
            <a:pPr lvl="1"/>
            <a:r>
              <a:rPr lang="en-US" altLang="ko-KR" sz="2000" dirty="0"/>
              <a:t>Bit flip, byte flip, </a:t>
            </a:r>
            <a:r>
              <a:rPr lang="ko-KR" altLang="en-US" sz="2000" dirty="0"/>
              <a:t>증가</a:t>
            </a:r>
            <a:r>
              <a:rPr lang="en-US" altLang="ko-KR" sz="2000" dirty="0"/>
              <a:t>/</a:t>
            </a:r>
            <a:r>
              <a:rPr lang="ko-KR" altLang="en-US" sz="2000" dirty="0"/>
              <a:t>감소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overwrite, splicing </a:t>
            </a:r>
            <a:r>
              <a:rPr lang="ko-KR" altLang="en-US" sz="2000" dirty="0"/>
              <a:t>등을 사용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Havoc Mode </a:t>
            </a:r>
            <a:r>
              <a:rPr lang="ko-KR" altLang="en-US" sz="2400" dirty="0"/>
              <a:t>는</a:t>
            </a:r>
            <a:endParaRPr lang="en-US" altLang="ko-KR" sz="2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sz="2000" dirty="0"/>
              <a:t>Single-byte </a:t>
            </a:r>
            <a:r>
              <a:rPr lang="ko-KR" altLang="en-US" sz="2000" dirty="0"/>
              <a:t>수준의 작은 변경도 만들 수 있고</a:t>
            </a:r>
            <a:endParaRPr lang="en-US" altLang="ko-KR" sz="20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2000" dirty="0"/>
              <a:t>입력 전역에서 </a:t>
            </a:r>
            <a:r>
              <a:rPr lang="en-US" altLang="ko-KR" sz="2000" dirty="0"/>
              <a:t>mutation </a:t>
            </a:r>
            <a:r>
              <a:rPr lang="ko-KR" altLang="en-US" sz="2000" dirty="0"/>
              <a:t>위치를 고르게 선택하는 성질이 있어</a:t>
            </a:r>
            <a:endParaRPr lang="en-US" altLang="ko-KR" sz="2000" dirty="0"/>
          </a:p>
          <a:p>
            <a:pPr lvl="1"/>
            <a:r>
              <a:rPr lang="en-US" altLang="ko-KR" sz="2000" b="1" dirty="0"/>
              <a:t>FTI </a:t>
            </a:r>
            <a:r>
              <a:rPr lang="ko-KR" altLang="en-US" sz="2000" b="1" dirty="0"/>
              <a:t>의 두 요구 사항에 부합</a:t>
            </a:r>
            <a:endParaRPr lang="en-US" altLang="ko-KR" sz="2000" b="1" dirty="0"/>
          </a:p>
          <a:p>
            <a:pPr lvl="1"/>
            <a:endParaRPr lang="en-US" altLang="ko-KR" sz="20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678D2D-631C-56B6-1F95-6EE87F19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80829E1-3B91-221A-572C-449FCBA17A46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24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B0BF-3BE0-E230-D1E7-BEDE77D7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0020C71C-314D-D025-5D39-F82A78F6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 dirty="0"/>
              <a:t>Background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E25929B-C6E4-56E5-807F-40C27651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5257800" cy="4351338"/>
          </a:xfrm>
        </p:spPr>
        <p:txBody>
          <a:bodyPr>
            <a:normAutofit/>
          </a:bodyPr>
          <a:lstStyle/>
          <a:p>
            <a:r>
              <a:rPr lang="en-US" altLang="ko-KR" sz="2400" b="1" dirty="0" err="1"/>
              <a:t>Undertaint</a:t>
            </a:r>
            <a:endParaRPr lang="en-US" altLang="ko-KR" sz="2400" b="1" dirty="0"/>
          </a:p>
          <a:p>
            <a:pPr marL="457200" lvl="1" indent="0">
              <a:buNone/>
            </a:pPr>
            <a:r>
              <a:rPr lang="en-US" altLang="ko-KR" sz="1600" dirty="0"/>
              <a:t>Dynamic Taint Analysis (DTA) </a:t>
            </a:r>
            <a:r>
              <a:rPr lang="ko-KR" altLang="en-US" sz="1600" dirty="0"/>
              <a:t>에서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ko-KR" altLang="en-US" sz="1600" dirty="0"/>
              <a:t>정보 흐름을 제대로 추적하지 못하는 오류</a:t>
            </a:r>
            <a:r>
              <a:rPr lang="en-US" altLang="ko-KR" sz="1600" dirty="0"/>
              <a:t>.</a:t>
            </a:r>
          </a:p>
          <a:p>
            <a:r>
              <a:rPr lang="en-US" altLang="ko-KR" sz="2400" b="1" dirty="0" err="1"/>
              <a:t>Overtaint</a:t>
            </a:r>
            <a:endParaRPr lang="en-US" altLang="ko-KR" sz="2400" b="1" dirty="0"/>
          </a:p>
          <a:p>
            <a:pPr marL="457200" lvl="1" indent="0">
              <a:buNone/>
            </a:pPr>
            <a:r>
              <a:rPr lang="ko-KR" altLang="en-US" sz="1600" dirty="0"/>
              <a:t>분석 도구가 오염된 것으로 잘못 판단하는 경우</a:t>
            </a:r>
            <a:endParaRPr lang="en-US" altLang="ko-KR" sz="1600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D93333-F477-11A3-20AF-84F345E8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5A74D67-C70A-61F0-BB3F-9D04CDF1C3AE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1">
            <a:extLst>
              <a:ext uri="{FF2B5EF4-FFF2-40B4-BE49-F238E27FC236}">
                <a16:creationId xmlns:a16="http://schemas.microsoft.com/office/drawing/2014/main" id="{29579B42-3784-3B5F-9E26-CDC6D4D512EB}"/>
              </a:ext>
            </a:extLst>
          </p:cNvPr>
          <p:cNvSpPr txBox="1">
            <a:spLocks/>
          </p:cNvSpPr>
          <p:nvPr/>
        </p:nvSpPr>
        <p:spPr>
          <a:xfrm>
            <a:off x="6096000" y="125333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Splicing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ko-KR" sz="1600" dirty="0"/>
              <a:t>A common strategy in numerous </a:t>
            </a:r>
            <a:r>
              <a:rPr lang="en-US" altLang="ko-KR" sz="1600" dirty="0" err="1"/>
              <a:t>fuzzers</a:t>
            </a:r>
            <a:r>
              <a:rPr lang="en-US" altLang="ko-KR" sz="1600" dirty="0"/>
              <a:t>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ko-KR" sz="1600" dirty="0"/>
              <a:t>-&gt; </a:t>
            </a:r>
            <a:r>
              <a:rPr lang="en-US" altLang="ko-KR" sz="1600" b="1" dirty="0"/>
              <a:t>splicing stage, splicing operator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600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600" b="1" dirty="0"/>
          </a:p>
          <a:p>
            <a:endParaRPr lang="en-US" altLang="ko-KR" sz="2400" b="1" dirty="0"/>
          </a:p>
          <a:p>
            <a:r>
              <a:rPr lang="en-US" altLang="ko-KR" sz="2400" b="1" dirty="0"/>
              <a:t>Havoc Stack</a:t>
            </a:r>
          </a:p>
          <a:p>
            <a:pPr marL="457200" lvl="1" indent="0">
              <a:buNone/>
            </a:pPr>
            <a:r>
              <a:rPr lang="ko-KR" altLang="ko-KR" sz="1200" dirty="0"/>
              <a:t>하나의 </a:t>
            </a:r>
            <a:r>
              <a:rPr lang="en-US" altLang="ko-KR" sz="1200" dirty="0"/>
              <a:t>mutant </a:t>
            </a:r>
            <a:r>
              <a:rPr lang="ko-KR" altLang="ko-KR" sz="1200" dirty="0" err="1"/>
              <a:t>를</a:t>
            </a:r>
            <a:r>
              <a:rPr lang="ko-KR" altLang="ko-KR" sz="1200" dirty="0"/>
              <a:t> 만들 때</a:t>
            </a:r>
            <a:r>
              <a:rPr lang="en-US" altLang="ko-KR" sz="1200" dirty="0"/>
              <a:t>, </a:t>
            </a:r>
            <a:r>
              <a:rPr lang="ko-KR" altLang="ko-KR" sz="1200" dirty="0" err="1"/>
              <a:t>몇개의</a:t>
            </a:r>
            <a:r>
              <a:rPr lang="ko-KR" altLang="ko-KR" sz="1200" dirty="0"/>
              <a:t> </a:t>
            </a:r>
            <a:r>
              <a:rPr lang="en-US" altLang="ko-KR" sz="1200" dirty="0"/>
              <a:t>unit mutation </a:t>
            </a:r>
            <a:r>
              <a:rPr lang="ko-KR" altLang="ko-KR" sz="1200" dirty="0"/>
              <a:t>을 연속으로 쌓을지 나타내는 수</a:t>
            </a:r>
            <a:endParaRPr lang="en-US" altLang="ko-KR" sz="1200" b="1" dirty="0"/>
          </a:p>
          <a:p>
            <a:pPr marL="457200" lvl="1" indent="0">
              <a:buNone/>
            </a:pPr>
            <a:r>
              <a:rPr lang="en-US" altLang="ko-KR" sz="1050" dirty="0"/>
              <a:t>The total number of unit mutations to be applied incrementally to an initial seed when generating a new testcase.</a:t>
            </a:r>
          </a:p>
          <a:p>
            <a:r>
              <a:rPr lang="en-US" altLang="ko-KR" sz="2400" b="1" dirty="0"/>
              <a:t>Havoc Operator</a:t>
            </a:r>
          </a:p>
          <a:p>
            <a:pPr marL="457200" lvl="1" indent="0">
              <a:buNone/>
            </a:pPr>
            <a:r>
              <a:rPr lang="ko-KR" altLang="ko-KR" sz="1200" dirty="0"/>
              <a:t>입력 하나를 받아 작은 랜덤 변형 하나를 적용하는 기본 </a:t>
            </a:r>
            <a:r>
              <a:rPr lang="en-US" altLang="ko-KR" sz="1200" dirty="0"/>
              <a:t>mutation </a:t>
            </a:r>
            <a:r>
              <a:rPr lang="ko-KR" altLang="ko-KR" sz="1200" dirty="0"/>
              <a:t>단위</a:t>
            </a:r>
            <a:endParaRPr lang="en-US" altLang="ko-KR" sz="2800" b="1" dirty="0"/>
          </a:p>
          <a:p>
            <a:pPr marL="457200" lvl="1" indent="0">
              <a:buNone/>
            </a:pPr>
            <a:r>
              <a:rPr lang="en-US" altLang="ko-KR" sz="1100" dirty="0"/>
              <a:t>A basic input mutation module in havoc mode.</a:t>
            </a:r>
          </a:p>
          <a:p>
            <a:pPr lvl="1"/>
            <a:endParaRPr lang="en-US" altLang="ko-KR" sz="2000" b="1" dirty="0"/>
          </a:p>
          <a:p>
            <a:pPr lvl="1"/>
            <a:endParaRPr lang="ko-KR" alt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4F0AFE-EEE4-3B65-1E57-67924C4B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58413"/>
            <a:ext cx="5257800" cy="9151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ED1B1A-8B82-2888-14DA-D85146778040}"/>
              </a:ext>
            </a:extLst>
          </p:cNvPr>
          <p:cNvSpPr txBox="1"/>
          <p:nvPr/>
        </p:nvSpPr>
        <p:spPr>
          <a:xfrm>
            <a:off x="7165695" y="6488668"/>
            <a:ext cx="311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a</a:t>
            </a:r>
            <a:r>
              <a:rPr lang="ko-KR" altLang="en-US" b="1" dirty="0"/>
              <a:t> </a:t>
            </a:r>
            <a:r>
              <a:rPr lang="en-US" altLang="ko-KR" b="1" dirty="0"/>
              <a:t>classic</a:t>
            </a:r>
            <a:r>
              <a:rPr lang="ko-KR" altLang="en-US" b="1" dirty="0"/>
              <a:t> </a:t>
            </a:r>
            <a:r>
              <a:rPr lang="en-US" altLang="ko-KR" b="1" dirty="0"/>
              <a:t>Havoc</a:t>
            </a:r>
            <a:r>
              <a:rPr lang="ko-KR" altLang="en-US" b="1" dirty="0"/>
              <a:t> </a:t>
            </a:r>
            <a:r>
              <a:rPr lang="en-US" altLang="ko-KR" b="1" dirty="0"/>
              <a:t>operator ]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784440-121B-99C0-80BE-B61C2F4DA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491" y="2241336"/>
            <a:ext cx="4662638" cy="8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3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D204-AD84-57D1-34F4-2191394B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C10A0B4B-23DE-13F9-956B-64768297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Autofit/>
          </a:bodyPr>
          <a:lstStyle/>
          <a:p>
            <a:pPr algn="ctr"/>
            <a:r>
              <a:rPr lang="en-US" altLang="ko-KR" sz="2400" b="1" dirty="0"/>
              <a:t>Connecting Havoc Mode with Fuzzing-Driven Taint Inference</a:t>
            </a:r>
            <a:endParaRPr lang="ko-KR" altLang="en-US" sz="24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0F3E8DC-3C2C-5DEF-6EC0-5060D97DD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Havoc mode </a:t>
            </a:r>
            <a:r>
              <a:rPr lang="ko-KR" altLang="en-US" sz="2000" dirty="0"/>
              <a:t>가 대량의 </a:t>
            </a:r>
            <a:r>
              <a:rPr lang="en-US" altLang="ko-KR" sz="2000" dirty="0"/>
              <a:t>mutant </a:t>
            </a:r>
            <a:r>
              <a:rPr lang="ko-KR" altLang="en-US" sz="2000" dirty="0"/>
              <a:t>를 만들다 보면 거의 모든 바이트 위치를 커버하게 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특히 </a:t>
            </a:r>
            <a:r>
              <a:rPr lang="en-US" altLang="ko-KR" sz="2000" dirty="0"/>
              <a:t>stack </a:t>
            </a:r>
            <a:r>
              <a:rPr lang="ko-KR" altLang="en-US" sz="2000" dirty="0"/>
              <a:t>이 작을 때는 </a:t>
            </a:r>
            <a:r>
              <a:rPr lang="en-US" altLang="ko-KR" sz="2000" dirty="0"/>
              <a:t>single-byte difference </a:t>
            </a:r>
            <a:r>
              <a:rPr lang="ko-KR" altLang="en-US" sz="2000" dirty="0"/>
              <a:t>를 가진 </a:t>
            </a:r>
            <a:r>
              <a:rPr lang="en-US" altLang="ko-KR" sz="2000" dirty="0"/>
              <a:t>mutant</a:t>
            </a:r>
            <a:r>
              <a:rPr lang="ko-KR" altLang="en-US" sz="2000" dirty="0"/>
              <a:t> 도 충분히 생성된다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따라서 </a:t>
            </a:r>
            <a:r>
              <a:rPr lang="en-US" altLang="ko-KR" sz="2000" dirty="0"/>
              <a:t>havoc Mutation </a:t>
            </a:r>
            <a:r>
              <a:rPr lang="ko-KR" altLang="en-US" sz="2000" dirty="0"/>
              <a:t>하나하나를 </a:t>
            </a:r>
            <a:r>
              <a:rPr lang="en-US" altLang="ko-KR" sz="2000" dirty="0"/>
              <a:t>FTI </a:t>
            </a:r>
            <a:r>
              <a:rPr lang="ko-KR" altLang="en-US" sz="2000" dirty="0"/>
              <a:t>의 </a:t>
            </a:r>
            <a:r>
              <a:rPr lang="en-US" altLang="ko-KR" sz="2000" dirty="0"/>
              <a:t>inference instance </a:t>
            </a:r>
            <a:r>
              <a:rPr lang="ko-KR" altLang="en-US" sz="2000" dirty="0"/>
              <a:t>로 해석할 수 있다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800" dirty="0"/>
              <a:t>효과적인 </a:t>
            </a:r>
            <a:r>
              <a:rPr lang="en-US" altLang="ko-KR" sz="1800" dirty="0"/>
              <a:t>FTI</a:t>
            </a:r>
            <a:r>
              <a:rPr lang="ko-KR" altLang="en-US" sz="1800" dirty="0"/>
              <a:t>를 위한 </a:t>
            </a:r>
            <a:r>
              <a:rPr lang="en-US" altLang="ko-KR" sz="1800" dirty="0"/>
              <a:t>2</a:t>
            </a:r>
            <a:r>
              <a:rPr lang="ko-KR" altLang="en-US" sz="1800" dirty="0"/>
              <a:t>가지 조건을 만족하며 </a:t>
            </a:r>
            <a:r>
              <a:rPr lang="en-US" altLang="ko-KR" sz="1800" b="1" dirty="0"/>
              <a:t>Zero-execution</a:t>
            </a:r>
            <a:r>
              <a:rPr lang="en-US" altLang="ko-KR" sz="1800" dirty="0"/>
              <a:t> FTI </a:t>
            </a:r>
            <a:r>
              <a:rPr lang="ko-KR" altLang="en-US" sz="1800" dirty="0"/>
              <a:t>가 가능하다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7CF8D7-DE32-FC3A-DCA1-4E69F84F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5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A791A8B-63F5-C22C-BF8F-AC100BD029CA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4C78DC8-4C46-5EE3-5D51-B80CD420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270" y="3310247"/>
            <a:ext cx="7351460" cy="280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6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1E37-F5F3-1482-DD73-361CD92F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제목 9">
                <a:extLst>
                  <a:ext uri="{FF2B5EF4-FFF2-40B4-BE49-F238E27FC236}">
                    <a16:creationId xmlns:a16="http://schemas.microsoft.com/office/drawing/2014/main" id="{954A5350-EF44-D23E-5AB1-09C13D2256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62526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ko-KR" sz="3200" b="1" dirty="0"/>
                  <a:t>Adaptive Threshold </a:t>
                </a:r>
                <a14:m>
                  <m:oMath xmlns:m="http://schemas.openxmlformats.org/officeDocument/2006/math">
                    <m:r>
                      <a:rPr lang="en-US" altLang="ko-KR" sz="32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ko-KR" altLang="en-US" sz="3200" b="1" dirty="0"/>
              </a:p>
            </p:txBody>
          </p:sp>
        </mc:Choice>
        <mc:Fallback xmlns="">
          <p:sp>
            <p:nvSpPr>
              <p:cNvPr id="10" name="제목 9">
                <a:extLst>
                  <a:ext uri="{FF2B5EF4-FFF2-40B4-BE49-F238E27FC236}">
                    <a16:creationId xmlns:a16="http://schemas.microsoft.com/office/drawing/2014/main" id="{954A5350-EF44-D23E-5AB1-09C13D2256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62526"/>
              </a:xfrm>
              <a:blipFill>
                <a:blip r:embed="rId3"/>
                <a:stretch>
                  <a:fillRect t="-7407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0FE9500-00FE-29EC-441A-382ED62A0B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000" b="1" dirty="0"/>
                  <a:t>Mutation Threshold</a:t>
                </a:r>
              </a:p>
              <a:p>
                <a:pPr lvl="1"/>
                <a:r>
                  <a:rPr lang="en-US" altLang="ko-KR" sz="1800" dirty="0"/>
                  <a:t>Seed </a:t>
                </a:r>
                <a:r>
                  <a:rPr lang="ko-KR" altLang="en-US" sz="1800" dirty="0"/>
                  <a:t>와 </a:t>
                </a:r>
                <a:r>
                  <a:rPr lang="en-US" altLang="ko-KR" sz="1800" dirty="0"/>
                  <a:t>mutant </a:t>
                </a:r>
                <a:r>
                  <a:rPr lang="ko-KR" altLang="en-US" sz="1800" dirty="0"/>
                  <a:t>사이의 </a:t>
                </a:r>
                <a:r>
                  <a:rPr lang="en-US" altLang="ko-KR" sz="1800" dirty="0"/>
                  <a:t>hamming distance </a:t>
                </a:r>
                <a:r>
                  <a:rPr lang="ko-KR" altLang="en-US" sz="1800" dirty="0"/>
                  <a:t>가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/>
                  <a:t>보다 크다면 </a:t>
                </a:r>
                <a:r>
                  <a:rPr lang="en-US" altLang="ko-KR" sz="1800" dirty="0"/>
                  <a:t>inference </a:t>
                </a:r>
                <a:r>
                  <a:rPr lang="ko-KR" altLang="en-US" sz="1800" dirty="0"/>
                  <a:t>에서 제외시킨다</a:t>
                </a:r>
                <a:r>
                  <a:rPr lang="en-US" altLang="ko-KR" sz="18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seed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길이와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mutation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수를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800" b="0" i="1" dirty="0" smtClean="0">
                        <a:latin typeface="Cambria Math" panose="02040503050406030204" pitchFamily="18" charset="0"/>
                      </a:rPr>
                      <m:t>반영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sz="1800" dirty="0"/>
              </a:p>
              <a:p>
                <a:pPr lvl="1"/>
                <a:endParaRPr lang="en-US" altLang="ko-KR" sz="1800" dirty="0"/>
              </a:p>
              <a:p>
                <a:pPr lvl="1"/>
                <a:r>
                  <a:rPr lang="en-US" altLang="ko-KR" sz="1800" dirty="0"/>
                  <a:t>Adaptive threshold mechanism offers advantages</a:t>
                </a:r>
              </a:p>
              <a:p>
                <a:pPr lvl="2"/>
                <a:r>
                  <a:rPr lang="en-US" altLang="ko-KR" sz="1600" dirty="0"/>
                  <a:t>Length-Aware Sampling</a:t>
                </a:r>
              </a:p>
              <a:p>
                <a:pPr lvl="2"/>
                <a:r>
                  <a:rPr lang="en-US" altLang="ko-KR" sz="1600" dirty="0"/>
                  <a:t>Mutation-Aware Adjustment</a:t>
                </a:r>
              </a:p>
              <a:p>
                <a:pPr lvl="2"/>
                <a:r>
                  <a:rPr lang="en-US" altLang="ko-KR" sz="1600" dirty="0"/>
                  <a:t>Path Preservation</a:t>
                </a:r>
              </a:p>
              <a:p>
                <a:pPr lvl="2"/>
                <a:r>
                  <a:rPr lang="en-US" altLang="ko-KR" sz="1600" dirty="0"/>
                  <a:t>Distribution Normalization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0FE9500-00FE-29EC-441A-382ED62A0B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4"/>
                <a:stretch>
                  <a:fillRect l="-603" t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56B7A4-123A-A460-0F29-4AB6F1C7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7784493-76B1-0B7E-237A-E0C301CE117A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B648E42-585D-26C3-658A-4B0CDF04C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508" y="4713717"/>
            <a:ext cx="4156913" cy="7143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E5FBD8-2618-8D95-88A0-7187880F5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7726" y="4337370"/>
            <a:ext cx="2896004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9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1D40-EDD0-265E-CA38-E45EA01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95659E17-ECAC-DA88-9F2F-3A672937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" altLang="ko-KR" sz="3200" b="1" dirty="0"/>
              <a:t>Cumulative Taint Inference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9B0C26-0589-5902-909F-2589CB10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/>
              <a:t>매 </a:t>
            </a:r>
            <a:r>
              <a:rPr lang="en" altLang="ko-KR" sz="2000" dirty="0"/>
              <a:t>inference </a:t>
            </a:r>
            <a:r>
              <a:rPr lang="ko-KR" altLang="en-US" sz="2000" dirty="0"/>
              <a:t>결과를 바로 “정답 </a:t>
            </a:r>
            <a:r>
              <a:rPr lang="en" altLang="ko-KR" sz="2000" dirty="0"/>
              <a:t>taint”</a:t>
            </a:r>
            <a:r>
              <a:rPr lang="ko-KR" altLang="en-US" sz="2000" dirty="0"/>
              <a:t>로 쓰지 않음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대신 입력 길이만큼의 </a:t>
            </a:r>
            <a:r>
              <a:rPr lang="en" altLang="ko-KR" sz="2000" dirty="0"/>
              <a:t>taint count array</a:t>
            </a:r>
            <a:r>
              <a:rPr lang="ko-KR" altLang="en-US" sz="2000" dirty="0"/>
              <a:t>를 두고</a:t>
            </a:r>
            <a:r>
              <a:rPr lang="en-US" altLang="ko-KR" sz="2000" dirty="0"/>
              <a:t>, </a:t>
            </a:r>
            <a:r>
              <a:rPr lang="ko-KR" altLang="en-US" sz="2000" dirty="0"/>
              <a:t>유효한 </a:t>
            </a:r>
            <a:r>
              <a:rPr lang="en" altLang="ko-KR" sz="2000" dirty="0"/>
              <a:t>inference</a:t>
            </a:r>
            <a:r>
              <a:rPr lang="ko-KR" altLang="en-US" sz="2000" dirty="0"/>
              <a:t>가 나올 때마다 해당 바이트의 </a:t>
            </a:r>
            <a:r>
              <a:rPr lang="en" altLang="ko-KR" sz="2000" dirty="0"/>
              <a:t>count</a:t>
            </a:r>
            <a:r>
              <a:rPr lang="ko-KR" altLang="en-US" sz="2000" dirty="0"/>
              <a:t>를 증가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여러 번 누적하면 진짜 </a:t>
            </a:r>
            <a:r>
              <a:rPr lang="en" altLang="ko-KR" sz="2000" dirty="0"/>
              <a:t>hot byte</a:t>
            </a:r>
            <a:r>
              <a:rPr lang="ko-KR" altLang="en-US" sz="2000" dirty="0"/>
              <a:t>는 계속 높은 </a:t>
            </a:r>
            <a:r>
              <a:rPr lang="en" altLang="ko-KR" sz="2000" dirty="0"/>
              <a:t>count</a:t>
            </a:r>
            <a:r>
              <a:rPr lang="ko-KR" altLang="en-US" sz="2000" dirty="0"/>
              <a:t>를 갖고</a:t>
            </a:r>
            <a:r>
              <a:rPr lang="en-US" altLang="ko-KR" sz="2000" dirty="0"/>
              <a:t>, </a:t>
            </a:r>
            <a:r>
              <a:rPr lang="ko-KR" altLang="en-US" sz="2000" dirty="0"/>
              <a:t>우연한 </a:t>
            </a:r>
            <a:r>
              <a:rPr lang="en" altLang="ko-KR" sz="2000" dirty="0"/>
              <a:t>noise</a:t>
            </a:r>
            <a:r>
              <a:rPr lang="ko-KR" altLang="en-US" sz="2000" dirty="0"/>
              <a:t>는 상대적으로 </a:t>
            </a:r>
            <a:r>
              <a:rPr lang="ko-KR" altLang="en-US" sz="2000" dirty="0" err="1"/>
              <a:t>약해짐</a:t>
            </a:r>
            <a:r>
              <a:rPr lang="en-US" altLang="ko-KR" sz="2000" dirty="0"/>
              <a:t>. 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/>
              <a:t>The advantage of this approach lies in its ability to differentiate between true taints and noise.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ko-KR" sz="2000" b="1" dirty="0"/>
              <a:t>=&gt; </a:t>
            </a:r>
            <a:r>
              <a:rPr lang="en-US" altLang="ko-KR" sz="2000" b="1" dirty="0"/>
              <a:t>Improving accuracy and mitigating </a:t>
            </a:r>
            <a:r>
              <a:rPr lang="en-US" altLang="ko-KR" sz="2000" b="1" dirty="0" err="1"/>
              <a:t>overtaint</a:t>
            </a:r>
            <a:r>
              <a:rPr lang="en-US" altLang="ko-KR" sz="2000" b="1" dirty="0"/>
              <a:t> issues.</a:t>
            </a:r>
            <a:endParaRPr kumimoji="1" lang="en-US" altLang="ko-KR" sz="20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DB0CF2-4778-EFCA-C2B1-2D635047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612E3C4-DDC7-290F-56BF-DE9368FE3B3C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42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317A-6D5A-F323-E8FE-31651F89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81ED2570-E0E6-48BA-E301-EACA56DE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" altLang="ko-KR" sz="3200" b="1" dirty="0"/>
              <a:t>algorithm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C2D90FB-4549-DF75-D6FA-B7EB3FC5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" altLang="ko-KR" sz="2400" b="1" dirty="0"/>
              <a:t>Phase 1: Sampling / Zero-execution FTI</a:t>
            </a:r>
          </a:p>
          <a:p>
            <a:pPr lvl="1"/>
            <a:r>
              <a:rPr lang="en" altLang="ko-KR" sz="2000" dirty="0"/>
              <a:t>vanilla havoc</a:t>
            </a:r>
            <a:r>
              <a:rPr lang="ko-KR" altLang="en-US" sz="2000" dirty="0"/>
              <a:t>로 </a:t>
            </a:r>
            <a:r>
              <a:rPr lang="en" altLang="ko-KR" sz="2000" dirty="0"/>
              <a:t>mutant </a:t>
            </a:r>
            <a:r>
              <a:rPr lang="ko-KR" altLang="en-US" sz="2000" dirty="0"/>
              <a:t>생성</a:t>
            </a:r>
          </a:p>
          <a:p>
            <a:pPr lvl="1"/>
            <a:r>
              <a:rPr lang="en" altLang="ko-KR" sz="2000" dirty="0"/>
              <a:t>threshold </a:t>
            </a:r>
            <a:r>
              <a:rPr lang="ko-KR" altLang="en-US" sz="2000" dirty="0"/>
              <a:t>이내의 </a:t>
            </a:r>
            <a:r>
              <a:rPr lang="en" altLang="ko-KR" sz="2000" dirty="0"/>
              <a:t>mutant</a:t>
            </a:r>
            <a:r>
              <a:rPr lang="ko-KR" altLang="en-US" sz="2000" dirty="0"/>
              <a:t>만 보고</a:t>
            </a:r>
          </a:p>
          <a:p>
            <a:pPr lvl="1"/>
            <a:r>
              <a:rPr lang="en" altLang="ko-KR" sz="2000" dirty="0"/>
              <a:t>branch-related behavior</a:t>
            </a:r>
            <a:r>
              <a:rPr lang="ko-KR" altLang="en-US" sz="2000" dirty="0"/>
              <a:t>가 달라지면 </a:t>
            </a:r>
            <a:r>
              <a:rPr lang="en" altLang="ko-KR" sz="2000" dirty="0"/>
              <a:t>diff byte</a:t>
            </a:r>
            <a:r>
              <a:rPr lang="ko-KR" altLang="en-US" sz="2000" dirty="0"/>
              <a:t>의 </a:t>
            </a:r>
            <a:r>
              <a:rPr lang="en" altLang="ko-KR" sz="2000" dirty="0"/>
              <a:t>taint count </a:t>
            </a:r>
            <a:r>
              <a:rPr lang="ko-KR" altLang="en-US" sz="2000" dirty="0"/>
              <a:t>증가</a:t>
            </a:r>
          </a:p>
          <a:p>
            <a:r>
              <a:rPr lang="en" altLang="ko-KR" sz="2400" b="1" dirty="0"/>
              <a:t>Phase 2: Taint-guided Mutation</a:t>
            </a:r>
          </a:p>
          <a:p>
            <a:pPr lvl="1"/>
            <a:r>
              <a:rPr lang="en" altLang="ko-KR" sz="2000" dirty="0"/>
              <a:t>count</a:t>
            </a:r>
            <a:r>
              <a:rPr lang="ko-KR" altLang="en-US" sz="2000" dirty="0"/>
              <a:t>가 높은 바이트를 </a:t>
            </a:r>
            <a:r>
              <a:rPr lang="en" altLang="ko-KR" sz="2000" dirty="0"/>
              <a:t>mutation </a:t>
            </a:r>
            <a:r>
              <a:rPr lang="ko-KR" altLang="en-US" sz="2000" dirty="0"/>
              <a:t>시작점으로 더 자주 선택</a:t>
            </a:r>
          </a:p>
          <a:p>
            <a:pPr lvl="1"/>
            <a:r>
              <a:rPr lang="en" altLang="ko-KR" sz="2000" dirty="0"/>
              <a:t>mutation</a:t>
            </a:r>
            <a:r>
              <a:rPr lang="ko-KR" altLang="en-US" sz="2000" dirty="0"/>
              <a:t>을 </a:t>
            </a:r>
            <a:r>
              <a:rPr lang="en" altLang="ko-KR" sz="2000" b="1" dirty="0"/>
              <a:t>hot byte </a:t>
            </a:r>
            <a:r>
              <a:rPr lang="ko-KR" altLang="en-US" sz="2000" b="1" dirty="0"/>
              <a:t>중심으로 </a:t>
            </a:r>
            <a:r>
              <a:rPr lang="en" altLang="ko-KR" sz="2000" b="1" dirty="0"/>
              <a:t>bias</a:t>
            </a:r>
            <a:r>
              <a:rPr lang="ko-KR" altLang="en-US" sz="2000" dirty="0"/>
              <a:t>함</a:t>
            </a:r>
          </a:p>
          <a:p>
            <a:endParaRPr kumimoji="1"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22BB7A-8ECA-154C-CF2F-DEB5A212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8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0D4C504-446E-08C9-85AE-01DF9B218050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FB5073D-EA2B-6D1D-52FD-820F6A872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94" y="3781449"/>
            <a:ext cx="7809212" cy="2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0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C24F4-B17A-64AA-4FCB-8256F328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1B856431-6E7F-558E-83BE-BA0D94A9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" altLang="ko-KR" sz="3200" b="1" dirty="0"/>
              <a:t>Implementation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82F8D82-CA3B-38DE-83FB-924121BC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Control Flow Graph</a:t>
            </a:r>
            <a:r>
              <a:rPr lang="en-US" altLang="ko-KR" sz="2000" dirty="0"/>
              <a:t>:</a:t>
            </a:r>
            <a:r>
              <a:rPr lang="ko-KR" altLang="en-US" sz="2000" dirty="0"/>
              <a:t> 프로그램의 실행 그래프</a:t>
            </a:r>
            <a:endParaRPr lang="en-US" altLang="ko-KR" sz="2000" dirty="0"/>
          </a:p>
          <a:p>
            <a:r>
              <a:rPr lang="en-US" altLang="ko-KR" sz="2000" b="1" dirty="0"/>
              <a:t>Frontier node</a:t>
            </a:r>
            <a:r>
              <a:rPr lang="en-US" altLang="ko-KR" sz="2000" dirty="0"/>
              <a:t>: </a:t>
            </a:r>
            <a:r>
              <a:rPr lang="ko-KR" altLang="en-US" sz="2000" dirty="0"/>
              <a:t>일반 </a:t>
            </a:r>
            <a:r>
              <a:rPr lang="en-US" altLang="ko-KR" sz="2000" dirty="0"/>
              <a:t>CFG </a:t>
            </a:r>
            <a:r>
              <a:rPr lang="ko-KR" altLang="en-US" sz="2000" dirty="0"/>
              <a:t>전체에서도</a:t>
            </a:r>
            <a:r>
              <a:rPr lang="en-US" altLang="ko-KR" sz="2000" dirty="0"/>
              <a:t>, </a:t>
            </a:r>
            <a:r>
              <a:rPr lang="ko-KR" altLang="en-US" sz="2000" dirty="0"/>
              <a:t>이미 도달한 실행 영역과 아직 도달하지 못한 실행 영역의 경계에 놓인 노드 </a:t>
            </a:r>
            <a:endParaRPr lang="en-US" altLang="ko-KR" sz="2000" dirty="0"/>
          </a:p>
          <a:p>
            <a:pPr lvl="1"/>
            <a:r>
              <a:rPr lang="ko-KR" altLang="en-US" sz="1600" dirty="0"/>
              <a:t>현재까지 한 번 이상 방문한 노드임에도 자식 중 아직 방문하지 않은 노드가 적어도 하나 있는 노드</a:t>
            </a:r>
            <a:r>
              <a:rPr lang="en-US" altLang="ko-KR" sz="1600" dirty="0"/>
              <a:t>.</a:t>
            </a:r>
          </a:p>
          <a:p>
            <a:r>
              <a:rPr lang="en-US" altLang="ko-KR" sz="2000" b="1" dirty="0"/>
              <a:t>Frontier branch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Ztaint</a:t>
            </a:r>
            <a:r>
              <a:rPr lang="en-US" altLang="ko-KR" sz="2000" dirty="0"/>
              <a:t>-Havoc </a:t>
            </a:r>
            <a:r>
              <a:rPr lang="ko-KR" altLang="en-US" sz="2000" dirty="0"/>
              <a:t>에서는 </a:t>
            </a:r>
            <a:r>
              <a:rPr lang="en-US" altLang="ko-KR" sz="2000" dirty="0"/>
              <a:t>frontier node </a:t>
            </a:r>
            <a:r>
              <a:rPr lang="ko-KR" altLang="en-US" sz="2000" dirty="0"/>
              <a:t>전체를 사용하지 않고</a:t>
            </a:r>
            <a:r>
              <a:rPr lang="en-US" altLang="ko-KR" sz="2000" dirty="0"/>
              <a:t>, </a:t>
            </a:r>
            <a:r>
              <a:rPr lang="ko-KR" altLang="en-US" sz="2000" dirty="0"/>
              <a:t>그 중에서도 조건 분기와 직접 연결된 것만 더 좁혀 쓴다</a:t>
            </a:r>
            <a:r>
              <a:rPr lang="en-US" altLang="ko-KR" sz="2000" dirty="0"/>
              <a:t>. </a:t>
            </a:r>
          </a:p>
          <a:p>
            <a:pPr lvl="1"/>
            <a:r>
              <a:rPr lang="en-US" altLang="ko-KR" sz="1600" dirty="0"/>
              <a:t>Frontier node </a:t>
            </a:r>
            <a:r>
              <a:rPr lang="ko-KR" altLang="en-US" sz="1600" dirty="0"/>
              <a:t>의 부분 집합</a:t>
            </a:r>
            <a:r>
              <a:rPr lang="en-US" altLang="ko-KR" sz="1600" dirty="0"/>
              <a:t>.</a:t>
            </a:r>
          </a:p>
          <a:p>
            <a:r>
              <a:rPr lang="en-US" altLang="ko-KR" sz="2000" dirty="0" err="1"/>
              <a:t>strcmp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memcmp</a:t>
            </a:r>
            <a:r>
              <a:rPr lang="en-US" altLang="ko-KR" sz="2000" dirty="0"/>
              <a:t> 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icmp</a:t>
            </a:r>
            <a:r>
              <a:rPr lang="en-US" altLang="ko-KR" sz="2000" dirty="0"/>
              <a:t> </a:t>
            </a:r>
            <a:r>
              <a:rPr lang="ko-KR" altLang="en-US" sz="2000" dirty="0"/>
              <a:t>를 다르게 다루는 이유</a:t>
            </a:r>
            <a:endParaRPr lang="en-US" altLang="ko-KR" sz="2000" dirty="0"/>
          </a:p>
          <a:p>
            <a:pPr lvl="1"/>
            <a:r>
              <a:rPr lang="en-US" altLang="ko-KR" sz="1600" dirty="0" err="1"/>
              <a:t>icmp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LLVM</a:t>
            </a:r>
            <a:r>
              <a:rPr lang="ko-KR" altLang="en-US" sz="1600" dirty="0"/>
              <a:t> </a:t>
            </a:r>
            <a:r>
              <a:rPr lang="en-US" altLang="ko-KR" sz="1600" dirty="0"/>
              <a:t>IR</a:t>
            </a:r>
            <a:r>
              <a:rPr lang="ko-KR" altLang="en-US" sz="1600" dirty="0"/>
              <a:t> 의 단일 비교 </a:t>
            </a:r>
            <a:r>
              <a:rPr lang="en-US" altLang="ko-KR" sz="1600" dirty="0"/>
              <a:t>instruction =&gt; inserting single instruction</a:t>
            </a:r>
          </a:p>
          <a:p>
            <a:pPr lvl="1"/>
            <a:r>
              <a:rPr lang="en-US" altLang="ko-KR" sz="1600" dirty="0" err="1"/>
              <a:t>strcmp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memcmp</a:t>
            </a:r>
            <a:r>
              <a:rPr lang="en-US" altLang="ko-KR" sz="1600" dirty="0"/>
              <a:t>: </a:t>
            </a:r>
            <a:r>
              <a:rPr lang="ko-KR" altLang="en-US" sz="1600" dirty="0"/>
              <a:t>함수 호출 </a:t>
            </a:r>
            <a:r>
              <a:rPr lang="en-US" altLang="ko-KR" sz="1600" dirty="0"/>
              <a:t>=&gt; inserting a function</a:t>
            </a:r>
          </a:p>
          <a:p>
            <a:pPr lvl="1"/>
            <a:endParaRPr lang="en-US" altLang="ko-KR" sz="16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7754B2-A281-9EEB-D8CE-C034FB60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9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37A6937-B29E-FEAD-7D56-819ADA5A7C4C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6E1AD23-EFDA-415B-0C1D-8B0F81F5E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666" y="4674711"/>
            <a:ext cx="5051385" cy="186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9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DC07-70ED-F503-68A7-AB6FD962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5C0044B0-C27F-5D84-2280-A8F83DB9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" altLang="ko-KR" sz="3200" b="1" dirty="0"/>
              <a:t>Implementation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5BB2D9-379F-E8EC-AB27-5049342EA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" altLang="ko-KR" sz="2000" dirty="0"/>
              <a:t>AFL++ 4.10c </a:t>
            </a:r>
            <a:r>
              <a:rPr lang="ko-KR" altLang="en-US" sz="2000" dirty="0"/>
              <a:t>기반으로 구현</a:t>
            </a:r>
            <a:endParaRPr lang="en-US" altLang="ko-KR" sz="2000" dirty="0"/>
          </a:p>
          <a:p>
            <a:r>
              <a:rPr lang="en" altLang="ko-KR" sz="2000" dirty="0"/>
              <a:t>LLVM instrumentation</a:t>
            </a:r>
            <a:r>
              <a:rPr lang="ko-KR" altLang="en-US" sz="2000" dirty="0"/>
              <a:t>을 확장</a:t>
            </a:r>
            <a:endParaRPr lang="en-US" altLang="ko-KR" sz="2000" dirty="0"/>
          </a:p>
          <a:p>
            <a:pPr lvl="1"/>
            <a:r>
              <a:rPr lang="ko-KR" altLang="en-US" sz="1800" dirty="0"/>
              <a:t> </a:t>
            </a:r>
            <a:r>
              <a:rPr lang="en" altLang="ko-KR" sz="1800" dirty="0"/>
              <a:t>intraprocedural CFG (</a:t>
            </a:r>
            <a:r>
              <a:rPr lang="ko-KR" altLang="en-US" sz="1800" dirty="0"/>
              <a:t>함수 하나 내부만 대상으로 만든 </a:t>
            </a:r>
            <a:r>
              <a:rPr lang="en-US" altLang="ko-KR" sz="1800" dirty="0"/>
              <a:t>CFG</a:t>
            </a:r>
            <a:r>
              <a:rPr lang="en" altLang="ko-KR" sz="1800" dirty="0"/>
              <a:t>)</a:t>
            </a:r>
            <a:r>
              <a:rPr lang="ko-KR" altLang="en-US" sz="1800" dirty="0"/>
              <a:t>와 </a:t>
            </a:r>
            <a:r>
              <a:rPr lang="en" altLang="ko-KR" sz="1800" dirty="0"/>
              <a:t>frontier branch</a:t>
            </a:r>
            <a:r>
              <a:rPr lang="ko-KR" altLang="en-US" sz="1800" dirty="0"/>
              <a:t>를 관리</a:t>
            </a:r>
            <a:endParaRPr lang="en-US" altLang="ko-KR" sz="1800" dirty="0"/>
          </a:p>
          <a:p>
            <a:r>
              <a:rPr lang="en-US" altLang="ko-KR" sz="2000" dirty="0"/>
              <a:t>I</a:t>
            </a:r>
            <a:r>
              <a:rPr lang="en" altLang="ko-KR" sz="2000" dirty="0"/>
              <a:t>cmp, strcmp, memcmp </a:t>
            </a:r>
            <a:r>
              <a:rPr lang="ko-KR" altLang="en-US" sz="2000" dirty="0"/>
              <a:t>등의 비교 지점에서 </a:t>
            </a:r>
            <a:r>
              <a:rPr lang="en" altLang="ko-KR" sz="2000" b="1" dirty="0"/>
              <a:t>control condition </a:t>
            </a:r>
            <a:r>
              <a:rPr lang="ko-KR" altLang="en-US" sz="2000" b="1" dirty="0"/>
              <a:t>변화</a:t>
            </a:r>
            <a:r>
              <a:rPr lang="ko-KR" altLang="en-US" sz="2000" dirty="0"/>
              <a:t>를 추적</a:t>
            </a:r>
            <a:endParaRPr lang="en-US" altLang="ko-KR" sz="2000" dirty="0"/>
          </a:p>
          <a:p>
            <a:r>
              <a:rPr lang="ko-KR" altLang="en-US" sz="2000" dirty="0"/>
              <a:t>오버헤드를 줄이기 위해 </a:t>
            </a:r>
            <a:r>
              <a:rPr lang="en" altLang="ko-KR" sz="2000" dirty="0"/>
              <a:t>hook</a:t>
            </a:r>
            <a:r>
              <a:rPr lang="ko-KR" altLang="en-US" sz="2000" dirty="0"/>
              <a:t>은 </a:t>
            </a:r>
            <a:r>
              <a:rPr lang="en" altLang="ko-KR" sz="2000" dirty="0"/>
              <a:t>frontier branch</a:t>
            </a:r>
            <a:r>
              <a:rPr lang="ko-KR" altLang="en-US" sz="2000" dirty="0"/>
              <a:t>에만 </a:t>
            </a:r>
            <a:r>
              <a:rPr lang="en" altLang="ko-KR" sz="2000" dirty="0"/>
              <a:t>adaptive</a:t>
            </a:r>
            <a:r>
              <a:rPr lang="ko-KR" altLang="en-US" sz="2000" dirty="0"/>
              <a:t>하게 활성화</a:t>
            </a:r>
            <a:endParaRPr lang="en-US" altLang="ko-KR" sz="2000" dirty="0"/>
          </a:p>
          <a:p>
            <a:r>
              <a:rPr lang="en" altLang="ko-KR" sz="2000" dirty="0"/>
              <a:t>havoc </a:t>
            </a:r>
            <a:r>
              <a:rPr lang="ko-KR" altLang="en-US" sz="2000" dirty="0"/>
              <a:t>단계에서 앞 </a:t>
            </a:r>
            <a:r>
              <a:rPr lang="en-US" altLang="ko-KR" sz="2000" dirty="0"/>
              <a:t>50% </a:t>
            </a:r>
            <a:r>
              <a:rPr lang="en" altLang="ko-KR" sz="2000" dirty="0"/>
              <a:t>mutation</a:t>
            </a:r>
            <a:r>
              <a:rPr lang="ko-KR" altLang="en-US" sz="2000" dirty="0"/>
              <a:t>을 </a:t>
            </a:r>
            <a:r>
              <a:rPr lang="en" altLang="ko-KR" sz="2000" dirty="0"/>
              <a:t>sampling</a:t>
            </a:r>
            <a:r>
              <a:rPr lang="ko-KR" altLang="en-US" sz="2000" dirty="0"/>
              <a:t>에 사용하고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이후 </a:t>
            </a:r>
            <a:r>
              <a:rPr lang="en" altLang="ko-KR" sz="2000" dirty="0"/>
              <a:t>taint-guided mutation </a:t>
            </a:r>
            <a:r>
              <a:rPr lang="ko-KR" altLang="en-US" sz="2000" dirty="0"/>
              <a:t>으로 전환</a:t>
            </a:r>
            <a:endParaRPr kumimoji="1" lang="en-US" altLang="ko-KR" sz="2000" dirty="0"/>
          </a:p>
          <a:p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D9AC26-B0E6-239D-D6CE-64B9E8AD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8D3C7E9-4CC8-0E43-BA89-1434CD76DFDF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E06A81E-BBD6-40D4-668B-5C17F9C64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338" y="3687213"/>
            <a:ext cx="6161714" cy="28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2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9FDA-08D1-B5BC-A9DF-E8F02471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A98AA8ED-F4B9-0A56-D256-DECF1519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" altLang="ko-KR" sz="3200" b="1" dirty="0"/>
              <a:t>Experimental setting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C81711A-62E4-DC31-D0C7-B49B333F8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벤치마크</a:t>
            </a:r>
            <a:r>
              <a:rPr lang="en-US" altLang="ko-KR" sz="2000" dirty="0"/>
              <a:t>: </a:t>
            </a:r>
            <a:r>
              <a:rPr lang="en" altLang="ko-KR" sz="2000" dirty="0"/>
              <a:t>FuzzBench 19</a:t>
            </a:r>
            <a:r>
              <a:rPr lang="ko-KR" altLang="en-US" sz="2000" dirty="0"/>
              <a:t>개 </a:t>
            </a:r>
            <a:r>
              <a:rPr lang="en-US" altLang="ko-KR" sz="2000" dirty="0"/>
              <a:t>+ </a:t>
            </a:r>
            <a:r>
              <a:rPr lang="en" altLang="ko-KR" sz="2000" dirty="0" err="1"/>
              <a:t>UniBench</a:t>
            </a:r>
            <a:r>
              <a:rPr lang="en" altLang="ko-KR" sz="2000" dirty="0"/>
              <a:t> 17</a:t>
            </a:r>
            <a:endParaRPr lang="en-US" altLang="ko-KR" sz="2000" dirty="0"/>
          </a:p>
          <a:p>
            <a:r>
              <a:rPr lang="en-US" altLang="ko-KR" sz="2000" b="1" dirty="0"/>
              <a:t>Research Question</a:t>
            </a:r>
            <a:r>
              <a:rPr lang="en-US" altLang="ko-KR" sz="2000" dirty="0"/>
              <a:t>:</a:t>
            </a:r>
          </a:p>
          <a:p>
            <a:pPr lvl="1"/>
            <a:r>
              <a:rPr lang="en" altLang="ko-KR" sz="1800" dirty="0"/>
              <a:t>havoc</a:t>
            </a:r>
            <a:r>
              <a:rPr lang="ko-KR" altLang="en-US" sz="1800" dirty="0"/>
              <a:t>가 정말 균등 분포 성질을 가지는가</a:t>
            </a:r>
          </a:p>
          <a:p>
            <a:pPr lvl="1"/>
            <a:r>
              <a:rPr lang="en" altLang="ko-KR" sz="1800" dirty="0"/>
              <a:t>threshold</a:t>
            </a:r>
            <a:r>
              <a:rPr lang="ko-KR" altLang="en-US" sz="1800" dirty="0"/>
              <a:t>가 분포를 보정하는가</a:t>
            </a:r>
          </a:p>
          <a:p>
            <a:pPr lvl="1"/>
            <a:r>
              <a:rPr lang="en" altLang="ko-KR" sz="1800" dirty="0"/>
              <a:t>coverage</a:t>
            </a:r>
            <a:r>
              <a:rPr lang="ko-KR" altLang="en-US" sz="1800" dirty="0"/>
              <a:t>는 </a:t>
            </a:r>
            <a:r>
              <a:rPr lang="en" altLang="ko-KR" sz="1800" dirty="0"/>
              <a:t>AFL++</a:t>
            </a:r>
            <a:r>
              <a:rPr lang="ko-KR" altLang="en-US" sz="1800" dirty="0"/>
              <a:t>보다 좋아지는가</a:t>
            </a:r>
          </a:p>
          <a:p>
            <a:pPr lvl="1"/>
            <a:r>
              <a:rPr lang="en" altLang="ko-KR" sz="1800" dirty="0"/>
              <a:t>overhead</a:t>
            </a:r>
            <a:r>
              <a:rPr lang="ko-KR" altLang="en-US" sz="1800" dirty="0"/>
              <a:t>는 어느 정도인가 </a:t>
            </a:r>
          </a:p>
          <a:p>
            <a:endParaRPr kumimoji="1" lang="en-US" altLang="ko-KR" sz="2000" dirty="0"/>
          </a:p>
          <a:p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52A2A8-A52F-D970-8277-1C621709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11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FED35DF-0212-0127-31C0-99B722FBE46B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2C105B41-5D67-026F-2845-A0C2188B7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175" y="2668510"/>
            <a:ext cx="6642850" cy="33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7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082F-05E6-4260-DF96-BF9D6983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EE754E0-C42D-1217-F8DB-45B4E512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834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RQ 1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C1C370-C701-67CB-EE39-C04A341E5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267"/>
            <a:ext cx="10515600" cy="49226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" altLang="ko-KR" sz="2000" dirty="0"/>
              <a:t>Does havoc mode follow a uniform distribution?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No c</a:t>
            </a:r>
            <a:r>
              <a:rPr lang="en" altLang="ko-KR" sz="1600" dirty="0" err="1"/>
              <a:t>onstraints</a:t>
            </a:r>
            <a:r>
              <a:rPr lang="en" altLang="ko-KR" sz="1600" dirty="0"/>
              <a:t> VS applying k=5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" altLang="ko-KR" sz="1600" dirty="0"/>
              <a:t>mutation </a:t>
            </a:r>
            <a:r>
              <a:rPr lang="ko-KR" altLang="en-US" sz="1600" dirty="0"/>
              <a:t>시작 위치는 전반적으로 균등 분포에 가까움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600" dirty="0"/>
              <a:t>하지만 </a:t>
            </a:r>
            <a:r>
              <a:rPr lang="en" altLang="ko-KR" sz="1600" dirty="0"/>
              <a:t>threshold </a:t>
            </a:r>
            <a:r>
              <a:rPr lang="ko-KR" altLang="en-US" sz="1600" dirty="0"/>
              <a:t>없이 보면 실제 </a:t>
            </a:r>
            <a:r>
              <a:rPr lang="en" altLang="ko-KR" sz="1600" dirty="0"/>
              <a:t>influenced byte </a:t>
            </a:r>
            <a:r>
              <a:rPr lang="ko-KR" altLang="en-US" sz="1600" dirty="0"/>
              <a:t>분포는 </a:t>
            </a:r>
            <a:r>
              <a:rPr lang="ko-KR" altLang="en-US" sz="1600" dirty="0" err="1"/>
              <a:t>비균등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" altLang="ko-KR" sz="1600" b="1" dirty="0"/>
              <a:t>threshold</a:t>
            </a:r>
            <a:r>
              <a:rPr lang="ko-KR" altLang="en-US" sz="1600" b="1" dirty="0"/>
              <a:t>를 적용하면 </a:t>
            </a:r>
            <a:r>
              <a:rPr lang="en" altLang="ko-KR" sz="1600" b="1" dirty="0"/>
              <a:t>influenced byte </a:t>
            </a:r>
            <a:r>
              <a:rPr lang="ko-KR" altLang="en-US" sz="1600" b="1" dirty="0"/>
              <a:t>분포가 훨씬 더 균등</a:t>
            </a:r>
            <a:r>
              <a:rPr lang="ko-KR" altLang="en-US" sz="1600" dirty="0"/>
              <a:t>해짐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600" dirty="0"/>
              <a:t>또한 </a:t>
            </a:r>
            <a:r>
              <a:rPr lang="en" altLang="ko-KR" sz="1600" dirty="0"/>
              <a:t>havoc stack</a:t>
            </a:r>
            <a:r>
              <a:rPr lang="ko-KR" altLang="en-US" sz="1600" dirty="0"/>
              <a:t>이 커질수록 </a:t>
            </a:r>
            <a:r>
              <a:rPr lang="en" altLang="ko-KR" sz="1600" dirty="0"/>
              <a:t>perturbation distance</a:t>
            </a:r>
            <a:r>
              <a:rPr lang="ko-KR" altLang="en-US" sz="1600" dirty="0"/>
              <a:t>도 커짐</a:t>
            </a:r>
            <a:endParaRPr kumimoji="1" lang="en-US" altLang="ko-KR" sz="1600" dirty="0"/>
          </a:p>
          <a:p>
            <a:pPr>
              <a:lnSpc>
                <a:spcPct val="150000"/>
              </a:lnSpc>
            </a:pP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66934B-C0E8-EA91-BB04-43847DFE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12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B2AFEF-3AD2-67A0-DEEA-07380291DAA0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EC453B52-684A-595F-792E-A2CCB48170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61" t="14634" r="12529"/>
          <a:stretch>
            <a:fillRect/>
          </a:stretch>
        </p:blipFill>
        <p:spPr>
          <a:xfrm>
            <a:off x="7287936" y="1765047"/>
            <a:ext cx="4396092" cy="145656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10C7B0A-A068-B7F7-971C-5F1A8D16C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503" y="3827729"/>
            <a:ext cx="5094560" cy="24851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8FB4AD-856F-2669-28A5-F1626725F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37" y="3827729"/>
            <a:ext cx="5298063" cy="252862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917D6C3-0F30-0587-E7DC-21E4E122BBF5}"/>
              </a:ext>
            </a:extLst>
          </p:cNvPr>
          <p:cNvSpPr/>
          <p:nvPr/>
        </p:nvSpPr>
        <p:spPr>
          <a:xfrm>
            <a:off x="3019425" y="6024563"/>
            <a:ext cx="1609725" cy="15716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8A22C6-D5CC-FDE9-15C7-8C6837BF5A78}"/>
              </a:ext>
            </a:extLst>
          </p:cNvPr>
          <p:cNvSpPr/>
          <p:nvPr/>
        </p:nvSpPr>
        <p:spPr>
          <a:xfrm>
            <a:off x="10702947" y="5518008"/>
            <a:ext cx="639748" cy="15716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43CF56-56CB-78EF-5070-27D60E073C20}"/>
              </a:ext>
            </a:extLst>
          </p:cNvPr>
          <p:cNvSpPr/>
          <p:nvPr/>
        </p:nvSpPr>
        <p:spPr>
          <a:xfrm>
            <a:off x="6366132" y="5661772"/>
            <a:ext cx="245683" cy="15716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041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5B29-AC9D-8D06-B523-84DE02FE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AAB43108-6DD6-E031-6EB1-BB43AA32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834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RQ 2, 3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C203E5E-A10F-859D-C94C-89CF2B234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1315885"/>
            <a:ext cx="5181600" cy="4893447"/>
          </a:xfrm>
        </p:spPr>
        <p:txBody>
          <a:bodyPr>
            <a:normAutofit/>
          </a:bodyPr>
          <a:lstStyle/>
          <a:p>
            <a:r>
              <a:rPr lang="en" altLang="ko-KR" sz="2000" dirty="0"/>
              <a:t>Effect of Havoc Stack Size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" altLang="ko-KR" sz="1600" dirty="0"/>
              <a:t>havoc stack</a:t>
            </a:r>
            <a:r>
              <a:rPr lang="ko-KR" altLang="en-US" sz="1600" dirty="0"/>
              <a:t>이 </a:t>
            </a:r>
            <a:r>
              <a:rPr lang="en-US" altLang="ko-KR" sz="1600" dirty="0"/>
              <a:t>1, 2, 4, 8, 16</a:t>
            </a:r>
            <a:r>
              <a:rPr lang="ko-KR" altLang="en-US" sz="1600" dirty="0"/>
              <a:t>으로 커질수록</a:t>
            </a:r>
            <a:r>
              <a:rPr lang="en-US" altLang="ko-KR" sz="1600" dirty="0"/>
              <a:t> </a:t>
            </a:r>
            <a:r>
              <a:rPr lang="en" altLang="ko-KR" sz="1600" dirty="0"/>
              <a:t>L0 / L1 / L2 / edit distance</a:t>
            </a:r>
            <a:r>
              <a:rPr lang="ko-KR" altLang="en-US" sz="1600" dirty="0"/>
              <a:t>가 모두 증가했다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-&gt; </a:t>
            </a:r>
            <a:r>
              <a:rPr lang="en" altLang="ko-KR" sz="1600" b="1" dirty="0"/>
              <a:t>havoc stack</a:t>
            </a:r>
            <a:r>
              <a:rPr lang="ko-KR" altLang="en-US" sz="1600" dirty="0"/>
              <a:t>은 단순 반복 횟수가 아니라</a:t>
            </a:r>
            <a:r>
              <a:rPr lang="en-US" altLang="ko-KR" sz="1600" dirty="0"/>
              <a:t> </a:t>
            </a:r>
            <a:r>
              <a:rPr lang="en" altLang="ko-KR" sz="1600" b="1" dirty="0"/>
              <a:t>mutant</a:t>
            </a:r>
            <a:r>
              <a:rPr lang="ko-KR" altLang="en-US" sz="1600" b="1" dirty="0"/>
              <a:t>가 원본에서 얼마나 멀어지는지를 결정</a:t>
            </a:r>
            <a:r>
              <a:rPr lang="ko-KR" altLang="en-US" sz="1600" dirty="0"/>
              <a:t>하는 핵심 인자다</a:t>
            </a:r>
            <a:r>
              <a:rPr lang="en-US" altLang="ko-KR" sz="1600" dirty="0"/>
              <a:t>.</a:t>
            </a:r>
            <a:endParaRPr kumimoji="1" lang="en-US" altLang="ko-KR" sz="1600" dirty="0"/>
          </a:p>
          <a:p>
            <a:endParaRPr kumimoji="1" lang="en-US" altLang="ko-KR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4F0FD-B69E-A2B3-0247-5BE8EC3C1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537" y="1315884"/>
            <a:ext cx="5181600" cy="48934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ko-KR" sz="2000" dirty="0"/>
              <a:t>Why is uniform distribution effective?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b="1" dirty="0"/>
              <a:t>V</a:t>
            </a:r>
            <a:r>
              <a:rPr lang="en" altLang="ko-KR" sz="1600" b="1" dirty="0"/>
              <a:t>anilla A</a:t>
            </a:r>
            <a:r>
              <a:rPr lang="en-US" altLang="ko-KR" sz="1600" b="1" dirty="0"/>
              <a:t>FL</a:t>
            </a:r>
            <a:r>
              <a:rPr lang="en" altLang="ko-KR" sz="1600" b="1" dirty="0"/>
              <a:t>++ </a:t>
            </a:r>
            <a:r>
              <a:rPr lang="en" altLang="ko-KR" sz="1600" dirty="0"/>
              <a:t>VS AFL++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-&gt; compare the coverage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vanilla</a:t>
            </a:r>
            <a:r>
              <a:rPr lang="ko-KR" altLang="en-US" sz="1600" dirty="0"/>
              <a:t> </a:t>
            </a:r>
            <a:r>
              <a:rPr lang="en" altLang="ko-KR" sz="1600" dirty="0"/>
              <a:t>AFL++</a:t>
            </a:r>
            <a:r>
              <a:rPr lang="ko-KR" altLang="en-US" sz="1600" dirty="0"/>
              <a:t>의 </a:t>
            </a:r>
            <a:r>
              <a:rPr lang="ko-KR" altLang="en-US" sz="1600" b="1" dirty="0"/>
              <a:t>균등 </a:t>
            </a:r>
            <a:r>
              <a:rPr lang="en" altLang="ko-KR" sz="1600" b="1" dirty="0"/>
              <a:t>sampling</a:t>
            </a:r>
            <a:r>
              <a:rPr lang="ko-KR" altLang="en-US" sz="1600" dirty="0"/>
              <a:t>은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중심 근처를 자주 고르는 정규분포형 </a:t>
            </a:r>
            <a:r>
              <a:rPr lang="en" altLang="ko-KR" sz="1600" dirty="0"/>
              <a:t>sampling</a:t>
            </a:r>
            <a:r>
              <a:rPr lang="ko-KR" altLang="en-US" sz="1600" dirty="0"/>
              <a:t>보다 평균 </a:t>
            </a:r>
            <a:r>
              <a:rPr lang="en-US" altLang="ko-KR" sz="1600" dirty="0"/>
              <a:t>4.69% </a:t>
            </a:r>
            <a:r>
              <a:rPr lang="ko-KR" altLang="en-US" sz="1600" dirty="0"/>
              <a:t>더 높은 </a:t>
            </a:r>
            <a:r>
              <a:rPr lang="en" altLang="ko-KR" sz="1600" dirty="0"/>
              <a:t>coverage</a:t>
            </a:r>
            <a:r>
              <a:rPr lang="ko-KR" altLang="en-US" sz="1600" dirty="0"/>
              <a:t>를 보였다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b="1" dirty="0"/>
              <a:t>-&gt; </a:t>
            </a:r>
            <a:r>
              <a:rPr lang="ko-KR" altLang="en-US" sz="1600" b="1" dirty="0"/>
              <a:t>균등 분포가 입력 공간을 더 고르게 탐색하고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프로그램 구조별 편향에 덜 취약하다</a:t>
            </a:r>
            <a:r>
              <a:rPr lang="en-US" altLang="ko-KR" sz="1600" dirty="0"/>
              <a:t>.</a:t>
            </a:r>
            <a:endParaRPr kumimoji="1" lang="en-US" altLang="ko-KR" sz="1600" dirty="0"/>
          </a:p>
          <a:p>
            <a:pPr lvl="1">
              <a:lnSpc>
                <a:spcPct val="100000"/>
              </a:lnSpc>
            </a:pPr>
            <a:endParaRPr lang="ko-KR" altLang="en-US" sz="16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A9545-022B-62E8-6430-9781A413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13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49A743B-74E2-9172-7024-348279FFDF54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5FB4C23-DDB7-3E44-BF37-24EECCE6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002" y="3770964"/>
            <a:ext cx="4759461" cy="258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4766-3BFE-DBA1-FE5F-D0582CF3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F833B92-534E-2DA2-E650-E9F5AD37D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834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RQ 4) </a:t>
            </a:r>
            <a:r>
              <a:rPr lang="en" altLang="ko-KR" sz="3200" dirty="0"/>
              <a:t>Effect of Splicing 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AAD8741-FA96-8870-41FE-B486EDC5D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268"/>
            <a:ext cx="10515600" cy="49226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ko-KR" sz="2000" dirty="0"/>
              <a:t>splicing stage</a:t>
            </a:r>
            <a:r>
              <a:rPr lang="ko-KR" altLang="en-US" sz="2000" dirty="0"/>
              <a:t>와 </a:t>
            </a:r>
            <a:r>
              <a:rPr lang="en" altLang="ko-KR" sz="2000" dirty="0"/>
              <a:t>splicing operator</a:t>
            </a:r>
            <a:r>
              <a:rPr lang="ko-KR" altLang="en-US" sz="2000" dirty="0"/>
              <a:t>는 일반 </a:t>
            </a:r>
            <a:r>
              <a:rPr lang="en" altLang="ko-KR" sz="2000" dirty="0"/>
              <a:t>mutation</a:t>
            </a:r>
            <a:r>
              <a:rPr lang="ko-KR" altLang="en-US" sz="2000" dirty="0"/>
              <a:t>보다 더 큰 </a:t>
            </a:r>
            <a:r>
              <a:rPr lang="en" altLang="ko-KR" sz="2000" dirty="0"/>
              <a:t>perturbation distance</a:t>
            </a:r>
            <a:r>
              <a:rPr lang="ko-KR" altLang="en-US" sz="2000" dirty="0"/>
              <a:t>를 만든다</a:t>
            </a:r>
            <a:r>
              <a:rPr lang="en-US" altLang="ko-KR" sz="20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000" dirty="0"/>
              <a:t>이는 더 과감한 탐색에는 유리하지만</a:t>
            </a:r>
            <a:r>
              <a:rPr lang="en-US" altLang="ko-KR" sz="2000" dirty="0"/>
              <a:t>, </a:t>
            </a:r>
            <a:r>
              <a:rPr lang="en" altLang="ko-KR" sz="2000" dirty="0"/>
              <a:t>zero-execution FTI</a:t>
            </a:r>
            <a:r>
              <a:rPr lang="ko-KR" altLang="en-US" sz="2000" dirty="0"/>
              <a:t>에 그대로 쓰면 </a:t>
            </a:r>
            <a:r>
              <a:rPr lang="en" altLang="ko-KR" sz="2000" dirty="0"/>
              <a:t>noise</a:t>
            </a:r>
            <a:r>
              <a:rPr lang="ko-KR" altLang="en-US" sz="2000" dirty="0"/>
              <a:t>가 많아질 수 있다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2000" dirty="0"/>
              <a:t>=&gt; </a:t>
            </a:r>
            <a:r>
              <a:rPr lang="ko-KR" altLang="en-US" sz="2000" dirty="0"/>
              <a:t>따라서 </a:t>
            </a:r>
            <a:r>
              <a:rPr lang="en" altLang="ko-KR" sz="2000" b="1" dirty="0"/>
              <a:t>threshold</a:t>
            </a:r>
            <a:r>
              <a:rPr lang="en" altLang="ko-KR" sz="2000" dirty="0"/>
              <a:t> </a:t>
            </a:r>
            <a:r>
              <a:rPr lang="ko-KR" altLang="en-US" sz="2000" dirty="0"/>
              <a:t>같은 제어 장치가 중요하다</a:t>
            </a:r>
            <a:r>
              <a:rPr lang="en-US" altLang="ko-KR" sz="2000" dirty="0"/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554E96-5456-AACC-4BBE-248BB74B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061B27-CBAC-81E7-9811-9FAD2E011ACA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22E4FD9-68D9-11B1-52E2-BA4E19BB4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83" y="3186272"/>
            <a:ext cx="5519322" cy="26437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500D4BD-8F4C-BB79-DB22-E8A20D197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913" y="3231169"/>
            <a:ext cx="5103895" cy="259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C3F55B-72DC-0013-F8E1-F1E56B6A9240}"/>
              </a:ext>
            </a:extLst>
          </p:cNvPr>
          <p:cNvSpPr txBox="1"/>
          <p:nvPr/>
        </p:nvSpPr>
        <p:spPr>
          <a:xfrm>
            <a:off x="1644111" y="6092192"/>
            <a:ext cx="4112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b="1" dirty="0"/>
              <a:t>-N suffix: normal stage / -S suffix: splicing stage</a:t>
            </a:r>
            <a:endParaRPr kumimoji="1" lang="ko-KR" altLang="en-US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01E07F-9BF2-CD18-45BE-10532D38ACD3}"/>
              </a:ext>
            </a:extLst>
          </p:cNvPr>
          <p:cNvSpPr/>
          <p:nvPr/>
        </p:nvSpPr>
        <p:spPr>
          <a:xfrm>
            <a:off x="2189247" y="3640443"/>
            <a:ext cx="548202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B6DB9D-9667-A814-249F-A250F0CA307F}"/>
              </a:ext>
            </a:extLst>
          </p:cNvPr>
          <p:cNvSpPr/>
          <p:nvPr/>
        </p:nvSpPr>
        <p:spPr>
          <a:xfrm>
            <a:off x="3329796" y="3640443"/>
            <a:ext cx="741447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5A6C2-A74D-DDE0-A659-3D37254FAA40}"/>
              </a:ext>
            </a:extLst>
          </p:cNvPr>
          <p:cNvSpPr/>
          <p:nvPr/>
        </p:nvSpPr>
        <p:spPr>
          <a:xfrm>
            <a:off x="4509753" y="3652341"/>
            <a:ext cx="548202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003DD6-0056-B7EC-6CC9-CE4FC145269F}"/>
              </a:ext>
            </a:extLst>
          </p:cNvPr>
          <p:cNvSpPr/>
          <p:nvPr/>
        </p:nvSpPr>
        <p:spPr>
          <a:xfrm>
            <a:off x="5608545" y="3652341"/>
            <a:ext cx="548202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1A7A15-09FF-A79E-8F54-BFF1DDCC1CB4}"/>
              </a:ext>
            </a:extLst>
          </p:cNvPr>
          <p:cNvSpPr/>
          <p:nvPr/>
        </p:nvSpPr>
        <p:spPr>
          <a:xfrm>
            <a:off x="7934478" y="3640443"/>
            <a:ext cx="548202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B29AF1-4116-C40D-A779-710C110C5501}"/>
              </a:ext>
            </a:extLst>
          </p:cNvPr>
          <p:cNvSpPr/>
          <p:nvPr/>
        </p:nvSpPr>
        <p:spPr>
          <a:xfrm>
            <a:off x="8954675" y="3652341"/>
            <a:ext cx="620645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FC4790-10E6-ED2E-1A34-E207080B37DC}"/>
              </a:ext>
            </a:extLst>
          </p:cNvPr>
          <p:cNvSpPr/>
          <p:nvPr/>
        </p:nvSpPr>
        <p:spPr>
          <a:xfrm>
            <a:off x="9959623" y="3640443"/>
            <a:ext cx="548202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65CD64-FCFA-E0E2-86F5-BA9D8B149A72}"/>
              </a:ext>
            </a:extLst>
          </p:cNvPr>
          <p:cNvSpPr/>
          <p:nvPr/>
        </p:nvSpPr>
        <p:spPr>
          <a:xfrm>
            <a:off x="11126278" y="3640443"/>
            <a:ext cx="335139" cy="20702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CE9228-1CB7-8E31-2A6E-368E90F1C4D2}"/>
              </a:ext>
            </a:extLst>
          </p:cNvPr>
          <p:cNvSpPr txBox="1"/>
          <p:nvPr/>
        </p:nvSpPr>
        <p:spPr>
          <a:xfrm>
            <a:off x="2162354" y="5770704"/>
            <a:ext cx="2590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normal vs splicing stages</a:t>
            </a:r>
            <a:endParaRPr kumimoji="1"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474EDF-F52D-49F6-98D4-2FAB7D91897B}"/>
              </a:ext>
            </a:extLst>
          </p:cNvPr>
          <p:cNvSpPr txBox="1"/>
          <p:nvPr/>
        </p:nvSpPr>
        <p:spPr>
          <a:xfrm>
            <a:off x="7389697" y="5732695"/>
            <a:ext cx="37505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other operator vs splicing operator</a:t>
            </a:r>
            <a:endParaRPr kumimoji="1"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B92C5-D6A6-D17E-303F-CAF69A8F8F9D}"/>
              </a:ext>
            </a:extLst>
          </p:cNvPr>
          <p:cNvSpPr txBox="1"/>
          <p:nvPr/>
        </p:nvSpPr>
        <p:spPr>
          <a:xfrm>
            <a:off x="7030215" y="6107363"/>
            <a:ext cx="5090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b="1" dirty="0"/>
              <a:t>-O suffix: mutation operator / -S suffix: splicing operator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02384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1EAD8-D248-532D-50A2-9A33F83F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AB585C96-3354-CD6D-C63A-1377869E1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RQ 5) </a:t>
            </a:r>
            <a:r>
              <a:rPr lang="en" altLang="ko-KR" sz="3200" dirty="0"/>
              <a:t>Code Coverage Compared to AFL++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09D7F88-5220-19C2-2DD7-CD9020E62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2395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Assess the coverage of AFL++ and </a:t>
            </a:r>
            <a:r>
              <a:rPr lang="en-US" altLang="ko-KR" sz="2000" dirty="0" err="1"/>
              <a:t>ZTaint</a:t>
            </a:r>
            <a:r>
              <a:rPr lang="en-US" altLang="ko-KR" sz="2000" dirty="0"/>
              <a:t>-Havoc under two different configuration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/>
              <a:t>Default settings with no additional features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/>
              <a:t>Enhanced settings with both dictionary and AFL++ </a:t>
            </a:r>
            <a:r>
              <a:rPr lang="en-US" altLang="ko-KR" sz="1600" dirty="0" err="1"/>
              <a:t>cmplog</a:t>
            </a:r>
            <a:r>
              <a:rPr lang="en-US" altLang="ko-KR" sz="1600" dirty="0"/>
              <a:t> mode enabled.</a:t>
            </a:r>
          </a:p>
          <a:p>
            <a:pPr>
              <a:lnSpc>
                <a:spcPct val="100000"/>
              </a:lnSpc>
            </a:pPr>
            <a:r>
              <a:rPr lang="en-US" altLang="ko-KR" sz="2000" dirty="0"/>
              <a:t>24</a:t>
            </a:r>
            <a:r>
              <a:rPr lang="ko-KR" altLang="en-US" sz="2000" dirty="0"/>
              <a:t>시간</a:t>
            </a:r>
            <a:r>
              <a:rPr lang="en-US" altLang="ko-KR" sz="2000" dirty="0"/>
              <a:t>, 10</a:t>
            </a:r>
            <a:r>
              <a:rPr lang="ko-KR" altLang="en-US" sz="2000" dirty="0"/>
              <a:t>회 반복 실험에서</a:t>
            </a:r>
            <a:r>
              <a:rPr lang="en" altLang="ko-KR" sz="2000" dirty="0"/>
              <a:t>FuzzBench </a:t>
            </a:r>
            <a:r>
              <a:rPr lang="ko-KR" altLang="en-US" sz="2000" dirty="0"/>
              <a:t>평균 </a:t>
            </a:r>
            <a:r>
              <a:rPr lang="en-US" altLang="ko-KR" sz="2000" dirty="0"/>
              <a:t>+2.97% </a:t>
            </a:r>
            <a:r>
              <a:rPr lang="en" altLang="ko-KR" sz="2000" dirty="0"/>
              <a:t>UniBench </a:t>
            </a:r>
            <a:r>
              <a:rPr lang="ko-KR" altLang="en-US" sz="2000" dirty="0"/>
              <a:t>평균 </a:t>
            </a:r>
            <a:r>
              <a:rPr lang="en-US" altLang="ko-KR" sz="2000" dirty="0"/>
              <a:t>+6.12% </a:t>
            </a:r>
            <a:r>
              <a:rPr lang="en" altLang="ko-KR" sz="2000" dirty="0"/>
              <a:t>edge coverage </a:t>
            </a:r>
            <a:r>
              <a:rPr lang="ko-KR" altLang="en-US" sz="2000" dirty="0"/>
              <a:t>향상을 보였다</a:t>
            </a:r>
            <a:r>
              <a:rPr lang="en-US" altLang="ko-KR" sz="20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000" b="1" dirty="0"/>
              <a:t>최대 향상은</a:t>
            </a:r>
            <a:r>
              <a:rPr lang="en-US" altLang="ko-KR" sz="2000" b="1" dirty="0"/>
              <a:t> </a:t>
            </a:r>
            <a:r>
              <a:rPr lang="en" altLang="ko-KR" sz="2000" b="1" dirty="0"/>
              <a:t>FuzzBench: 33.71% (lcms) UniBench: 51.12% (nm-new)</a:t>
            </a:r>
          </a:p>
          <a:p>
            <a:pPr>
              <a:lnSpc>
                <a:spcPct val="100000"/>
              </a:lnSpc>
            </a:pPr>
            <a:endParaRPr kumimoji="1" lang="en-US" altLang="ko-KR" sz="2000" dirty="0"/>
          </a:p>
          <a:p>
            <a:pPr>
              <a:lnSpc>
                <a:spcPct val="100000"/>
              </a:lnSpc>
            </a:pPr>
            <a:endParaRPr kumimoji="1" lang="en-US" altLang="ko-KR" sz="2000" dirty="0"/>
          </a:p>
          <a:p>
            <a:pPr>
              <a:lnSpc>
                <a:spcPct val="100000"/>
              </a:lnSpc>
            </a:pPr>
            <a:endParaRPr kumimoji="1" lang="en-US" altLang="ko-KR" sz="2000" dirty="0"/>
          </a:p>
          <a:p>
            <a:pPr>
              <a:lnSpc>
                <a:spcPct val="100000"/>
              </a:lnSpc>
            </a:pPr>
            <a:endParaRPr kumimoji="1" lang="en-US" altLang="ko-KR" sz="2000" dirty="0"/>
          </a:p>
          <a:p>
            <a:pPr marL="0" indent="0">
              <a:lnSpc>
                <a:spcPct val="100000"/>
              </a:lnSpc>
              <a:buNone/>
            </a:pPr>
            <a:endParaRPr kumimoji="1" lang="en-US" altLang="ko-KR" sz="2000" dirty="0"/>
          </a:p>
          <a:p>
            <a:pPr>
              <a:lnSpc>
                <a:spcPct val="100000"/>
              </a:lnSpc>
            </a:pPr>
            <a:r>
              <a:rPr kumimoji="1" lang="en-US" altLang="ko-KR" sz="2000" dirty="0"/>
              <a:t>Solver: </a:t>
            </a:r>
            <a:r>
              <a:rPr kumimoji="1" lang="ko-KR" altLang="en-US" sz="2000" dirty="0"/>
              <a:t>어떤 분기 조건을 통과하려면 입력을 어떻게 </a:t>
            </a:r>
            <a:r>
              <a:rPr kumimoji="1" lang="ko-KR" altLang="en-US" sz="2000" dirty="0" err="1"/>
              <a:t>바꿔야하는지</a:t>
            </a:r>
            <a:r>
              <a:rPr kumimoji="1" lang="ko-KR" altLang="en-US" sz="2000" dirty="0"/>
              <a:t> 계산해주는 구성 요소</a:t>
            </a:r>
            <a:endParaRPr kumimoji="1" lang="en-US" altLang="ko-KR" sz="2000" dirty="0"/>
          </a:p>
          <a:p>
            <a:pPr>
              <a:lnSpc>
                <a:spcPct val="100000"/>
              </a:lnSpc>
            </a:pPr>
            <a:endParaRPr kumimoji="1"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783B9B-4BC2-FA5A-65B4-1D7B1F9B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15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D04198E-5A62-9601-A6C7-A010DCDBD6E0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272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A2E6-703C-A0F7-E3D2-5A92EC2E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제목 9">
                <a:extLst>
                  <a:ext uri="{FF2B5EF4-FFF2-40B4-BE49-F238E27FC236}">
                    <a16:creationId xmlns:a16="http://schemas.microsoft.com/office/drawing/2014/main" id="{0B30B76A-0A9E-88CD-1688-9A876F520E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62526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ko-KR" sz="3200" dirty="0"/>
                  <a:t>RQ 6) </a:t>
                </a:r>
                <a:r>
                  <a:rPr lang="en" altLang="ko-KR" sz="3200" dirty="0"/>
                  <a:t>Effect of Threshold Parameter </a:t>
                </a:r>
                <a14:m>
                  <m:oMath xmlns:m="http://schemas.openxmlformats.org/officeDocument/2006/math">
                    <m:r>
                      <a:rPr lang="en" altLang="ko-KR" sz="3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ko-KR" altLang="en-US" sz="3200" b="1" dirty="0"/>
              </a:p>
            </p:txBody>
          </p:sp>
        </mc:Choice>
        <mc:Fallback xmlns="">
          <p:sp>
            <p:nvSpPr>
              <p:cNvPr id="10" name="제목 9">
                <a:extLst>
                  <a:ext uri="{FF2B5EF4-FFF2-40B4-BE49-F238E27FC236}">
                    <a16:creationId xmlns:a16="http://schemas.microsoft.com/office/drawing/2014/main" id="{0B30B76A-0A9E-88CD-1688-9A876F520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62526"/>
              </a:xfrm>
              <a:blipFill>
                <a:blip r:embed="rId3"/>
                <a:stretch>
                  <a:fillRect t="-10092" b="-19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1EEEBD1-6820-C697-DA8E-C9E5956207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 1, 10, 100, 1000, 10000</m:t>
                    </m:r>
                  </m:oMath>
                </a14:m>
                <a:r>
                  <a:rPr lang="en-US" altLang="ko-KR" sz="2000" dirty="0"/>
                  <a:t> and </a:t>
                </a:r>
                <a:r>
                  <a:rPr lang="en-US" altLang="ko-KR" sz="2000" b="1" dirty="0"/>
                  <a:t>adaptive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altLang="ko-KR" sz="2000" b="1" dirty="0"/>
              </a:p>
              <a:p>
                <a:r>
                  <a:rPr lang="ko-KR" altLang="en-US" sz="2000" dirty="0" err="1"/>
                  <a:t>고정값</a:t>
                </a:r>
                <a:r>
                  <a:rPr lang="ko-KR" altLang="en-US" sz="2000" dirty="0"/>
                  <a:t> </a:t>
                </a:r>
                <a14:m>
                  <m:oMath xmlns:m="http://schemas.openxmlformats.org/officeDocument/2006/math">
                    <m:r>
                      <a:rPr lang="ko-KR" altLang="en-US" sz="2000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2000" dirty="0"/>
                  <a:t>보다 </a:t>
                </a:r>
                <a:r>
                  <a:rPr lang="en" altLang="ko-KR" sz="2000" dirty="0"/>
                  <a:t>adaptive threshold</a:t>
                </a:r>
                <a:r>
                  <a:rPr lang="ko-KR" altLang="en-US" sz="2000" dirty="0"/>
                  <a:t>가 전체 타깃에서 더 좋은 성능을 보였다</a:t>
                </a:r>
                <a:r>
                  <a:rPr lang="en-US" altLang="ko-KR" sz="20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2000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2000" dirty="0"/>
                  <a:t>가 너무 작으면 </a:t>
                </a:r>
                <a:r>
                  <a:rPr lang="en" altLang="ko-KR" sz="2000" dirty="0" err="1"/>
                  <a:t>undertaint</a:t>
                </a:r>
                <a:r>
                  <a:rPr lang="en" altLang="ko-KR" sz="2000" dirty="0"/>
                  <a:t>, </a:t>
                </a:r>
                <a:r>
                  <a:rPr lang="ko-KR" altLang="en-US" sz="2000" dirty="0"/>
                  <a:t>너무 크면 </a:t>
                </a:r>
                <a:r>
                  <a:rPr lang="en" altLang="ko-KR" sz="2000" dirty="0" err="1"/>
                  <a:t>overtaint</a:t>
                </a:r>
                <a:r>
                  <a:rPr lang="en-US" altLang="ko-KR" sz="2000"/>
                  <a:t> &amp; </a:t>
                </a:r>
                <a:r>
                  <a:rPr lang="en" altLang="ko-KR" sz="2000"/>
                  <a:t>overhead</a:t>
                </a:r>
                <a:r>
                  <a:rPr lang="ko-KR" altLang="en-US" sz="2000" dirty="0"/>
                  <a:t>가 증가한다</a:t>
                </a:r>
                <a:r>
                  <a:rPr lang="en-US" altLang="ko-KR" sz="2000" dirty="0"/>
                  <a:t>.</a:t>
                </a:r>
              </a:p>
              <a:p>
                <a:r>
                  <a:rPr lang="ko-KR" altLang="en-US" sz="2000" dirty="0"/>
                  <a:t>따라서 하나의 고정 </a:t>
                </a:r>
                <a:r>
                  <a:rPr lang="en" altLang="ko-KR" sz="2000" dirty="0"/>
                  <a:t>threshold</a:t>
                </a:r>
                <a:r>
                  <a:rPr lang="ko-KR" altLang="en-US" sz="2000" dirty="0"/>
                  <a:t>보다 </a:t>
                </a:r>
                <a:r>
                  <a:rPr lang="en" altLang="ko-KR" sz="2000" dirty="0"/>
                  <a:t>adaptive </a:t>
                </a:r>
                <a:r>
                  <a:rPr lang="ko-KR" altLang="en-US" sz="2000" dirty="0"/>
                  <a:t>방식이 더 실용적이다</a:t>
                </a:r>
                <a:r>
                  <a:rPr lang="en-US" altLang="ko-KR" sz="2000" dirty="0"/>
                  <a:t>.</a:t>
                </a:r>
                <a:endParaRPr kumimoji="1" lang="en-US" altLang="ko-KR" sz="200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1EEEBD1-6820-C697-DA8E-C9E5956207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4"/>
                <a:stretch>
                  <a:fillRect l="-603" t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78A676-00F6-B3A0-62F7-FC59430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16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76AA463-BDB1-0832-883C-550B8E7BDA26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99DAF34-772C-4283-933C-D67DA2C15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9607" y="2837044"/>
            <a:ext cx="6312512" cy="370186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EA9378-1ED2-F55B-4F69-FE4593E39CC6}"/>
              </a:ext>
            </a:extLst>
          </p:cNvPr>
          <p:cNvSpPr/>
          <p:nvPr/>
        </p:nvSpPr>
        <p:spPr>
          <a:xfrm>
            <a:off x="6658708" y="6107723"/>
            <a:ext cx="2397369" cy="38515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235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FEE2-850D-0414-927D-A9BC9EC8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4E2C22F2-71FD-C7CA-A237-EA0A9503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RQ 7) </a:t>
            </a:r>
            <a:r>
              <a:rPr lang="en" altLang="ko-KR" sz="3200" dirty="0"/>
              <a:t>Runtime Overhead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64BFCB5-8CB6-8C24-CF06-74BCDEF39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" altLang="ko-KR" sz="2000" dirty="0"/>
              <a:t>baseline </a:t>
            </a:r>
            <a:r>
              <a:rPr lang="ko-KR" altLang="en-US" sz="2000" dirty="0"/>
              <a:t>대비 </a:t>
            </a:r>
            <a:r>
              <a:rPr lang="en" altLang="ko-KR" sz="2000" dirty="0"/>
              <a:t>overhead</a:t>
            </a:r>
            <a:r>
              <a:rPr lang="ko-KR" altLang="en-US" sz="2000" dirty="0"/>
              <a:t>는 </a:t>
            </a:r>
            <a:r>
              <a:rPr lang="en" altLang="ko-KR" sz="2000" dirty="0"/>
              <a:t>UniBench 3.84%, FuzzBench 12.58%</a:t>
            </a:r>
          </a:p>
          <a:p>
            <a:r>
              <a:rPr lang="en" altLang="ko-KR" sz="2000" dirty="0"/>
              <a:t>FuzzBench</a:t>
            </a:r>
            <a:r>
              <a:rPr lang="ko-KR" altLang="en-US" sz="2000" dirty="0"/>
              <a:t>에서 더 크게 보이는 이유는 원래 실행 속도가 빨라</a:t>
            </a:r>
            <a:r>
              <a:rPr lang="en-US" altLang="ko-KR" sz="2000" dirty="0"/>
              <a:t>, </a:t>
            </a:r>
            <a:r>
              <a:rPr lang="en" altLang="ko-KR" sz="2000" dirty="0"/>
              <a:t>fuzzer-side bookkeeping </a:t>
            </a:r>
            <a:r>
              <a:rPr lang="ko-KR" altLang="en-US" sz="2000" dirty="0"/>
              <a:t>비용이 상대적으로 더 크게 드러나기 때문이다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그래도 저자들은 이를 실용적인 수준으로 본다</a:t>
            </a:r>
            <a:r>
              <a:rPr lang="en-US" altLang="ko-KR" sz="2000" dirty="0"/>
              <a:t>.</a:t>
            </a:r>
            <a:endParaRPr kumimoji="1"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743218-6D46-A277-BE37-FE65C7E7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17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0CD13EC-1553-F041-1066-6E38F235C8F8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4E54C56-BBAD-6B64-7175-AAE5E3437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208" y="2868365"/>
            <a:ext cx="6875584" cy="335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00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19B9-EC6F-8B13-8225-6E391BC3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1636F852-2B79-C4BB-990C-03105A5F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RQ 8) </a:t>
            </a:r>
            <a:r>
              <a:rPr lang="en" altLang="ko-KR" sz="3200" dirty="0"/>
              <a:t>Comparison with CMPLOG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878DD3F-BC1D-4BEE-D4AF-CBC62DD46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102705"/>
          </a:xfrm>
        </p:spPr>
        <p:txBody>
          <a:bodyPr>
            <a:normAutofit/>
          </a:bodyPr>
          <a:lstStyle/>
          <a:p>
            <a:r>
              <a:rPr lang="en" altLang="ko-KR" sz="2000" dirty="0"/>
              <a:t>branch solver</a:t>
            </a:r>
            <a:r>
              <a:rPr lang="ko-KR" altLang="en-US" sz="2000" dirty="0"/>
              <a:t>를 붙인 </a:t>
            </a:r>
            <a:r>
              <a:rPr lang="en" altLang="ko-KR" sz="2000" dirty="0"/>
              <a:t>ZTaint-Havoc with solver</a:t>
            </a:r>
            <a:r>
              <a:rPr lang="ko-KR" altLang="en-US" sz="2000" dirty="0"/>
              <a:t>를 </a:t>
            </a:r>
            <a:r>
              <a:rPr lang="en" altLang="ko-KR" sz="2000" dirty="0"/>
              <a:t>CMPLOG</a:t>
            </a:r>
            <a:r>
              <a:rPr lang="ko-KR" altLang="en-US" sz="2000" dirty="0"/>
              <a:t>와 비교결과</a:t>
            </a:r>
            <a:r>
              <a:rPr lang="en-US" altLang="ko-KR" sz="2000" dirty="0"/>
              <a:t>:</a:t>
            </a:r>
          </a:p>
          <a:p>
            <a:pPr lvl="1"/>
            <a:r>
              <a:rPr lang="en" altLang="ko-KR" sz="1800" dirty="0"/>
              <a:t>FuzzBench </a:t>
            </a:r>
            <a:r>
              <a:rPr lang="ko-KR" altLang="en-US" sz="1800" dirty="0"/>
              <a:t>평균 </a:t>
            </a:r>
            <a:r>
              <a:rPr lang="en-US" altLang="ko-KR" sz="1800" dirty="0"/>
              <a:t>+3.06%, </a:t>
            </a:r>
            <a:r>
              <a:rPr lang="en" altLang="ko-KR" sz="1800" dirty="0"/>
              <a:t>UniBench </a:t>
            </a:r>
            <a:r>
              <a:rPr lang="ko-KR" altLang="en-US" sz="1800" dirty="0"/>
              <a:t>평균 </a:t>
            </a:r>
            <a:r>
              <a:rPr lang="en-US" altLang="ko-KR" sz="1800" dirty="0"/>
              <a:t>+13.54% </a:t>
            </a:r>
            <a:r>
              <a:rPr lang="en" altLang="ko-KR" sz="2000" dirty="0"/>
              <a:t>coverage </a:t>
            </a:r>
            <a:r>
              <a:rPr lang="ko-KR" altLang="en-US" sz="2000" dirty="0"/>
              <a:t>향상</a:t>
            </a:r>
          </a:p>
          <a:p>
            <a:r>
              <a:rPr lang="ko-KR" altLang="en-US" sz="2000" dirty="0"/>
              <a:t>다만 일부 타깃에서는 </a:t>
            </a:r>
            <a:r>
              <a:rPr lang="en" altLang="ko-KR" sz="2000" dirty="0"/>
              <a:t>CMPLOG</a:t>
            </a:r>
            <a:r>
              <a:rPr lang="ko-KR" altLang="en-US" sz="2000" dirty="0"/>
              <a:t>가 더 우세했다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저자들은 그 이유로 </a:t>
            </a:r>
            <a:r>
              <a:rPr lang="en" altLang="ko-KR" sz="2000" dirty="0"/>
              <a:t>solver</a:t>
            </a:r>
            <a:r>
              <a:rPr lang="ko-KR" altLang="en-US" sz="2000" dirty="0"/>
              <a:t>가 아직 </a:t>
            </a:r>
            <a:r>
              <a:rPr lang="en" altLang="ko-KR" sz="2000" dirty="0"/>
              <a:t>simple prototype</a:t>
            </a:r>
            <a:r>
              <a:rPr lang="ko-KR" altLang="en-US" sz="2000" dirty="0"/>
              <a:t>이라</a:t>
            </a:r>
            <a:r>
              <a:rPr lang="en-US" altLang="ko-KR" sz="2000" dirty="0"/>
              <a:t> </a:t>
            </a:r>
            <a:r>
              <a:rPr lang="en" altLang="ko-KR" sz="2000" dirty="0"/>
              <a:t>float </a:t>
            </a:r>
            <a:r>
              <a:rPr lang="ko-KR" altLang="en-US" sz="2000" dirty="0"/>
              <a:t>처리나 변수</a:t>
            </a:r>
            <a:r>
              <a:rPr lang="en-US" altLang="ko-KR" sz="2000" dirty="0"/>
              <a:t>-</a:t>
            </a:r>
            <a:r>
              <a:rPr lang="ko-KR" altLang="en-US" sz="2000" dirty="0"/>
              <a:t>변수 </a:t>
            </a:r>
            <a:r>
              <a:rPr lang="en" altLang="ko-KR" sz="2000" dirty="0"/>
              <a:t>string compare </a:t>
            </a:r>
            <a:r>
              <a:rPr lang="ko-KR" altLang="en-US" sz="2000" dirty="0"/>
              <a:t>같은 특수 처리가 부족하다고 설명</a:t>
            </a:r>
            <a:endParaRPr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pPr marL="0" indent="0">
              <a:buNone/>
            </a:pPr>
            <a:endParaRPr kumimoji="1" lang="en-US" altLang="ko-KR" sz="2000" dirty="0"/>
          </a:p>
          <a:p>
            <a:pPr marL="0" indent="0">
              <a:buNone/>
            </a:pPr>
            <a:endParaRPr kumimoji="1" lang="en-US" altLang="ko-KR" sz="2000" dirty="0"/>
          </a:p>
          <a:p>
            <a:pPr marL="0" indent="0">
              <a:buNone/>
            </a:pPr>
            <a:endParaRPr kumimoji="1" lang="en-US" altLang="ko-KR" sz="2000" dirty="0"/>
          </a:p>
          <a:p>
            <a:r>
              <a:rPr kumimoji="1" lang="en-US" altLang="ko-KR" sz="1800" dirty="0"/>
              <a:t>CMPLOG: AFL++ </a:t>
            </a:r>
            <a:r>
              <a:rPr kumimoji="1" lang="ko-KR" altLang="en-US" sz="1800" dirty="0"/>
              <a:t>기능 중 하나로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프로그램이 실행 중 수행하는 비교 정보를 기록해서 </a:t>
            </a:r>
            <a:r>
              <a:rPr kumimoji="1" lang="en-US" altLang="ko-KR" sz="1800" dirty="0"/>
              <a:t>mutation </a:t>
            </a:r>
            <a:r>
              <a:rPr kumimoji="1" lang="ko-KR" altLang="en-US" sz="1800" dirty="0"/>
              <a:t>을 더 똑똑하게 하도록 돕는 메커니즘 </a:t>
            </a:r>
            <a:endParaRPr kumimoji="1" lang="en-US" altLang="ko-KR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1CA61E-90F1-C0AF-B412-FB42F06D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18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9CA8ACE-D664-34DC-1741-89B2F66A0AC8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4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07F8-BAB3-0A05-24E0-751BCABB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196402A-9D28-69EB-4F0A-636A3D33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 dirty="0"/>
              <a:t>Discussion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63CFE1-5155-C7C5-42CF-06400296B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feedback,</a:t>
            </a:r>
            <a:r>
              <a:rPr lang="ko-KR" altLang="en-US" sz="2000" dirty="0"/>
              <a:t> </a:t>
            </a:r>
            <a:r>
              <a:rPr lang="en-US" altLang="ko-KR" sz="2000" dirty="0"/>
              <a:t>instrumentation</a:t>
            </a:r>
            <a:r>
              <a:rPr lang="ko-KR" altLang="en-US" sz="2000" dirty="0"/>
              <a:t>을 요구한다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threshold value</a:t>
            </a:r>
            <a:r>
              <a:rPr lang="ko-KR" altLang="en-US" sz="2000" dirty="0"/>
              <a:t> 선택이 여전히 중요하다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The use of filters to minimize noise in taint analysis leads to a smaller sample size for fuzzing-driven taint inference</a:t>
            </a:r>
            <a:r>
              <a:rPr lang="ko-KR" altLang="en-US" sz="2000" dirty="0"/>
              <a:t> </a:t>
            </a:r>
            <a:r>
              <a:rPr lang="en-US" altLang="ko-KR" sz="2000" dirty="0"/>
              <a:t>-&gt;</a:t>
            </a:r>
            <a:r>
              <a:rPr lang="ko-KR" altLang="en-US" sz="2000" dirty="0"/>
              <a:t> </a:t>
            </a:r>
            <a:r>
              <a:rPr lang="en-US" altLang="ko-KR" sz="2000" dirty="0"/>
              <a:t>inference </a:t>
            </a:r>
            <a:r>
              <a:rPr lang="ko-KR" altLang="en-US" sz="2000" dirty="0"/>
              <a:t>효율이 떨어질 수 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2D8342-5DAD-9DF0-214D-7398B563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19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3E7A8B1-B524-C5E3-666F-887563647536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82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7814-4070-0154-10ED-B5B01155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A702D66E-6CE4-EA15-D630-F692FF5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526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 dirty="0"/>
              <a:t>Conclusion</a:t>
            </a:r>
            <a:endParaRPr lang="ko-KR" altLang="en-US" sz="3200" b="1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2AEA6B5-AAFC-11C2-084C-A9C9E81E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Havoc mode </a:t>
            </a:r>
            <a:r>
              <a:rPr lang="ko-KR" altLang="en-US" sz="2000" dirty="0"/>
              <a:t>를 계산적으로 모델링하면 추가 실행 없는 </a:t>
            </a:r>
            <a:r>
              <a:rPr lang="en-US" altLang="ko-KR" sz="2000" dirty="0"/>
              <a:t>FTI </a:t>
            </a:r>
            <a:r>
              <a:rPr lang="ko-KR" altLang="en-US" sz="2000" dirty="0"/>
              <a:t>가 가능하다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실제 </a:t>
            </a:r>
            <a:r>
              <a:rPr lang="en-US" altLang="ko-KR" sz="2000" dirty="0"/>
              <a:t>AFL++ </a:t>
            </a:r>
            <a:r>
              <a:rPr lang="ko-KR" altLang="en-US" sz="2000" dirty="0"/>
              <a:t>기반 구현에서도 </a:t>
            </a:r>
            <a:r>
              <a:rPr lang="en-US" altLang="ko-KR" sz="2000" dirty="0"/>
              <a:t>coverage </a:t>
            </a:r>
            <a:r>
              <a:rPr lang="ko-KR" altLang="en-US" sz="2000" dirty="0"/>
              <a:t>향상이 확인됐다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기본 </a:t>
            </a:r>
            <a:r>
              <a:rPr lang="en-US" altLang="ko-KR" sz="2000" dirty="0"/>
              <a:t>fuzzing pipeline </a:t>
            </a:r>
            <a:r>
              <a:rPr lang="ko-KR" altLang="en-US" sz="2000" dirty="0"/>
              <a:t>안에 이미 들어 있는 </a:t>
            </a:r>
            <a:r>
              <a:rPr lang="en-US" altLang="ko-KR" sz="2000" dirty="0"/>
              <a:t>havoc mutation </a:t>
            </a:r>
            <a:r>
              <a:rPr lang="ko-KR" altLang="en-US" sz="2000" dirty="0"/>
              <a:t>을 잘 해석하면</a:t>
            </a:r>
            <a:r>
              <a:rPr lang="en-US" altLang="ko-KR" sz="2000" dirty="0"/>
              <a:t>,</a:t>
            </a:r>
            <a:r>
              <a:rPr lang="ko-KR" altLang="en-US" sz="2000" dirty="0"/>
              <a:t> 비싼 </a:t>
            </a:r>
            <a:r>
              <a:rPr lang="en-US" altLang="ko-KR" sz="2000" dirty="0"/>
              <a:t>taint inference</a:t>
            </a:r>
            <a:r>
              <a:rPr lang="ko-KR" altLang="en-US" sz="2000" dirty="0"/>
              <a:t>를 거의 공짜처럼 얻을 수 있다</a:t>
            </a:r>
            <a:r>
              <a:rPr lang="en-US" altLang="ko-KR" sz="2000" dirty="0"/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986CE7-911C-C4A5-0E5C-4AE3D701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20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5CC1C7B-59D2-D618-108A-07C1C134EB87}"/>
              </a:ext>
            </a:extLst>
          </p:cNvPr>
          <p:cNvCxnSpPr/>
          <p:nvPr/>
        </p:nvCxnSpPr>
        <p:spPr>
          <a:xfrm>
            <a:off x="838200" y="1027959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6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700F-A079-4DE2-902E-DBDC3C59F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048D1BF-3DA5-A7E4-E079-9DBE7CA4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sz="4000" b="1" dirty="0"/>
              <a:t>Thank You</a:t>
            </a:r>
            <a:endParaRPr lang="ko-KR" altLang="en-US" sz="4000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3639EB8-9000-1E6D-4D21-AF111F0B1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F2EE042-70C9-933F-D1CF-E8854A49CAB0}"/>
              </a:ext>
            </a:extLst>
          </p:cNvPr>
          <p:cNvCxnSpPr/>
          <p:nvPr/>
        </p:nvCxnSpPr>
        <p:spPr>
          <a:xfrm>
            <a:off x="838200" y="1690688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A4D9E99-B817-B46A-67BD-9EEFA314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7C9B6-9940-4C05-9CC5-08095E44572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67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4926</TotalTime>
  <Words>3005</Words>
  <Application>Microsoft Macintosh PowerPoint</Application>
  <PresentationFormat>와이드스크린</PresentationFormat>
  <Paragraphs>303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Microsoft GothicNeo Light</vt:lpstr>
      <vt:lpstr>Arial</vt:lpstr>
      <vt:lpstr>Cambria Math</vt:lpstr>
      <vt:lpstr>Office 테마</vt:lpstr>
      <vt:lpstr>ZTaint-Havoc: From Havoc Mode to Zero-Execution Fuzzing-Driven Taint Inference</vt:lpstr>
      <vt:lpstr>Motivation – Hot Bytes</vt:lpstr>
      <vt:lpstr>Motivation – Hot Bytes</vt:lpstr>
      <vt:lpstr>Background</vt:lpstr>
      <vt:lpstr>Connecting Havoc Mode with Fuzzing-Driven Taint Inference</vt:lpstr>
      <vt:lpstr>Adaptive Threshold k</vt:lpstr>
      <vt:lpstr>Cumulative Taint Inference</vt:lpstr>
      <vt:lpstr>algorithm</vt:lpstr>
      <vt:lpstr>Implementation</vt:lpstr>
      <vt:lpstr>Implementation</vt:lpstr>
      <vt:lpstr>Experimental setting</vt:lpstr>
      <vt:lpstr>RQ 1</vt:lpstr>
      <vt:lpstr>RQ 2, 3</vt:lpstr>
      <vt:lpstr>RQ 4) Effect of Splicing </vt:lpstr>
      <vt:lpstr>RQ 5) Code Coverage Compared to AFL++</vt:lpstr>
      <vt:lpstr>RQ 6) Effect of Threshold Parameter k</vt:lpstr>
      <vt:lpstr>RQ 7) Runtime Overhead</vt:lpstr>
      <vt:lpstr>RQ 8) Comparison with CMPLOG</vt:lpstr>
      <vt:lpstr>Discussion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백가현</dc:creator>
  <cp:lastModifiedBy>백가현</cp:lastModifiedBy>
  <cp:revision>188</cp:revision>
  <dcterms:created xsi:type="dcterms:W3CDTF">2026-03-23T04:45:07Z</dcterms:created>
  <dcterms:modified xsi:type="dcterms:W3CDTF">2026-04-09T06:41:58Z</dcterms:modified>
</cp:coreProperties>
</file>