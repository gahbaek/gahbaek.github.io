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87" r:id="rId2"/>
    <p:sldId id="286" r:id="rId3"/>
    <p:sldId id="258" r:id="rId4"/>
    <p:sldId id="259" r:id="rId5"/>
    <p:sldId id="260" r:id="rId6"/>
    <p:sldId id="261" r:id="rId7"/>
    <p:sldId id="288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7" r:id="rId18"/>
    <p:sldId id="278" r:id="rId19"/>
    <p:sldId id="283" r:id="rId20"/>
    <p:sldId id="284" r:id="rId21"/>
    <p:sldId id="272" r:id="rId22"/>
    <p:sldId id="263" r:id="rId23"/>
    <p:sldId id="289" r:id="rId24"/>
    <p:sldId id="257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72" autoAdjust="0"/>
    <p:restoredTop sz="83853" autoAdjust="0"/>
  </p:normalViewPr>
  <p:slideViewPr>
    <p:cSldViewPr snapToGrid="0" snapToObjects="1">
      <p:cViewPr varScale="1">
        <p:scale>
          <a:sx n="117" d="100"/>
          <a:sy n="117" d="100"/>
        </p:scale>
        <p:origin x="1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07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6EF7-7D5A-0EAB-7107-81AF4CDE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81E8CE-7CB1-B138-F044-1CA9F40C5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B845F-B56B-CC76-4C45-996BAE8B2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86576-102A-1BE3-E79C-2B0830A8D9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0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C5D16-195C-79E7-E458-E2BAD510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F0DF65-F57E-3F7B-3FE7-3BDC1D144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D9B64-2F45-9C34-1C64-57F0B0801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presentation’s main story is simple: jailbreaks do not make toxicity invisible. They add a competing compliance direction, and JBShield detects and edits that mechanism.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C571AA-0E75-DDB8-0865-FB5DD74803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550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shows the core phenomenon: the original harmful prompt is refused, but a jailbreak wrapper changes the response. JBShield’s goal is to recover the safe behavior without relying on a fixed refusal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defenses can be useful, but many operate at the input or output surface. The paper argues that robust defense requires understanding the internal mechanism that flips refusal into compliance.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stronger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mechanism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filtering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JBShield relies on the linear representation hypothesis: high-level concepts correspond to directions or subspaces in hidden states. The method then operationalizes toxicity and jailbreak pressure as directions between prompt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E5DAA-4E73-D1B4-D984-B12FFE5AC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F17A4-2F2E-E2FC-6991-86B8E8B1C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A132E2-AA4B-BC94-017F-A3B91D9B7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JBShield’s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0F587-0093-B7A8-1383-7104FCE73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763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caution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,” 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,” and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disclaimer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toxic-related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completely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harmfulness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safety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exists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associated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,” 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,” and “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understood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.”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attacks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activate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persona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role-play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translation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pressure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competes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model’s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refusal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still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recognizes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present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toward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following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user’s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compliance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dominates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unsafe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Therefore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defense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toxicity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reduce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gives the full system view: detection on the left and mitigation on the right. The same extracted concepts support both identifying jailbreaks and modifying model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JBShield-D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well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layerwise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gaps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categories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calibrated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90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30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30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30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JBShield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anchor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comparisons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cosine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similarity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above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threshold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rule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equals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toxic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  <a:p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 </a:t>
            </a:r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curve</a:t>
            </a:r>
            <a:r>
              <a:rPr lang="ko-KR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analysis</a:t>
            </a:r>
            <a:r>
              <a:rPr lang="en-US" altLang="ko-K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Youden’s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</a:t>
            </a:r>
            <a:r>
              <a:rPr lang="ko-KR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</a:t>
            </a:r>
            <a:r>
              <a:rPr lang="en-US" altLang="ko-K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increase TPR decrease FPR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a jailbreak is detected, </a:t>
            </a: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JBShield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 modifies the hidden representation.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strengthens the toxic concept by adding the toxic concept vector.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makes the model more aware of harmful semantics.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same time, it weakens the jailbreak concept by subtracting the jailbreak concept vector.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scaling factors are calculated from calibration data.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concept manipulation, not a fixed refusal template.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is broad: five LLMs and nine jailbreak methods across five attack categories. The paper evaluates both detection quality and mitigation effectiveness against state-of-the-art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nine jailbreaks and five models, JBShield-D reaches average detection accuracy of 0.95 and F1 of 0.94. The strongest baseline discussed in the paper, LlamaGuard, is substantially lower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editing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internal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effectively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prevent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jailbreak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controlling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behavior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good defense should not harm normal model performance.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JBShield</a:t>
            </a: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-M causes less than 2% performance degradation.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because mitigation is activated only after a jailbreak is detected.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normal prompts are mostly unaffected.</a:t>
            </a:r>
            <a:b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paper also reports that the false positive rate on normal inputs with seemingly toxic words is about 2%.</a:t>
            </a:r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29E5-AD2A-E830-06D1-00B5764C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D4DEB6-79B7-6F91-E013-26346FA14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4D639-EC3C-8F70-FD77-F3F6957EA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F0993-5158-F978-957E-AC6CE4E336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722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30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samples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balance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efficiency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92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counterfactual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harmful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benign</a:t>
            </a:r>
            <a:r>
              <a:rPr lang="ko-KR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ko-K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last-token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selected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layer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computes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representations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rank-one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SVD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extract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Finally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mapped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interpretable</a:t>
            </a:r>
            <a:r>
              <a:rPr lang="ko-KR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2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7D8F5-72A0-E27A-4AA1-DA05FBC05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CE0EA-EEF3-3EAF-3C1A-84BFF7B04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FB051-E389-6E0F-2E09-DE43C7A3A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10 highlights JBShield’s deployment advantages: no extra inference tokens, no extra model, and no fine-tuning. The main caveat is that the method requires access to internal representations, so it is not a black-box API-only defense.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1D657-7AE8-86FC-5852-25623EFDB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409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jailbreak attack is a prompt designed to bypass the safety guardrails of an aligned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91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45E72-D68B-2A10-FA6B-00FDA497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0D49847-57E0-FD6D-2815-D3536237DE02}"/>
              </a:ext>
            </a:extLst>
          </p:cNvPr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Intro</a:t>
            </a:r>
            <a:endParaRPr lang="en-US" sz="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C85050-81AA-EA99-8FD5-AB748C5ABF5E}"/>
              </a:ext>
            </a:extLst>
          </p:cNvPr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73C8854-7DDF-58B4-3EFF-68950AFABD1A}"/>
              </a:ext>
            </a:extLst>
          </p:cNvPr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EF85A3B-9F5F-7F82-FB1E-6045312C3155}"/>
              </a:ext>
            </a:extLst>
          </p:cNvPr>
          <p:cNvSpPr/>
          <p:nvPr/>
        </p:nvSpPr>
        <p:spPr>
          <a:xfrm>
            <a:off x="594359" y="1341242"/>
            <a:ext cx="10972799" cy="209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altLang="ko-KR" sz="3200" b="1" dirty="0" err="1"/>
              <a:t>JBShield</a:t>
            </a:r>
            <a:r>
              <a:rPr lang="en-US" altLang="ko-KR" sz="3200" b="1" dirty="0"/>
              <a:t>: </a:t>
            </a:r>
            <a:r>
              <a:rPr lang="en-US" altLang="ko-KR" sz="2400" b="1" dirty="0"/>
              <a:t>Defending Large Language Models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from Jailbreak Attacks through Activated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Concept Analysis and Manipulation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0DA5CE9-1802-80F9-2BB3-81D247EE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2967025"/>
            <a:ext cx="5029200" cy="1515577"/>
          </a:xfrm>
          <a:prstGeom prst="rect">
            <a:avLst/>
          </a:prstGeom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74DAD43E-28B9-5747-600E-F7E2D190FB2C}"/>
              </a:ext>
            </a:extLst>
          </p:cNvPr>
          <p:cNvSpPr/>
          <p:nvPr/>
        </p:nvSpPr>
        <p:spPr>
          <a:xfrm>
            <a:off x="3794758" y="4548588"/>
            <a:ext cx="4572000" cy="1026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USENIX 2025</a:t>
            </a:r>
          </a:p>
          <a:p>
            <a:pPr marL="0" indent="0" algn="ctr">
              <a:buNone/>
            </a:pPr>
            <a:endParaRPr lang="en-US" sz="1200" b="1" dirty="0"/>
          </a:p>
          <a:p>
            <a:pPr marL="0" indent="0" algn="ctr">
              <a:buNone/>
            </a:pPr>
            <a:r>
              <a:rPr lang="en-US" sz="1200" b="1" dirty="0" err="1"/>
              <a:t>Gahyun</a:t>
            </a:r>
            <a:r>
              <a:rPr lang="en-US" sz="1200" b="1" dirty="0"/>
              <a:t> Baek</a:t>
            </a:r>
          </a:p>
        </p:txBody>
      </p:sp>
    </p:spTree>
    <p:extLst>
      <p:ext uri="{BB962C8B-B14F-4D97-AF65-F5344CB8AC3E}">
        <p14:creationId xmlns:p14="http://schemas.microsoft.com/office/powerpoint/2010/main" val="745840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8A512-DC3A-3E42-64B2-21E0DA421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900E2D5-717B-AED7-D48F-2180523A57FE}"/>
              </a:ext>
            </a:extLst>
          </p:cNvPr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F0E7848-E16D-D4B2-50F1-AC7026C30F68}"/>
              </a:ext>
            </a:extLst>
          </p:cNvPr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307EEE-737F-777E-3FE6-7A33D7E01025}"/>
              </a:ext>
            </a:extLst>
          </p:cNvPr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86022C9F-4E48-C31C-86A8-95912369DAF2}"/>
              </a:ext>
            </a:extLst>
          </p:cNvPr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03</a:t>
            </a:r>
            <a:endParaRPr lang="en-US" sz="7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B50FB2F-17B5-CA69-A7E9-1ABB120F9E3C}"/>
              </a:ext>
            </a:extLst>
          </p:cNvPr>
          <p:cNvSpPr/>
          <p:nvPr/>
        </p:nvSpPr>
        <p:spPr>
          <a:xfrm>
            <a:off x="594360" y="67665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B1F33"/>
                </a:solidFill>
              </a:rPr>
              <a:t>JBShield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5B47F2E-4D3E-6C74-0379-8018FE904CC3}"/>
              </a:ext>
            </a:extLst>
          </p:cNvPr>
          <p:cNvSpPr/>
          <p:nvPr/>
        </p:nvSpPr>
        <p:spPr>
          <a:xfrm>
            <a:off x="685799" y="1618488"/>
            <a:ext cx="8529763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altLang="ko-KR" sz="1820" dirty="0">
                <a:solidFill>
                  <a:srgbClr val="111827"/>
                </a:solidFill>
              </a:rPr>
              <a:t>• Jailbreak attack: prompt designed to bypass the safety guardrails of an aligned LLM.</a:t>
            </a:r>
          </a:p>
          <a:p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Jailbreaks activate </a:t>
            </a:r>
            <a:r>
              <a:rPr lang="en-US" sz="1820" b="1" dirty="0">
                <a:solidFill>
                  <a:srgbClr val="111827"/>
                </a:solidFill>
              </a:rPr>
              <a:t>compliance concepts</a:t>
            </a:r>
          </a:p>
          <a:p>
            <a:pPr lvl="1"/>
            <a:r>
              <a:rPr lang="en-US" altLang="ko-KR" sz="1600" dirty="0"/>
              <a:t>not hide harmful intent, activate a specific jailbreak concept</a:t>
            </a:r>
            <a:endParaRPr lang="en-US" sz="160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Toxic semantics remain recognized</a:t>
            </a:r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820" b="1" dirty="0" err="1">
                <a:solidFill>
                  <a:srgbClr val="111827"/>
                </a:solidFill>
              </a:rPr>
              <a:t>JBShield</a:t>
            </a:r>
            <a:endParaRPr lang="en-US" sz="1820" b="1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Detection checks </a:t>
            </a:r>
            <a:r>
              <a:rPr lang="en-US" sz="1820" b="1" dirty="0">
                <a:solidFill>
                  <a:srgbClr val="111827"/>
                </a:solidFill>
              </a:rPr>
              <a:t>dual activation</a:t>
            </a:r>
            <a:r>
              <a:rPr lang="en-US" sz="1820" dirty="0">
                <a:solidFill>
                  <a:srgbClr val="111827"/>
                </a:solidFill>
              </a:rPr>
              <a:t>: toxic semantics &amp; jailbreak concept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Mitigation edits hidden states</a:t>
            </a:r>
            <a:endParaRPr lang="en-US" sz="1820" dirty="0"/>
          </a:p>
        </p:txBody>
      </p:sp>
    </p:spTree>
    <p:extLst>
      <p:ext uri="{BB962C8B-B14F-4D97-AF65-F5344CB8AC3E}">
        <p14:creationId xmlns:p14="http://schemas.microsoft.com/office/powerpoint/2010/main" val="37212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Introduction &amp; Research Gap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Aligned LLMs Still Obey Jailbreaks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799" y="1618488"/>
            <a:ext cx="5339244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Safety alignment refuses harmful prompts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Jailbreaks reframe unsafe requests</a:t>
            </a:r>
            <a:endParaRPr lang="en-US" sz="1820" dirty="0"/>
          </a:p>
          <a:p>
            <a:r>
              <a:rPr lang="en-US" sz="1820" dirty="0">
                <a:solidFill>
                  <a:srgbClr val="111827"/>
                </a:solidFill>
              </a:rPr>
              <a:t>=&gt; </a:t>
            </a:r>
            <a:r>
              <a:rPr lang="en-US" altLang="ko-KR" dirty="0"/>
              <a:t>the same unsafe intent can lead to different model behavior depending on how the prompt is written.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6537960" y="5165107"/>
            <a:ext cx="4297680" cy="438912"/>
          </a:xfrm>
          <a:prstGeom prst="rect">
            <a:avLst/>
          </a:prstGeom>
          <a:solidFill>
            <a:srgbClr val="FFF7ED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Same unsafe request, different behavior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A157E27-164C-F1CD-7975-9929DE812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958" y="1473437"/>
            <a:ext cx="5034953" cy="32648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Introduction &amp; Research Gap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05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5049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Prior Defenses Miss Causal Mechanisms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Input filters catch surface cues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Output filters stop interactions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Prompt defenses add tokens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Fine-tuning increases deployment cost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Mechanisms remain underexplained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400800" y="1234440"/>
            <a:ext cx="164592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Detection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0" y="1234440"/>
            <a:ext cx="164592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Mitigation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64008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89320" y="2148840"/>
            <a:ext cx="2468880" cy="438912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Flags attacks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41080" y="2148840"/>
            <a:ext cx="2148840" cy="438912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Forces safety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12280" y="3154680"/>
            <a:ext cx="32918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But why does jailbreak work?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4251960"/>
            <a:ext cx="429768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JBShield: analyze concepts directly</a:t>
            </a:r>
            <a:endParaRPr lang="en-US" sz="15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9FD022-B5AE-D79E-4C48-203C2C215CCF}"/>
              </a:ext>
            </a:extLst>
          </p:cNvPr>
          <p:cNvSpPr txBox="1"/>
          <p:nvPr/>
        </p:nvSpPr>
        <p:spPr>
          <a:xfrm>
            <a:off x="594360" y="5639491"/>
            <a:ext cx="10972800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50" b="1" dirty="0" err="1"/>
              <a:t>JBShield</a:t>
            </a:r>
            <a:r>
              <a:rPr lang="en-US" altLang="ko-KR" sz="2250" dirty="0"/>
              <a:t> tries to solve this by analyzing the </a:t>
            </a:r>
            <a:r>
              <a:rPr lang="en-US" altLang="ko-KR" sz="2250" b="1" dirty="0"/>
              <a:t>model’s internal representations</a:t>
            </a:r>
            <a:r>
              <a:rPr lang="en-US" altLang="ko-KR" sz="2250" dirty="0"/>
              <a:t> directly.</a:t>
            </a:r>
            <a:endParaRPr lang="ko-KR" alt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Introduction &amp; Research Gap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Research Questions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377727" y="1452040"/>
            <a:ext cx="7436545" cy="857249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RQ1: Can aligned LLMs recognize the toxic semantics in jailbreak prompts ?</a:t>
            </a:r>
            <a:endParaRPr lang="en-US" sz="1500" b="1" dirty="0"/>
          </a:p>
        </p:txBody>
      </p:sp>
      <p:sp>
        <p:nvSpPr>
          <p:cNvPr id="12" name="Text 10"/>
          <p:cNvSpPr/>
          <p:nvPr/>
        </p:nvSpPr>
        <p:spPr>
          <a:xfrm>
            <a:off x="2377727" y="2640760"/>
            <a:ext cx="7436545" cy="857249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RQ2: How do jailbreaks change the outputs of LLMs from rejecting to complying ?</a:t>
            </a:r>
            <a:endParaRPr lang="en-US" sz="1500" b="1" dirty="0"/>
          </a:p>
        </p:txBody>
      </p:sp>
      <p:sp>
        <p:nvSpPr>
          <p:cNvPr id="13" name="Shape 11"/>
          <p:cNvSpPr/>
          <p:nvPr/>
        </p:nvSpPr>
        <p:spPr>
          <a:xfrm>
            <a:off x="6080760" y="3646456"/>
            <a:ext cx="0" cy="68580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4179493" y="4453414"/>
            <a:ext cx="3802533" cy="64008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Defense mechanism of jailbreak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87782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Linear Representations Enable Concept Analysis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1472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LRH maps concepts to subspaces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Hidden states encode semantics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Difference vectors isolate concepts</a:t>
            </a: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Tokens interpret extracted directions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446520" y="1417320"/>
            <a:ext cx="109728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Benign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418320" y="1417320"/>
            <a:ext cx="109728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</a:rPr>
              <a:t>Harmful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1627632"/>
            <a:ext cx="1600200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749540" y="1351597"/>
            <a:ext cx="146304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DC2626"/>
                </a:solidFill>
              </a:rPr>
              <a:t>toxic direction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880360"/>
            <a:ext cx="109728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</a:rPr>
              <a:t>Harmful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418320" y="2880360"/>
            <a:ext cx="109728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97316"/>
                </a:solidFill>
              </a:rPr>
              <a:t>Jailbreak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80960" y="3090672"/>
            <a:ext cx="1600200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635240" y="2788920"/>
            <a:ext cx="1645920" cy="2286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jailbreak direction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29400" y="4343400"/>
            <a:ext cx="3840480" cy="59436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Subspace = interpretable concept</a:t>
            </a:r>
            <a:endParaRPr lang="en-US" sz="15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BC99C8-B0A5-81B1-4EBD-DAF2A9231354}"/>
              </a:ext>
            </a:extLst>
          </p:cNvPr>
          <p:cNvSpPr txBox="1"/>
          <p:nvPr/>
        </p:nvSpPr>
        <p:spPr>
          <a:xfrm>
            <a:off x="594359" y="5572125"/>
            <a:ext cx="10735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LRH: </a:t>
            </a:r>
            <a:r>
              <a:rPr lang="en-US" altLang="ko-KR" sz="1600" dirty="0"/>
              <a:t>stating high-level concepts can be represented as directions or subspaces in hidden representations.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25887670-5AB6-9EAB-BDCD-8100A9ADC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875108"/>
            <a:ext cx="5092700" cy="393700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3189A00-E0DB-52E9-C890-75FB5BCEB8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79" y="6232144"/>
            <a:ext cx="47244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5D77-9088-B883-1C5D-E951DDC85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">
            <a:extLst>
              <a:ext uri="{FF2B5EF4-FFF2-40B4-BE49-F238E27FC236}">
                <a16:creationId xmlns:a16="http://schemas.microsoft.com/office/drawing/2014/main" id="{1FDC7DEF-18B8-8BF6-B55C-9F12F99C3923}"/>
              </a:ext>
            </a:extLst>
          </p:cNvPr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5B5AB3B2-EF22-7307-A0E5-A4133CB778A1}"/>
              </a:ext>
            </a:extLst>
          </p:cNvPr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EA00785A-92D3-FFC4-3056-BBFF8022D2E0}"/>
              </a:ext>
            </a:extLst>
          </p:cNvPr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81CEF123-4D12-0C24-647E-C74F64B840E3}"/>
              </a:ext>
            </a:extLst>
          </p:cNvPr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08</a:t>
            </a:r>
            <a:endParaRPr lang="en-US" sz="72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ECAE1CF4-2DEF-0B35-983B-C9A57D04DDD8}"/>
              </a:ext>
            </a:extLst>
          </p:cNvPr>
          <p:cNvSpPr/>
          <p:nvPr/>
        </p:nvSpPr>
        <p:spPr>
          <a:xfrm>
            <a:off x="594360" y="676656"/>
            <a:ext cx="7444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JBShield Separates Two Activated Concepts</a:t>
            </a:r>
            <a:endParaRPr lang="en-US" sz="24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E639E987-1E3F-7D21-88E9-7AED9CC6AC96}"/>
              </a:ext>
            </a:extLst>
          </p:cNvPr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</a:t>
            </a:r>
            <a:r>
              <a:rPr lang="en-US" sz="1820" b="1" dirty="0">
                <a:solidFill>
                  <a:srgbClr val="111827"/>
                </a:solidFill>
              </a:rPr>
              <a:t>Toxic concept: </a:t>
            </a:r>
            <a:r>
              <a:rPr lang="en-US" sz="1820" dirty="0">
                <a:solidFill>
                  <a:srgbClr val="111827"/>
                </a:solidFill>
              </a:rPr>
              <a:t>harmfulness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</a:t>
            </a:r>
            <a:r>
              <a:rPr lang="en-US" sz="1820" b="1" dirty="0">
                <a:solidFill>
                  <a:srgbClr val="111827"/>
                </a:solidFill>
              </a:rPr>
              <a:t>Jailbreak concept: </a:t>
            </a:r>
            <a:r>
              <a:rPr lang="en-US" sz="1820" dirty="0">
                <a:solidFill>
                  <a:srgbClr val="111827"/>
                </a:solidFill>
              </a:rPr>
              <a:t>compliance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Harmful prompts activate toxic only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Jailbreaks activate both concepts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Defense manipulates both directions</a:t>
            </a:r>
            <a:endParaRPr lang="en-US" sz="182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0907303E-F1C2-696C-D200-D308769792FB}"/>
              </a:ext>
            </a:extLst>
          </p:cNvPr>
          <p:cNvSpPr/>
          <p:nvPr/>
        </p:nvSpPr>
        <p:spPr>
          <a:xfrm flipV="1">
            <a:off x="3733800" y="4902200"/>
            <a:ext cx="1625600" cy="0"/>
          </a:xfrm>
          <a:prstGeom prst="line">
            <a:avLst/>
          </a:prstGeom>
          <a:noFill/>
          <a:ln w="1524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C98DDEB5-3E4A-980C-DE42-3108E2069F0C}"/>
              </a:ext>
            </a:extLst>
          </p:cNvPr>
          <p:cNvSpPr/>
          <p:nvPr/>
        </p:nvSpPr>
        <p:spPr>
          <a:xfrm>
            <a:off x="7437247" y="4920149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Jailbreak concept</a:t>
            </a:r>
            <a:endParaRPr lang="en-US" sz="9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5161AFBD-90DA-FC6E-7D2F-C2D3C21C39DB}"/>
              </a:ext>
            </a:extLst>
          </p:cNvPr>
          <p:cNvSpPr/>
          <p:nvPr/>
        </p:nvSpPr>
        <p:spPr>
          <a:xfrm>
            <a:off x="4191127" y="4920149"/>
            <a:ext cx="7198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Toxic concept</a:t>
            </a:r>
            <a:endParaRPr lang="en-US" sz="90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D743EC8C-C24A-BC5B-A6D9-64F9ECBC5FDD}"/>
              </a:ext>
            </a:extLst>
          </p:cNvPr>
          <p:cNvSpPr/>
          <p:nvPr/>
        </p:nvSpPr>
        <p:spPr>
          <a:xfrm>
            <a:off x="2484120" y="4728125"/>
            <a:ext cx="10058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Benign</a:t>
            </a:r>
            <a:endParaRPr lang="en-US" sz="15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BA794E78-80DB-2D98-4E5A-74AE85B93BDC}"/>
              </a:ext>
            </a:extLst>
          </p:cNvPr>
          <p:cNvSpPr/>
          <p:nvPr/>
        </p:nvSpPr>
        <p:spPr>
          <a:xfrm>
            <a:off x="5764530" y="4728125"/>
            <a:ext cx="1143000" cy="38404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DC2626"/>
                </a:solidFill>
              </a:rPr>
              <a:t>Harmful</a:t>
            </a:r>
            <a:endParaRPr lang="en-US" sz="1500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8ED828E3-FBAF-D10D-B567-FDC69FC3CDFD}"/>
              </a:ext>
            </a:extLst>
          </p:cNvPr>
          <p:cNvSpPr/>
          <p:nvPr/>
        </p:nvSpPr>
        <p:spPr>
          <a:xfrm>
            <a:off x="9029700" y="4728125"/>
            <a:ext cx="1234440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F97316"/>
                </a:solidFill>
              </a:rPr>
              <a:t>Jailbreak</a:t>
            </a:r>
            <a:endParaRPr lang="en-US" sz="15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EDA0332E-EF2E-B4E3-5423-8720A8434D85}"/>
              </a:ext>
            </a:extLst>
          </p:cNvPr>
          <p:cNvSpPr/>
          <p:nvPr/>
        </p:nvSpPr>
        <p:spPr>
          <a:xfrm>
            <a:off x="7191501" y="4902200"/>
            <a:ext cx="1485773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87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10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5539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RQ1: LLMs Recognize Hidden Toxicity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99" y="1618488"/>
            <a:ext cx="5539737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altLang="ko-KR" b="1" dirty="0"/>
              <a:t>LLMs can recognize toxic semantics in jailbreak prompts</a:t>
            </a:r>
          </a:p>
          <a:p>
            <a:endParaRPr lang="en-US" altLang="ko-KR" b="1" dirty="0"/>
          </a:p>
          <a:p>
            <a:r>
              <a:rPr lang="en-US" altLang="ko-KR" sz="1820" dirty="0">
                <a:solidFill>
                  <a:srgbClr val="111827"/>
                </a:solidFill>
              </a:rPr>
              <a:t>• </a:t>
            </a:r>
            <a:r>
              <a:rPr lang="en-US" sz="1820" dirty="0">
                <a:solidFill>
                  <a:srgbClr val="111827"/>
                </a:solidFill>
              </a:rPr>
              <a:t>Harmful prompts yield warning tokens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Jailbreaks yield similar toxicity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Safety signal still exists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6446520" y="4709160"/>
            <a:ext cx="4023360" cy="54864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Jailbreaks do not completely hide harmfulness from the model</a:t>
            </a: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79649DEC-812E-B103-8BD2-D793FE7ACEC9}"/>
              </a:ext>
            </a:extLst>
          </p:cNvPr>
          <p:cNvSpPr/>
          <p:nvPr/>
        </p:nvSpPr>
        <p:spPr>
          <a:xfrm>
            <a:off x="6309360" y="1207008"/>
            <a:ext cx="2011680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Harmful toxic tokens</a:t>
            </a:r>
            <a:endParaRPr lang="en-US" sz="15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21D890E-FD40-9BA3-89F6-9A8881DF2961}"/>
              </a:ext>
            </a:extLst>
          </p:cNvPr>
          <p:cNvSpPr/>
          <p:nvPr/>
        </p:nvSpPr>
        <p:spPr>
          <a:xfrm>
            <a:off x="6309360" y="1801368"/>
            <a:ext cx="4206240" cy="411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3"/>
                </a:solidFill>
              </a:rPr>
              <a:t>caution · warning · disclaimer · ethical</a:t>
            </a:r>
            <a:endParaRPr lang="en-US" sz="13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B8A3B9E6-2FDA-3107-F9A3-9E813A4C374A}"/>
              </a:ext>
            </a:extLst>
          </p:cNvPr>
          <p:cNvSpPr/>
          <p:nvPr/>
        </p:nvSpPr>
        <p:spPr>
          <a:xfrm>
            <a:off x="6309360" y="2715768"/>
            <a:ext cx="20574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Jailbreak toxic tokens</a:t>
            </a:r>
            <a:endParaRPr lang="en-US" sz="15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AC7752EA-3E28-833D-C70E-CA14717907A9}"/>
              </a:ext>
            </a:extLst>
          </p:cNvPr>
          <p:cNvSpPr/>
          <p:nvPr/>
        </p:nvSpPr>
        <p:spPr>
          <a:xfrm>
            <a:off x="6309360" y="3310128"/>
            <a:ext cx="4206240" cy="411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B1F33"/>
                </a:solidFill>
              </a:rPr>
              <a:t>sorry · decode · translate · caution</a:t>
            </a:r>
            <a:endParaRPr lang="en-US" sz="13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EC943DF2-9052-3511-0019-CBCA0E4C8405}"/>
              </a:ext>
            </a:extLst>
          </p:cNvPr>
          <p:cNvSpPr/>
          <p:nvPr/>
        </p:nvSpPr>
        <p:spPr>
          <a:xfrm>
            <a:off x="8412480" y="2258568"/>
            <a:ext cx="0" cy="41148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65134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RQ2: Jailbreaks Add Compliance Pressure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99" y="1435608"/>
            <a:ext cx="5242561" cy="164075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11827"/>
                </a:solidFill>
              </a:rPr>
              <a:t>Jailbreak prompts add another concept</a:t>
            </a:r>
          </a:p>
          <a:p>
            <a:pPr marL="0" indent="0">
              <a:buNone/>
            </a:pPr>
            <a:endParaRPr lang="en-US" sz="1820" b="1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Tokens include sure and yes</a:t>
            </a: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</a:t>
            </a:r>
            <a:r>
              <a:rPr lang="en-US" altLang="ko-KR" dirty="0"/>
              <a:t>ailbreaks work by adding pressure toward cooperation, role-play, or decoding, which competes with the refusal behavior.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263640" y="1325880"/>
            <a:ext cx="1371600" cy="41148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Affirmation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09560" y="1325880"/>
            <a:ext cx="2423160" cy="411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sure · yes · understood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63640" y="2331720"/>
            <a:ext cx="1371600" cy="411480"/>
          </a:xfrm>
          <a:prstGeom prst="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Persona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909560" y="2331720"/>
            <a:ext cx="2423160" cy="411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character · role · imagined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63640" y="3337560"/>
            <a:ext cx="137160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Encoding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909560" y="3337560"/>
            <a:ext cx="2423160" cy="411480"/>
          </a:xfrm>
          <a:prstGeom prst="rect">
            <a:avLst/>
          </a:prstGeom>
          <a:noFill/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0B1F33"/>
                </a:solidFill>
              </a:rPr>
              <a:t>decode · translate · base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83680" y="4663440"/>
            <a:ext cx="3703320" cy="566928"/>
          </a:xfrm>
          <a:prstGeom prst="rect">
            <a:avLst/>
          </a:prstGeom>
          <a:solidFill>
            <a:srgbClr val="FEFCE8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Compliance concept competes with refusal</a:t>
            </a:r>
            <a:endParaRPr lang="en-US" sz="14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F244444-8CB9-76DD-3D6C-21A78D2DC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017" y="3259241"/>
            <a:ext cx="3274343" cy="34341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12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56201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Mechanism Explains Refusal Failure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600075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Toxic signal triggers refusal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Jailbreak concept pushes compliance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Compliance can dominate toxicity</a:t>
            </a:r>
            <a:endParaRPr lang="en-US" sz="1820" dirty="0"/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</a:t>
            </a:r>
            <a:r>
              <a:rPr lang="en-US" sz="1820" b="1" dirty="0">
                <a:solidFill>
                  <a:srgbClr val="111827"/>
                </a:solidFill>
              </a:rPr>
              <a:t>Defense should detect both toxic &amp; jailbreak concepts</a:t>
            </a:r>
            <a:endParaRPr lang="en-US" sz="1820" b="1" dirty="0"/>
          </a:p>
        </p:txBody>
      </p:sp>
      <p:sp>
        <p:nvSpPr>
          <p:cNvPr id="9" name="Text 7"/>
          <p:cNvSpPr/>
          <p:nvPr/>
        </p:nvSpPr>
        <p:spPr>
          <a:xfrm>
            <a:off x="7097877" y="2263140"/>
            <a:ext cx="1371600" cy="457200"/>
          </a:xfrm>
          <a:prstGeom prst="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Refuse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42220" y="2263140"/>
            <a:ext cx="155448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Comply with it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277350" y="3040380"/>
            <a:ext cx="0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4270" y="4274820"/>
            <a:ext cx="356616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JBShield shifts balance back</a:t>
            </a:r>
            <a:endParaRPr 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DE31FAA-F50E-DC23-9089-39EA899B6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037" y="22631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355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JBShield Combines Detection and Mitigation</a:t>
            </a:r>
            <a:endParaRPr lang="en-US" sz="2550" dirty="0"/>
          </a:p>
        </p:txBody>
      </p:sp>
      <p:sp>
        <p:nvSpPr>
          <p:cNvPr id="10" name="Text 7"/>
          <p:cNvSpPr/>
          <p:nvPr/>
        </p:nvSpPr>
        <p:spPr>
          <a:xfrm>
            <a:off x="4377146" y="5758711"/>
            <a:ext cx="3611880" cy="530352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JBSHIELD-D + JBSHIELD-M</a:t>
            </a:r>
            <a:endParaRPr lang="en-US" sz="14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1E15A5E-B537-CCCD-55F0-5A4AF7878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382" y="2999043"/>
            <a:ext cx="9107408" cy="2606396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534BCA15-A2D9-68DC-0149-79D24ED61A6D}"/>
              </a:ext>
            </a:extLst>
          </p:cNvPr>
          <p:cNvSpPr/>
          <p:nvPr/>
        </p:nvSpPr>
        <p:spPr>
          <a:xfrm>
            <a:off x="685799" y="1618488"/>
            <a:ext cx="10191997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20" b="1" dirty="0">
                <a:solidFill>
                  <a:srgbClr val="111827"/>
                </a:solidFill>
              </a:rPr>
              <a:t>• </a:t>
            </a:r>
            <a:r>
              <a:rPr lang="en-US" altLang="ko-KR" b="1" dirty="0" err="1"/>
              <a:t>JBShield</a:t>
            </a:r>
            <a:r>
              <a:rPr lang="en-US" altLang="ko-KR" b="1" dirty="0"/>
              <a:t>-D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en-US" altLang="ko-KR" sz="1700" dirty="0"/>
              <a:t>detecting by checking whether both the toxic concept and the jailbreak concept are activated.</a:t>
            </a:r>
            <a:endParaRPr lang="en-US" sz="1700" dirty="0"/>
          </a:p>
          <a:p>
            <a:r>
              <a:rPr lang="en-US" sz="1820" b="1" dirty="0">
                <a:solidFill>
                  <a:srgbClr val="111827"/>
                </a:solidFill>
              </a:rPr>
              <a:t>• </a:t>
            </a:r>
            <a:r>
              <a:rPr lang="en-US" altLang="ko-KR" b="1" dirty="0" err="1"/>
              <a:t>JBShield</a:t>
            </a:r>
            <a:r>
              <a:rPr lang="en-US" altLang="ko-KR" b="1" dirty="0"/>
              <a:t>-M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en-US" altLang="ko-KR" sz="1700" dirty="0"/>
              <a:t>mitigation by editing hidden states during generation.</a:t>
            </a:r>
            <a:endParaRPr lang="en-US" sz="17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E33E00-74E7-27AF-56BE-015D72D3C8BE}"/>
              </a:ext>
            </a:extLst>
          </p:cNvPr>
          <p:cNvSpPr/>
          <p:nvPr/>
        </p:nvSpPr>
        <p:spPr>
          <a:xfrm>
            <a:off x="4163885" y="3050413"/>
            <a:ext cx="587496" cy="19622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C439A3-6E30-2D40-D917-E28DE04CC29E}"/>
              </a:ext>
            </a:extLst>
          </p:cNvPr>
          <p:cNvSpPr/>
          <p:nvPr/>
        </p:nvSpPr>
        <p:spPr>
          <a:xfrm>
            <a:off x="4412538" y="4720980"/>
            <a:ext cx="491971" cy="157278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6827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JBShield-D Finds Critical Concept Layers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Compute layerwise embedding gaps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Select minimum cosine layer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Separate toxic and jailbreak layers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Calibrate anchor representations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Store concept subspaces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20624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L1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59168" y="2011680"/>
            <a:ext cx="420624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L2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17536" y="2011680"/>
            <a:ext cx="420624" cy="41148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</a:rPr>
              <a:t>L3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375904" y="2011680"/>
            <a:ext cx="420624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L4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34272" y="2011680"/>
            <a:ext cx="420624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L5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92640" y="2011680"/>
            <a:ext cx="420624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</a:rPr>
              <a:t>L6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01968" y="2651760"/>
            <a:ext cx="1316736" cy="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6601968" y="3291840"/>
            <a:ext cx="2633472" cy="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7360920" y="2788920"/>
                <a:ext cx="1325880" cy="329184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DC2626"/>
                    </a:solidFill>
                  </a:rPr>
                  <a:t>Toxic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dirty="0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sz="1000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0920" y="2788920"/>
                <a:ext cx="1325880" cy="3291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 16"/>
              <p:cNvSpPr/>
              <p:nvPr/>
            </p:nvSpPr>
            <p:spPr>
              <a:xfrm>
                <a:off x="8138160" y="3429000"/>
                <a:ext cx="1600200" cy="329184"/>
              </a:xfrm>
              <a:prstGeom prst="rect">
                <a:avLst/>
              </a:prstGeom>
              <a:noFill/>
              <a:ln/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F97316"/>
                    </a:solidFill>
                  </a:rPr>
                  <a:t>Jailbreak layer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000" i="1" dirty="0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000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altLang="ko-KR" sz="1000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000" dirty="0"/>
              </a:p>
            </p:txBody>
          </p:sp>
        </mc:Choice>
        <mc:Fallback xmlns=""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8160" y="3429000"/>
                <a:ext cx="1600200" cy="3291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6629400" y="4617720"/>
            <a:ext cx="4114800" cy="566928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Anchor vectors from 90 prompts</a:t>
            </a:r>
            <a:endParaRPr lang="en-US" sz="15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86B54062-BA67-032F-CE94-AAC52C4830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38" r="47609"/>
          <a:stretch>
            <a:fillRect/>
          </a:stretch>
        </p:blipFill>
        <p:spPr>
          <a:xfrm>
            <a:off x="685800" y="3332454"/>
            <a:ext cx="4722471" cy="2606396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DFDAE2AD-8F6E-5A86-1990-2C58A69AEABE}"/>
              </a:ext>
            </a:extLst>
          </p:cNvPr>
          <p:cNvSpPr/>
          <p:nvPr/>
        </p:nvSpPr>
        <p:spPr>
          <a:xfrm>
            <a:off x="1979271" y="3935392"/>
            <a:ext cx="1906929" cy="1185070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451E22-66A1-807D-8E25-87B0F5C7E0A0}"/>
              </a:ext>
            </a:extLst>
          </p:cNvPr>
          <p:cNvSpPr txBox="1"/>
          <p:nvPr/>
        </p:nvSpPr>
        <p:spPr>
          <a:xfrm>
            <a:off x="594359" y="6043025"/>
            <a:ext cx="100196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200" dirty="0"/>
              <a:t>*calibration: using a small set of benign, harmful, and jailbreak prompts to set the internal reference points for detection and mitigation</a:t>
            </a:r>
            <a:endParaRPr kumimoji="1" lang="ko-KR" alt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15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66658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B1F33"/>
                </a:solidFill>
              </a:rPr>
              <a:t>Detection Requires Both Concepts Activated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Extract test toxic direction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Compare with </a:t>
            </a:r>
            <a:r>
              <a:rPr lang="en-US" sz="1820" b="1" dirty="0">
                <a:solidFill>
                  <a:srgbClr val="111827"/>
                </a:solidFill>
              </a:rPr>
              <a:t>toxic anchor</a:t>
            </a:r>
            <a:endParaRPr lang="en-US" sz="1820" b="1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Extract jailbreak direction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Compare with </a:t>
            </a:r>
            <a:r>
              <a:rPr lang="en-US" sz="1820" b="1" dirty="0">
                <a:solidFill>
                  <a:srgbClr val="111827"/>
                </a:solidFill>
              </a:rPr>
              <a:t>jailbreak anchor</a:t>
            </a:r>
            <a:endParaRPr lang="en-US" sz="1820" b="1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Flag when both exceed thresholds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349698" y="2346959"/>
            <a:ext cx="123444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Input x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V="1">
            <a:off x="7584139" y="1874519"/>
            <a:ext cx="594360" cy="701038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178501" y="1645919"/>
            <a:ext cx="1554480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</a:rPr>
              <a:t>Toxic score 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32981" y="1874519"/>
            <a:ext cx="59436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0373061" y="1645919"/>
                <a:ext cx="914400" cy="457200"/>
              </a:xfrm>
              <a:prstGeom prst="rect">
                <a:avLst/>
              </a:prstGeom>
              <a:noFill/>
              <a:ln w="12700">
                <a:solidFill>
                  <a:srgbClr val="DC2626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DC2626"/>
                    </a:solidFill>
                  </a:rPr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061" y="1645919"/>
                <a:ext cx="914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C262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7584140" y="2575557"/>
            <a:ext cx="594360" cy="701041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178501" y="3017519"/>
            <a:ext cx="1737360" cy="4572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Jailbreak score sj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961581" y="3246119"/>
            <a:ext cx="365760" cy="0"/>
          </a:xfrm>
          <a:prstGeom prst="line">
            <a:avLst/>
          </a:prstGeom>
          <a:noFill/>
          <a:ln w="1778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10373061" y="3017519"/>
                <a:ext cx="914400" cy="457200"/>
              </a:xfrm>
              <a:prstGeom prst="rect">
                <a:avLst/>
              </a:prstGeom>
              <a:noFill/>
              <a:ln w="12700">
                <a:solidFill>
                  <a:srgbClr val="F97316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F97316"/>
                    </a:solidFill>
                  </a:rPr>
                  <a:t>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sz="15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3061" y="3017519"/>
                <a:ext cx="9144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9731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7081221" y="4571999"/>
            <a:ext cx="3657600" cy="621792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Jailbreak = toxic &amp;&amp; jailbreak</a:t>
            </a:r>
            <a:endParaRPr lang="en-US" sz="15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D66000C8-C2CB-1EBC-F090-03E8DBCFD7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312" y="3575613"/>
            <a:ext cx="4325418" cy="84398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1AE26440-BBBB-9AB6-15DE-A37E76BFF6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38" r="47609"/>
          <a:stretch>
            <a:fillRect/>
          </a:stretch>
        </p:blipFill>
        <p:spPr>
          <a:xfrm>
            <a:off x="685800" y="3332454"/>
            <a:ext cx="4722471" cy="2606396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B2837AFA-4972-30CF-1B9D-2C02D9AEC740}"/>
              </a:ext>
            </a:extLst>
          </p:cNvPr>
          <p:cNvSpPr/>
          <p:nvPr/>
        </p:nvSpPr>
        <p:spPr>
          <a:xfrm>
            <a:off x="3777438" y="3469225"/>
            <a:ext cx="1318997" cy="2151645"/>
          </a:xfrm>
          <a:prstGeom prst="rect">
            <a:avLst/>
          </a:prstGeom>
          <a:noFill/>
          <a:ln w="571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16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70849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JBShield-M Edits Representations Directly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Enhancing the toxic concept </a:t>
            </a:r>
          </a:p>
          <a:p>
            <a:pPr lvl="1"/>
            <a:r>
              <a:rPr lang="en-US" altLang="ko-KR" sz="1400" dirty="0">
                <a:solidFill>
                  <a:srgbClr val="111827"/>
                </a:solidFill>
              </a:rPr>
              <a:t>• </a:t>
            </a:r>
            <a:r>
              <a:rPr lang="en-US" sz="1400" dirty="0">
                <a:solidFill>
                  <a:srgbClr val="111827"/>
                </a:solidFill>
              </a:rPr>
              <a:t>Add toxic concept vector</a:t>
            </a:r>
            <a:endParaRPr lang="en-US" sz="140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Weaking the jailbreak concept</a:t>
            </a:r>
          </a:p>
          <a:p>
            <a:pPr lvl="1"/>
            <a:r>
              <a:rPr lang="en-US" altLang="ko-KR" sz="1400" dirty="0">
                <a:solidFill>
                  <a:srgbClr val="111827"/>
                </a:solidFill>
              </a:rPr>
              <a:t>• </a:t>
            </a:r>
            <a:r>
              <a:rPr lang="en-US" sz="1400" dirty="0">
                <a:solidFill>
                  <a:srgbClr val="111827"/>
                </a:solidFill>
              </a:rPr>
              <a:t>Subtract jailbreak concept vector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Scale from calibration projections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Preserve normal functionality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Generate safe content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309360" y="1417320"/>
            <a:ext cx="22860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7316"/>
                </a:solidFill>
              </a:rPr>
              <a:t>Detected jailbreak state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641080" y="1664208"/>
            <a:ext cx="73152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9418320" y="1417320"/>
            <a:ext cx="1920240" cy="50292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Safe response state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6629400" y="2697480"/>
                <a:ext cx="1417320" cy="438912"/>
              </a:xfrm>
              <a:prstGeom prst="rect">
                <a:avLst/>
              </a:prstGeom>
              <a:solidFill>
                <a:srgbClr val="FEF2F2"/>
              </a:solidFill>
              <a:ln w="12700">
                <a:solidFill>
                  <a:srgbClr val="DC2626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DC2626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DC2626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DC2626"/>
                    </a:solidFill>
                  </a:rPr>
                  <a:t>· toxic</a:t>
                </a:r>
                <a:endParaRPr lang="en-US" sz="1500" dirty="0"/>
              </a:p>
            </p:txBody>
          </p:sp>
        </mc:Choice>
        <mc:Fallback xmlns=""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2697480"/>
                <a:ext cx="1417320" cy="438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DC262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9486900" y="2697480"/>
                <a:ext cx="1783080" cy="438912"/>
              </a:xfrm>
              <a:prstGeom prst="rect">
                <a:avLst/>
              </a:prstGeom>
              <a:solidFill>
                <a:srgbClr val="FFF7ED"/>
              </a:solidFill>
              <a:ln w="12700">
                <a:solidFill>
                  <a:srgbClr val="F97316"/>
                </a:solidFill>
              </a:ln>
            </p:spPr>
            <p:txBody>
              <a:bodyPr wrap="square" lIns="762" tIns="762" rIns="762" bIns="762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en-US" sz="1500" b="1" dirty="0">
                    <a:solidFill>
                      <a:srgbClr val="F97316"/>
                    </a:solidFill>
                  </a:rPr>
                  <a:t>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500" b="1" i="1" dirty="0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ko-KR" sz="1500" b="1" i="1" dirty="0" err="1" smtClean="0">
                            <a:solidFill>
                              <a:srgbClr val="F97316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500" b="1" dirty="0">
                    <a:solidFill>
                      <a:srgbClr val="F97316"/>
                    </a:solidFill>
                  </a:rPr>
                  <a:t>· jailbreak</a:t>
                </a:r>
                <a:endParaRPr lang="en-US" sz="15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6900" y="2697480"/>
                <a:ext cx="1783080" cy="4389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F97316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7315200" y="2011680"/>
            <a:ext cx="0" cy="640080"/>
          </a:xfrm>
          <a:prstGeom prst="line">
            <a:avLst/>
          </a:prstGeom>
          <a:noFill/>
          <a:ln w="17780">
            <a:solidFill>
              <a:srgbClr val="DC262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378440" y="2011680"/>
            <a:ext cx="0" cy="640080"/>
          </a:xfrm>
          <a:prstGeom prst="line">
            <a:avLst/>
          </a:prstGeom>
          <a:noFill/>
          <a:ln w="17780">
            <a:solidFill>
              <a:srgbClr val="F9731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720840" y="4572000"/>
            <a:ext cx="4023360" cy="548640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Concept manipulation, not fixed refusal</a:t>
            </a:r>
            <a:endParaRPr lang="en-US" sz="15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67AE3EA-613F-54CD-059D-0329F5E179C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139"/>
          <a:stretch>
            <a:fillRect/>
          </a:stretch>
        </p:blipFill>
        <p:spPr>
          <a:xfrm>
            <a:off x="971550" y="3657244"/>
            <a:ext cx="4358850" cy="2606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Key Results &amp; Data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17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59" y="676656"/>
            <a:ext cx="660230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Experiments Cover Diverse Attacks and Models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799" y="1618488"/>
            <a:ext cx="4657345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5 LLMs tested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9 jailbreak attacks evaluated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3 prompt datasets used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10 defenses compared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Metrics: F1 (detection) and ASR (mitigation)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848856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IJP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7424928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GCG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8001000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SAA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8577072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AutoDAN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9153144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PAIR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9729216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DrA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0305288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Puzz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0881360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Zulu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457432" y="19065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</a:rPr>
              <a:t>B64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6227064" y="215341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Mistral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958584" y="2116836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534656" y="2116836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8110728" y="2116836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8686800" y="2116836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9262872" y="2116836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9838944" y="2116836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0415016" y="2116836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0991088" y="2116836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11567160" y="2116836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6227064" y="2592324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Vicuna-7B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58584" y="2555748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534656" y="2555748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8110728" y="2555748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8686800" y="2555748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9262872" y="2555748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838944" y="2555748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10415016" y="2555748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991088" y="2555748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1567160" y="2555748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227064" y="3031236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Vicuna-13B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58584" y="2994660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7534656" y="2994660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110728" y="2994660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8686800" y="2994660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262872" y="2994660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838944" y="2994660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415016" y="2994660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991088" y="2994660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1567160" y="2994660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6227064" y="3470148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Llama2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58584" y="3433572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7534656" y="3433572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8110728" y="3433572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8686800" y="3433572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9262872" y="3433572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9838944" y="3433572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415016" y="3433572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0991088" y="3433572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1567160" y="3433572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227064" y="3909060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75569"/>
                </a:solidFill>
              </a:rPr>
              <a:t>Llama3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958584" y="3872484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534656" y="3872484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8110728" y="3872484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8686800" y="3872484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9262872" y="3872484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9838944" y="3872484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0415016" y="3872484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10991088" y="3872484"/>
            <a:ext cx="320040" cy="228600"/>
          </a:xfrm>
          <a:prstGeom prst="rect">
            <a:avLst/>
          </a:prstGeom>
          <a:solidFill>
            <a:srgbClr val="E0F2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11567160" y="3872484"/>
            <a:ext cx="320040" cy="228600"/>
          </a:xfrm>
          <a:prstGeom prst="rect">
            <a:avLst/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66"/>
          <p:cNvSpPr/>
          <p:nvPr/>
        </p:nvSpPr>
        <p:spPr>
          <a:xfrm>
            <a:off x="7898587" y="4480560"/>
            <a:ext cx="3291840" cy="548640"/>
          </a:xfrm>
          <a:prstGeom prst="rect">
            <a:avLst/>
          </a:prstGeom>
          <a:solidFill>
            <a:srgbClr val="F0FDFA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45 model-attack combinations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Key Results &amp; Data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6065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B1F33"/>
                </a:solidFill>
              </a:rPr>
              <a:t>JBShield</a:t>
            </a:r>
            <a:r>
              <a:rPr lang="en-US" sz="2400" b="1" dirty="0">
                <a:solidFill>
                  <a:srgbClr val="0B1F33"/>
                </a:solidFill>
              </a:rPr>
              <a:t>-D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Average accuracy: 0.95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Average F1: 0.94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</a:t>
            </a:r>
            <a:r>
              <a:rPr lang="en-US" sz="1820" dirty="0" err="1">
                <a:solidFill>
                  <a:srgbClr val="111827"/>
                </a:solidFill>
              </a:rPr>
              <a:t>LlamaGuard</a:t>
            </a:r>
            <a:r>
              <a:rPr lang="en-US" sz="1820" dirty="0">
                <a:solidFill>
                  <a:srgbClr val="111827"/>
                </a:solidFill>
              </a:rPr>
              <a:t> F1: 0.75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Works across five LLMs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7528560" y="554169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</a:rPr>
              <a:t>0.95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7345680" y="607204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Average accuracy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9768840" y="554169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766E"/>
                </a:solidFill>
              </a:rPr>
              <a:t>0.94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585960" y="607204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Average F1</a:t>
            </a:r>
            <a:endParaRPr lang="en-US" sz="92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A45E31-5460-445D-06A9-7195CF879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393" y="676656"/>
            <a:ext cx="4649205" cy="47534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Key Results &amp; Data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23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2001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B1F33"/>
                </a:solidFill>
              </a:rPr>
              <a:t>JBShield</a:t>
            </a:r>
            <a:r>
              <a:rPr lang="en-US" sz="2400" b="1" dirty="0">
                <a:solidFill>
                  <a:srgbClr val="0B1F33"/>
                </a:solidFill>
              </a:rPr>
              <a:t>-M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No-defense ASR averages: 61%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</a:t>
            </a:r>
            <a:r>
              <a:rPr lang="en-US" sz="1820" b="1" dirty="0" err="1">
                <a:solidFill>
                  <a:srgbClr val="111827"/>
                </a:solidFill>
              </a:rPr>
              <a:t>JBShield</a:t>
            </a:r>
            <a:r>
              <a:rPr lang="en-US" sz="1820" dirty="0">
                <a:solidFill>
                  <a:srgbClr val="111827"/>
                </a:solidFill>
              </a:rPr>
              <a:t> ASR: 2%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662940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</a:rPr>
              <a:t>61%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46520" y="5696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Before defense</a:t>
            </a:r>
            <a:endParaRPr lang="en-US" sz="920" dirty="0"/>
          </a:p>
        </p:txBody>
      </p:sp>
      <p:sp>
        <p:nvSpPr>
          <p:cNvPr id="12" name="Text 9"/>
          <p:cNvSpPr/>
          <p:nvPr/>
        </p:nvSpPr>
        <p:spPr>
          <a:xfrm>
            <a:off x="9189720" y="5166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</a:rPr>
              <a:t>≈2%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006840" y="56967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After JBShield</a:t>
            </a:r>
            <a:endParaRPr lang="en-US" sz="92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4300872-3F99-E32B-EF07-2C025843C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195" y="712830"/>
            <a:ext cx="4419885" cy="42710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Key Results &amp; Data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24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Utility Degrades Less Than 2%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MMLU performance largely preserved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Mitigation activates after detection</a:t>
            </a:r>
            <a:endParaRPr lang="en-US" sz="1820" dirty="0"/>
          </a:p>
          <a:p>
            <a:pPr marL="0" indent="0">
              <a:buNone/>
            </a:pPr>
            <a:r>
              <a:rPr lang="en-US" sz="1820" b="1" dirty="0">
                <a:solidFill>
                  <a:srgbClr val="111827"/>
                </a:solidFill>
              </a:rPr>
              <a:t>-&gt;Normal prompts mostly unaffected</a:t>
            </a:r>
            <a:endParaRPr lang="en-US" sz="1820" b="1" dirty="0"/>
          </a:p>
        </p:txBody>
      </p:sp>
      <p:pic>
        <p:nvPicPr>
          <p:cNvPr id="9" name="Image 0" descr="/mnt/data/jb_assets/fig4_mm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59088"/>
            <a:ext cx="5852160" cy="14195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75907" y="3623875"/>
            <a:ext cx="3977640" cy="50292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5-shot MMLU across five LLMs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75907" y="4341679"/>
            <a:ext cx="3977640" cy="502920"/>
          </a:xfrm>
          <a:prstGeom prst="rect">
            <a:avLst/>
          </a:prstGeom>
          <a:solidFill>
            <a:srgbClr val="E0F2FE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Normal-input FPR averages 2%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Conclusion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28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0B1F33"/>
                </a:solidFill>
              </a:rPr>
              <a:t>My thoughts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685800" y="1613775"/>
            <a:ext cx="4251960" cy="11671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11827"/>
                </a:solidFill>
              </a:rPr>
              <a:t>Strength</a:t>
            </a: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introducing “jailbreak concept”</a:t>
            </a:r>
          </a:p>
          <a:p>
            <a:r>
              <a:rPr lang="en-US" altLang="ko-KR" sz="1820" dirty="0">
                <a:solidFill>
                  <a:srgbClr val="111827"/>
                </a:solidFill>
              </a:rPr>
              <a:t>• less affect to the utility</a:t>
            </a:r>
            <a:endParaRPr lang="en-US" altLang="ko-KR" sz="1820" dirty="0"/>
          </a:p>
          <a:p>
            <a:endParaRPr lang="en-US" sz="1820" dirty="0"/>
          </a:p>
          <a:p>
            <a:endParaRPr lang="en-US" altLang="ko-KR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82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AF013A31-E588-4D7A-DB10-87B25652030F}"/>
              </a:ext>
            </a:extLst>
          </p:cNvPr>
          <p:cNvSpPr/>
          <p:nvPr/>
        </p:nvSpPr>
        <p:spPr>
          <a:xfrm>
            <a:off x="685799" y="3825932"/>
            <a:ext cx="6139207" cy="11671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b="1" dirty="0">
                <a:solidFill>
                  <a:srgbClr val="111827"/>
                </a:solidFill>
              </a:rPr>
              <a:t>Weakness</a:t>
            </a:r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Requiring white-box access</a:t>
            </a:r>
          </a:p>
          <a:p>
            <a:r>
              <a:rPr lang="en-US" altLang="ko-KR" sz="1820" dirty="0">
                <a:solidFill>
                  <a:srgbClr val="111827"/>
                </a:solidFill>
              </a:rPr>
              <a:t>• </a:t>
            </a:r>
            <a:r>
              <a:rPr lang="ko-KR" altLang="ko-KR" dirty="0" err="1"/>
              <a:t>JBShield</a:t>
            </a:r>
            <a:r>
              <a:rPr lang="ko-KR" altLang="ko-KR" dirty="0"/>
              <a:t> </a:t>
            </a:r>
            <a:r>
              <a:rPr lang="ko-KR" altLang="ko-KR" dirty="0" err="1"/>
              <a:t>requires</a:t>
            </a:r>
            <a:r>
              <a:rPr lang="ko-KR" altLang="ko-KR" dirty="0"/>
              <a:t> </a:t>
            </a:r>
            <a:r>
              <a:rPr lang="ko-KR" altLang="ko-KR" dirty="0" err="1"/>
              <a:t>model-specific</a:t>
            </a:r>
            <a:r>
              <a:rPr lang="ko-KR" altLang="ko-KR" dirty="0"/>
              <a:t> </a:t>
            </a:r>
            <a:r>
              <a:rPr lang="ko-KR" altLang="ko-KR" dirty="0" err="1"/>
              <a:t>calibration</a:t>
            </a:r>
            <a:r>
              <a:rPr lang="ko-KR" altLang="ko-KR" dirty="0"/>
              <a:t> </a:t>
            </a:r>
            <a:endParaRPr lang="en-US" altLang="ko-KR" dirty="0"/>
          </a:p>
          <a:p>
            <a:r>
              <a:rPr lang="en-US" altLang="ko-KR" sz="1820" dirty="0">
                <a:solidFill>
                  <a:srgbClr val="111827"/>
                </a:solidFill>
              </a:rPr>
              <a:t>• they didn’t measure other attacks like multi-turn attacks</a:t>
            </a:r>
          </a:p>
          <a:p>
            <a:pPr marL="0" indent="0">
              <a:buNone/>
            </a:pPr>
            <a:endParaRPr lang="en-US" sz="18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24FC7-7DCA-D172-27E0-B544D42E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83DAA3-2B31-1672-AECC-62FCE064A329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1FF01D-605F-6308-1061-13A751B5EE3D}"/>
              </a:ext>
            </a:extLst>
          </p:cNvPr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Conclusion</a:t>
            </a:r>
            <a:endParaRPr lang="en-US" sz="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E1DDDA-4CC9-6E56-8D3A-45A0C64657A5}"/>
              </a:ext>
            </a:extLst>
          </p:cNvPr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E7323AF-524A-2326-CFC0-28378A8E38E9}"/>
              </a:ext>
            </a:extLst>
          </p:cNvPr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1143A348-0B74-0E19-7AE2-BE8544EA1BDC}"/>
              </a:ext>
            </a:extLst>
          </p:cNvPr>
          <p:cNvSpPr/>
          <p:nvPr/>
        </p:nvSpPr>
        <p:spPr>
          <a:xfrm>
            <a:off x="630768" y="810265"/>
            <a:ext cx="10776857" cy="6790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altLang="ko-KR" sz="3800" b="1" dirty="0"/>
              <a:t>Thank you</a:t>
            </a:r>
            <a:endParaRPr lang="en-US" sz="3100" b="1" dirty="0"/>
          </a:p>
        </p:txBody>
      </p:sp>
    </p:spTree>
    <p:extLst>
      <p:ext uri="{BB962C8B-B14F-4D97-AF65-F5344CB8AC3E}">
        <p14:creationId xmlns:p14="http://schemas.microsoft.com/office/powerpoint/2010/main" val="3945576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Key Results &amp; Data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18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616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Only 30 Samples Calibrate JBShield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99" y="1618488"/>
            <a:ext cx="4672013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N=30 balances performance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Higher N may overfit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Some attacks need N=10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Calibration totals 90 prompts</a:t>
            </a:r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pPr marL="0" indent="0">
              <a:buNone/>
            </a:pPr>
            <a:endParaRPr lang="en-US" sz="1820" dirty="0">
              <a:solidFill>
                <a:srgbClr val="111827"/>
              </a:solidFill>
            </a:endParaRPr>
          </a:p>
          <a:p>
            <a:r>
              <a:rPr lang="en-US" sz="1820" dirty="0">
                <a:solidFill>
                  <a:srgbClr val="111827"/>
                </a:solidFill>
              </a:rPr>
              <a:t>* </a:t>
            </a:r>
            <a:r>
              <a:rPr lang="en-US" altLang="ko-KR" dirty="0"/>
              <a:t>Interestingly, increasing the number of samples does not always improve performance.</a:t>
            </a:r>
            <a:endParaRPr lang="en-US" sz="1820" dirty="0"/>
          </a:p>
        </p:txBody>
      </p:sp>
      <p:sp>
        <p:nvSpPr>
          <p:cNvPr id="10" name="Text 7"/>
          <p:cNvSpPr/>
          <p:nvPr/>
        </p:nvSpPr>
        <p:spPr>
          <a:xfrm>
            <a:off x="6691350" y="3616452"/>
            <a:ext cx="3749040" cy="457200"/>
          </a:xfrm>
          <a:prstGeom prst="rect">
            <a:avLst/>
          </a:prstGeom>
          <a:solidFill>
            <a:srgbClr val="ECFDF5"/>
          </a:solidFill>
          <a:ln w="15240">
            <a:solidFill>
              <a:srgbClr val="0F766E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3"/>
                </a:solidFill>
              </a:rPr>
              <a:t>Average Mistral-7B F1 by N</a:t>
            </a:r>
            <a:endParaRPr lang="en-US" sz="1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C5BA850-DF98-D591-6A00-E3E018CE4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816" y="2186260"/>
            <a:ext cx="5726109" cy="115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88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Methodology / Framework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09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801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Concept Extraction Converts Prompts Into Directions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618488"/>
            <a:ext cx="425196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Form counterfactual prompt pairs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Use last-token hidden states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Compute representation differences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Apply rank-one SVD</a:t>
            </a:r>
            <a:endParaRPr lang="en-US" sz="1820" dirty="0"/>
          </a:p>
          <a:p>
            <a:pPr marL="0" indent="0">
              <a:buNone/>
            </a:pPr>
            <a:r>
              <a:rPr lang="en-US" sz="1820" dirty="0">
                <a:solidFill>
                  <a:srgbClr val="111827"/>
                </a:solidFill>
              </a:rPr>
              <a:t>• Map direction to vocabulary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5989320" y="2148840"/>
            <a:ext cx="1325880" cy="47548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Prompt pairs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2377440"/>
            <a:ext cx="45720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863840" y="2148840"/>
            <a:ext cx="1325880" cy="475488"/>
          </a:xfrm>
          <a:prstGeom prst="rect">
            <a:avLst/>
          </a:prstGeom>
          <a:solidFill>
            <a:srgbClr val="E0F2FE"/>
          </a:solidFill>
          <a:ln w="12700">
            <a:solidFill>
              <a:srgbClr val="1D4ED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Hidden states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235440" y="2377440"/>
            <a:ext cx="45720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9738360" y="2148840"/>
            <a:ext cx="1143000" cy="47548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Difference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09726" y="3319272"/>
            <a:ext cx="1371600" cy="475488"/>
          </a:xfrm>
          <a:prstGeom prst="rect">
            <a:avLst/>
          </a:prstGeom>
          <a:solidFill>
            <a:srgbClr val="F0FDFA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Rank-1 SVD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192703" y="2697480"/>
            <a:ext cx="0" cy="54864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 flipH="1">
            <a:off x="8489624" y="3566160"/>
            <a:ext cx="594360" cy="0"/>
          </a:xfrm>
          <a:prstGeom prst="line">
            <a:avLst/>
          </a:prstGeom>
          <a:noFill/>
          <a:ln w="1778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752264" y="3325558"/>
            <a:ext cx="150876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Concept vector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4590288"/>
            <a:ext cx="44805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B1F33"/>
                </a:solidFill>
              </a:rPr>
              <a:t>Tokens: caution, sure, persona, decode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1757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BC77-B402-2FBC-7957-1319FE1B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EDA0550-887D-502E-3E6E-F316D677AB8C}"/>
              </a:ext>
            </a:extLst>
          </p:cNvPr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Conclusion</a:t>
            </a:r>
            <a:endParaRPr lang="en-US" sz="7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ABE14A2-E74A-2A8C-5467-AE060DAF1FEE}"/>
              </a:ext>
            </a:extLst>
          </p:cNvPr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F081295-B8E2-7C9C-1C2D-DA1A3A901122}"/>
              </a:ext>
            </a:extLst>
          </p:cNvPr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3E01BB-FF38-D40A-768F-0D7C464802B7}"/>
              </a:ext>
            </a:extLst>
          </p:cNvPr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27</a:t>
            </a:r>
            <a:endParaRPr lang="en-US" sz="7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E04BF96-9DFD-4F8B-3F7D-4D059CA3E39F}"/>
              </a:ext>
            </a:extLst>
          </p:cNvPr>
          <p:cNvSpPr/>
          <p:nvPr/>
        </p:nvSpPr>
        <p:spPr>
          <a:xfrm>
            <a:off x="594359" y="676656"/>
            <a:ext cx="661077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2F6E46-20B1-4C54-5D61-3E93A3272CEE}"/>
              </a:ext>
            </a:extLst>
          </p:cNvPr>
          <p:cNvSpPr/>
          <p:nvPr/>
        </p:nvSpPr>
        <p:spPr>
          <a:xfrm>
            <a:off x="685800" y="1618488"/>
            <a:ext cx="11061700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820" dirty="0">
                <a:solidFill>
                  <a:srgbClr val="111827"/>
                </a:solidFill>
              </a:rPr>
              <a:t>• Suggesting </a:t>
            </a:r>
            <a:r>
              <a:rPr lang="ko-KR" altLang="ko-KR" dirty="0" err="1"/>
              <a:t>JBShield</a:t>
            </a:r>
            <a:r>
              <a:rPr lang="en-US" altLang="ko-KR" dirty="0"/>
              <a:t> with </a:t>
            </a:r>
            <a:r>
              <a:rPr lang="en-US" altLang="ko-KR" dirty="0" err="1"/>
              <a:t>JBShield</a:t>
            </a:r>
            <a:r>
              <a:rPr lang="en-US" altLang="ko-KR" dirty="0"/>
              <a:t>-D and </a:t>
            </a:r>
            <a:r>
              <a:rPr lang="en-US" altLang="ko-KR" dirty="0" err="1"/>
              <a:t>JBShield</a:t>
            </a:r>
            <a:r>
              <a:rPr lang="en-US" altLang="ko-KR" dirty="0"/>
              <a:t>-M.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111827"/>
                </a:solidFill>
              </a:rPr>
              <a:t>•</a:t>
            </a:r>
            <a:r>
              <a:rPr lang="ko-KR" altLang="ko-KR" dirty="0"/>
              <a:t> </a:t>
            </a:r>
            <a:r>
              <a:rPr lang="en-US" altLang="ko-KR" dirty="0"/>
              <a:t>J</a:t>
            </a:r>
            <a:r>
              <a:rPr lang="ko-KR" altLang="ko-KR" dirty="0" err="1"/>
              <a:t>ailbreak</a:t>
            </a:r>
            <a:r>
              <a:rPr lang="ko-KR" altLang="ko-KR" dirty="0"/>
              <a:t> </a:t>
            </a:r>
            <a:r>
              <a:rPr lang="ko-KR" altLang="ko-KR" dirty="0" err="1"/>
              <a:t>prompts</a:t>
            </a:r>
            <a:r>
              <a:rPr lang="ko-KR" altLang="ko-KR" dirty="0"/>
              <a:t> </a:t>
            </a:r>
            <a:r>
              <a:rPr lang="ko-KR" altLang="ko-KR" dirty="0" err="1"/>
              <a:t>work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activating</a:t>
            </a:r>
            <a:r>
              <a:rPr lang="ko-KR" altLang="ko-KR" dirty="0"/>
              <a:t> </a:t>
            </a:r>
            <a:r>
              <a:rPr lang="ko-KR" altLang="ko-KR" dirty="0" err="1"/>
              <a:t>a</a:t>
            </a:r>
            <a:r>
              <a:rPr lang="ko-KR" altLang="ko-KR" dirty="0"/>
              <a:t> </a:t>
            </a:r>
            <a:r>
              <a:rPr lang="ko-KR" altLang="ko-KR" dirty="0" err="1"/>
              <a:t>compliance-related</a:t>
            </a:r>
            <a:r>
              <a:rPr lang="ko-KR" altLang="ko-KR" dirty="0"/>
              <a:t> </a:t>
            </a:r>
            <a:r>
              <a:rPr lang="ko-KR" altLang="ko-KR" dirty="0" err="1"/>
              <a:t>concept</a:t>
            </a:r>
            <a:r>
              <a:rPr lang="ko-KR" altLang="ko-KR" dirty="0"/>
              <a:t> </a:t>
            </a:r>
            <a:r>
              <a:rPr lang="ko-KR" altLang="ko-KR" dirty="0" err="1"/>
              <a:t>while</a:t>
            </a:r>
            <a:r>
              <a:rPr lang="ko-KR" altLang="ko-KR" dirty="0"/>
              <a:t> </a:t>
            </a:r>
            <a:r>
              <a:rPr lang="ko-KR" altLang="ko-KR" dirty="0" err="1"/>
              <a:t>toxic</a:t>
            </a:r>
            <a:r>
              <a:rPr lang="ko-KR" altLang="ko-KR" dirty="0"/>
              <a:t> </a:t>
            </a:r>
            <a:r>
              <a:rPr lang="ko-KR" altLang="ko-KR" dirty="0" err="1"/>
              <a:t>semantics</a:t>
            </a:r>
            <a:r>
              <a:rPr lang="ko-KR" altLang="ko-KR" dirty="0"/>
              <a:t> </a:t>
            </a:r>
            <a:r>
              <a:rPr lang="ko-KR" altLang="ko-KR" dirty="0" err="1"/>
              <a:t>are</a:t>
            </a:r>
            <a:r>
              <a:rPr lang="ko-KR" altLang="ko-KR" dirty="0"/>
              <a:t> </a:t>
            </a:r>
            <a:r>
              <a:rPr lang="ko-KR" altLang="ko-KR" dirty="0" err="1"/>
              <a:t>still</a:t>
            </a:r>
            <a:r>
              <a:rPr lang="ko-KR" altLang="ko-KR" dirty="0"/>
              <a:t> </a:t>
            </a:r>
            <a:r>
              <a:rPr lang="ko-KR" altLang="ko-KR" dirty="0" err="1"/>
              <a:t>recognized</a:t>
            </a:r>
            <a:r>
              <a:rPr lang="ko-KR" altLang="ko-KR" dirty="0"/>
              <a:t>.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>
                <a:solidFill>
                  <a:srgbClr val="111827"/>
                </a:solidFill>
              </a:rPr>
              <a:t>• </a:t>
            </a:r>
            <a:r>
              <a:rPr lang="ko-KR" altLang="ko-KR" dirty="0" err="1"/>
              <a:t>Based</a:t>
            </a:r>
            <a:r>
              <a:rPr lang="ko-KR" altLang="ko-KR" dirty="0"/>
              <a:t> </a:t>
            </a:r>
            <a:r>
              <a:rPr lang="ko-KR" altLang="ko-KR" dirty="0" err="1"/>
              <a:t>on</a:t>
            </a:r>
            <a:r>
              <a:rPr lang="ko-KR" altLang="ko-KR" dirty="0"/>
              <a:t> </a:t>
            </a:r>
            <a:r>
              <a:rPr lang="ko-KR" altLang="ko-KR" dirty="0" err="1"/>
              <a:t>this</a:t>
            </a:r>
            <a:r>
              <a:rPr lang="ko-KR" altLang="ko-KR" dirty="0"/>
              <a:t>, </a:t>
            </a:r>
            <a:r>
              <a:rPr lang="ko-KR" altLang="ko-KR" dirty="0" err="1"/>
              <a:t>it</a:t>
            </a:r>
            <a:r>
              <a:rPr lang="ko-KR" altLang="ko-KR" dirty="0"/>
              <a:t> </a:t>
            </a:r>
            <a:r>
              <a:rPr lang="ko-KR" altLang="ko-KR" dirty="0" err="1"/>
              <a:t>detects</a:t>
            </a:r>
            <a:r>
              <a:rPr lang="ko-KR" altLang="ko-KR" dirty="0"/>
              <a:t> </a:t>
            </a:r>
            <a:r>
              <a:rPr lang="ko-KR" altLang="ko-KR" dirty="0" err="1"/>
              <a:t>dual</a:t>
            </a:r>
            <a:r>
              <a:rPr lang="ko-KR" altLang="ko-KR" dirty="0"/>
              <a:t> </a:t>
            </a:r>
            <a:r>
              <a:rPr lang="ko-KR" altLang="ko-KR" dirty="0" err="1"/>
              <a:t>concept</a:t>
            </a:r>
            <a:r>
              <a:rPr lang="ko-KR" altLang="ko-KR" dirty="0"/>
              <a:t> </a:t>
            </a:r>
            <a:r>
              <a:rPr lang="ko-KR" altLang="ko-KR" dirty="0" err="1"/>
              <a:t>activation</a:t>
            </a:r>
            <a:r>
              <a:rPr lang="ko-KR" altLang="ko-KR" dirty="0"/>
              <a:t> and </a:t>
            </a:r>
            <a:r>
              <a:rPr lang="ko-KR" altLang="ko-KR" dirty="0" err="1"/>
              <a:t>mitigates</a:t>
            </a:r>
            <a:r>
              <a:rPr lang="ko-KR" altLang="ko-KR" dirty="0"/>
              <a:t> </a:t>
            </a:r>
            <a:r>
              <a:rPr lang="ko-KR" altLang="ko-KR" dirty="0" err="1"/>
              <a:t>attacks</a:t>
            </a:r>
            <a:r>
              <a:rPr lang="ko-KR" altLang="ko-KR" dirty="0"/>
              <a:t> </a:t>
            </a:r>
            <a:r>
              <a:rPr lang="ko-KR" altLang="ko-KR" dirty="0" err="1"/>
              <a:t>by</a:t>
            </a:r>
            <a:r>
              <a:rPr lang="ko-KR" altLang="ko-KR" dirty="0"/>
              <a:t> </a:t>
            </a:r>
            <a:r>
              <a:rPr lang="ko-KR" altLang="ko-KR" dirty="0" err="1"/>
              <a:t>editing</a:t>
            </a:r>
            <a:r>
              <a:rPr lang="ko-KR" altLang="ko-KR" dirty="0"/>
              <a:t> </a:t>
            </a:r>
            <a:r>
              <a:rPr lang="ko-KR" altLang="ko-KR" dirty="0" err="1"/>
              <a:t>hidden</a:t>
            </a:r>
            <a:r>
              <a:rPr lang="en-US" altLang="ko-KR" dirty="0"/>
              <a:t> </a:t>
            </a:r>
            <a:r>
              <a:rPr lang="ko-KR" altLang="ko-KR" dirty="0" err="1"/>
              <a:t>representations</a:t>
            </a:r>
            <a:r>
              <a:rPr lang="ko-KR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0829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94360" y="2194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F766E"/>
                </a:solidFill>
              </a:rPr>
              <a:t>Background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594360" y="530352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</a:rPr>
              <a:t>JBShield — USENIX Security 2025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11109960" y="65105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64748B"/>
                </a:solidFill>
              </a:rPr>
              <a:t>01</a:t>
            </a:r>
            <a:endParaRPr lang="en-US" sz="720" dirty="0"/>
          </a:p>
        </p:txBody>
      </p:sp>
      <p:sp>
        <p:nvSpPr>
          <p:cNvPr id="7" name="Text 5"/>
          <p:cNvSpPr/>
          <p:nvPr/>
        </p:nvSpPr>
        <p:spPr>
          <a:xfrm>
            <a:off x="594360" y="676656"/>
            <a:ext cx="5989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B1F33"/>
                </a:solidFill>
              </a:rPr>
              <a:t>Jailbreak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799" y="1618488"/>
            <a:ext cx="11120121" cy="4206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altLang="ko-KR" sz="1820" b="1" dirty="0">
                <a:solidFill>
                  <a:srgbClr val="111827"/>
                </a:solidFill>
              </a:rPr>
              <a:t>• Manually-designed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ko-KR" altLang="ko-KR" sz="1600" dirty="0" err="1"/>
              <a:t>Human-crafted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jailbreak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prompts</a:t>
            </a:r>
            <a:endParaRPr lang="en-US" altLang="ko-KR" sz="1600" dirty="0"/>
          </a:p>
          <a:p>
            <a:pPr lvl="1"/>
            <a:r>
              <a:rPr lang="en-US" altLang="ko-KR" sz="1400" dirty="0"/>
              <a:t>Ex) IJP</a:t>
            </a:r>
          </a:p>
          <a:p>
            <a:r>
              <a:rPr lang="en-US" altLang="ko-KR" sz="1820" b="1" dirty="0">
                <a:solidFill>
                  <a:srgbClr val="111827"/>
                </a:solidFill>
              </a:rPr>
              <a:t>• Optimization-based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ko-KR" altLang="ko-KR" sz="1600" dirty="0" err="1"/>
              <a:t>Use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automated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algorithms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to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exploit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model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gradients</a:t>
            </a:r>
            <a:r>
              <a:rPr lang="ko-KR" altLang="ko-KR" sz="1600" dirty="0"/>
              <a:t> and </a:t>
            </a:r>
            <a:r>
              <a:rPr lang="ko-KR" altLang="ko-KR" sz="1600" dirty="0" err="1"/>
              <a:t>generate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malicious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soft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prompts</a:t>
            </a:r>
            <a:endParaRPr lang="en-US" altLang="ko-KR" sz="1600" dirty="0"/>
          </a:p>
          <a:p>
            <a:pPr lvl="1"/>
            <a:r>
              <a:rPr lang="en-US" altLang="ko-KR" sz="1400" dirty="0"/>
              <a:t>Ex) GCG, SAA</a:t>
            </a:r>
          </a:p>
          <a:p>
            <a:r>
              <a:rPr lang="en-US" altLang="ko-KR" sz="1820" b="1" dirty="0">
                <a:solidFill>
                  <a:srgbClr val="111827"/>
                </a:solidFill>
              </a:rPr>
              <a:t>• Template-based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ko-KR" altLang="ko-KR" sz="1600" dirty="0" err="1"/>
              <a:t>Optimize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adversarial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templates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that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embed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harmful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requests</a:t>
            </a:r>
            <a:endParaRPr lang="en-US" altLang="ko-KR" sz="1600" dirty="0"/>
          </a:p>
          <a:p>
            <a:pPr lvl="1"/>
            <a:r>
              <a:rPr lang="en-US" altLang="ko-KR" sz="1400" dirty="0">
                <a:solidFill>
                  <a:srgbClr val="111827"/>
                </a:solidFill>
              </a:rPr>
              <a:t>Ex) </a:t>
            </a:r>
            <a:r>
              <a:rPr lang="en-US" altLang="ko-KR" sz="1400" dirty="0" err="1">
                <a:solidFill>
                  <a:srgbClr val="111827"/>
                </a:solidFill>
              </a:rPr>
              <a:t>AutoDAN</a:t>
            </a:r>
            <a:r>
              <a:rPr lang="en-US" altLang="ko-KR" sz="1400" dirty="0">
                <a:solidFill>
                  <a:srgbClr val="111827"/>
                </a:solidFill>
              </a:rPr>
              <a:t>, PAIR</a:t>
            </a:r>
            <a:endParaRPr lang="en-US" altLang="ko-KR" sz="1600" dirty="0">
              <a:solidFill>
                <a:srgbClr val="111827"/>
              </a:solidFill>
            </a:endParaRPr>
          </a:p>
          <a:p>
            <a:r>
              <a:rPr lang="en-US" altLang="ko-KR" sz="1820" b="1" dirty="0">
                <a:solidFill>
                  <a:srgbClr val="111827"/>
                </a:solidFill>
              </a:rPr>
              <a:t>• Linguistics-based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ko-KR" altLang="ko-KR" sz="1600" dirty="0" err="1"/>
              <a:t>Hide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malicious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intent</a:t>
            </a:r>
            <a:r>
              <a:rPr lang="ko-KR" altLang="ko-KR" sz="1600" dirty="0"/>
              <a:t> </a:t>
            </a:r>
            <a:r>
              <a:rPr lang="ko-KR" altLang="ko-KR" sz="1600" dirty="0" err="1"/>
              <a:t>within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seemingly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benign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inputs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to</a:t>
            </a:r>
            <a:r>
              <a:rPr lang="ko-KR" altLang="ko-KR" sz="1600" dirty="0"/>
              <a:t> </a:t>
            </a:r>
            <a:r>
              <a:rPr lang="ko-KR" altLang="ko-KR" sz="1600" dirty="0" err="1"/>
              <a:t>bypass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safety</a:t>
            </a:r>
            <a:r>
              <a:rPr lang="ko-KR" altLang="ko-KR" sz="1600" dirty="0"/>
              <a:t> </a:t>
            </a:r>
            <a:r>
              <a:rPr lang="ko-KR" altLang="ko-KR" sz="1600" dirty="0" err="1"/>
              <a:t>guardrails</a:t>
            </a:r>
            <a:endParaRPr lang="en-US" altLang="ko-KR" sz="1600" dirty="0"/>
          </a:p>
          <a:p>
            <a:pPr lvl="1"/>
            <a:r>
              <a:rPr lang="en-US" altLang="ko-KR" sz="1400" dirty="0">
                <a:solidFill>
                  <a:srgbClr val="111827"/>
                </a:solidFill>
              </a:rPr>
              <a:t>Ex) </a:t>
            </a:r>
            <a:r>
              <a:rPr lang="en-US" altLang="ko-KR" sz="1400" dirty="0" err="1">
                <a:solidFill>
                  <a:srgbClr val="111827"/>
                </a:solidFill>
              </a:rPr>
              <a:t>DrAttack</a:t>
            </a:r>
            <a:r>
              <a:rPr lang="en-US" altLang="ko-KR" sz="1400" dirty="0">
                <a:solidFill>
                  <a:srgbClr val="111827"/>
                </a:solidFill>
              </a:rPr>
              <a:t>, Puzzler</a:t>
            </a:r>
            <a:endParaRPr lang="en-US" altLang="ko-KR" sz="1600" dirty="0">
              <a:solidFill>
                <a:srgbClr val="111827"/>
              </a:solidFill>
            </a:endParaRPr>
          </a:p>
          <a:p>
            <a:r>
              <a:rPr lang="en-US" altLang="ko-KR" sz="1820" b="1" dirty="0">
                <a:solidFill>
                  <a:srgbClr val="111827"/>
                </a:solidFill>
              </a:rPr>
              <a:t>• Encoding-based</a:t>
            </a:r>
          </a:p>
          <a:p>
            <a:pPr lvl="1"/>
            <a:r>
              <a:rPr lang="en-US" altLang="ko-KR" sz="1700" dirty="0">
                <a:solidFill>
                  <a:srgbClr val="111827"/>
                </a:solidFill>
              </a:rPr>
              <a:t>• </a:t>
            </a:r>
            <a:r>
              <a:rPr lang="ko-KR" altLang="ko-KR" sz="1600" dirty="0" err="1"/>
              <a:t>Transform</a:t>
            </a:r>
            <a:r>
              <a:rPr lang="ko-KR" altLang="ko-KR" sz="1600" dirty="0"/>
              <a:t> </a:t>
            </a:r>
            <a:r>
              <a:rPr lang="ko-KR" altLang="ko-KR" sz="1600" dirty="0" err="1"/>
              <a:t>or</a:t>
            </a:r>
            <a:r>
              <a:rPr lang="ko-KR" altLang="ko-KR" sz="1600" dirty="0"/>
              <a:t> </a:t>
            </a:r>
            <a:r>
              <a:rPr lang="ko-KR" altLang="ko-KR" sz="1600" dirty="0" err="1"/>
              <a:t>encode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inputs</a:t>
            </a:r>
            <a:r>
              <a:rPr lang="ko-KR" altLang="ko-KR" sz="1600" dirty="0"/>
              <a:t> </a:t>
            </a:r>
            <a:r>
              <a:rPr lang="ko-KR" altLang="ko-KR" sz="1600" dirty="0" err="1"/>
              <a:t>to</a:t>
            </a:r>
            <a:r>
              <a:rPr lang="ko-KR" altLang="ko-KR" sz="1600" dirty="0"/>
              <a:t> </a:t>
            </a:r>
            <a:r>
              <a:rPr lang="ko-KR" altLang="ko-KR" sz="1600" dirty="0" err="1"/>
              <a:t>obscure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harmful</a:t>
            </a:r>
            <a:r>
              <a:rPr lang="ko-KR" altLang="ko-KR" sz="1600" dirty="0"/>
              <a:t> </a:t>
            </a:r>
            <a:r>
              <a:rPr lang="ko-KR" altLang="ko-KR" sz="1600" dirty="0" err="1"/>
              <a:t>intent</a:t>
            </a:r>
            <a:r>
              <a:rPr lang="ko-KR" altLang="ko-KR" sz="1600" dirty="0"/>
              <a:t> and </a:t>
            </a:r>
            <a:r>
              <a:rPr lang="ko-KR" altLang="ko-KR" sz="1600" dirty="0" err="1"/>
              <a:t>evade</a:t>
            </a:r>
            <a:r>
              <a:rPr lang="ko-KR" altLang="ko-KR" sz="1600" dirty="0"/>
              <a:t> LLM </a:t>
            </a:r>
            <a:r>
              <a:rPr lang="ko-KR" altLang="ko-KR" sz="1600" dirty="0" err="1"/>
              <a:t>safeguards</a:t>
            </a:r>
            <a:endParaRPr lang="en-US" altLang="ko-KR" sz="1600" dirty="0"/>
          </a:p>
          <a:p>
            <a:pPr lvl="1"/>
            <a:r>
              <a:rPr lang="en-US" altLang="ko-KR" sz="1400" dirty="0"/>
              <a:t>Ex) Zul, Base64</a:t>
            </a:r>
            <a:endParaRPr lang="en-US" altLang="ko-KR" sz="1600" dirty="0"/>
          </a:p>
          <a:p>
            <a:endParaRPr lang="en-US" altLang="ko-KR" sz="1820" dirty="0"/>
          </a:p>
        </p:txBody>
      </p:sp>
    </p:spTree>
    <p:extLst>
      <p:ext uri="{BB962C8B-B14F-4D97-AF65-F5344CB8AC3E}">
        <p14:creationId xmlns:p14="http://schemas.microsoft.com/office/powerpoint/2010/main" val="13400781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3244</TotalTime>
  <Words>2212</Words>
  <Application>Microsoft Macintosh PowerPoint</Application>
  <PresentationFormat>와이드스크린</PresentationFormat>
  <Paragraphs>389</Paragraphs>
  <Slides>24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Arial</vt:lpstr>
      <vt:lpstr>Cambria Math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JBShield: Activated Concept Analysis and Manipulation</dc:title>
  <dc:subject>Academic conference presentation outline for JBShield</dc:subject>
  <dc:creator>OpenAI</dc:creator>
  <cp:lastModifiedBy>백가현</cp:lastModifiedBy>
  <cp:revision>158</cp:revision>
  <dcterms:created xsi:type="dcterms:W3CDTF">2026-06-26T01:20:05Z</dcterms:created>
  <dcterms:modified xsi:type="dcterms:W3CDTF">2026-07-06T05:53:04Z</dcterms:modified>
</cp:coreProperties>
</file>